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533400" y="685800"/>
            <a:ext cx="6096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HONG KONG INTER-UNIVERSITY GENAI HACKATHON FOR SDGS 2026</a:t>
            </a:r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1123950"/>
            <a:ext cx="6096000" cy="1695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2000"/>
              </a:lnSpc>
            </a:pPr>
            <a:r>
              <a:rPr lang="en-US" sz="4950" b="1">
                <a:solidFill>
                  <a:srgbClr val="2D5C3B"/>
                </a:solidFill>
                <a:latin typeface="Georgia"/>
                <a:ea typeface="Georgia"/>
              </a:rPr>
              <a:t>Voices of the</a:t>
            </a:r>
            <a:endParaRPr/>
          </a:p>
          <a:p>
            <a:pPr>
              <a:lnSpc>
                <a:spcPct val="112000"/>
              </a:lnSpc>
            </a:pPr>
            <a:r>
              <a:rPr lang="en-US" sz="4950" b="1">
                <a:solidFill>
                  <a:srgbClr val="2D5C3B"/>
                </a:solidFill>
                <a:latin typeface="Georgia"/>
                <a:ea typeface="Georgia"/>
              </a:rPr>
              <a:t>North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33400" y="2914650"/>
            <a:ext cx="6096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558863"/>
                </a:solidFill>
                <a:latin typeface="Georgia"/>
                <a:ea typeface="Georgia"/>
              </a:rPr>
              <a:t>北方之聲</a:t>
            </a:r>
            <a:endParaRPr/>
          </a:p>
        </p:txBody>
      </p:sp>
      <p:sp>
        <p:nvSpPr>
          <p:cNvPr id="6" name="矩形 5"/>
          <p:cNvSpPr/>
          <p:nvPr/>
        </p:nvSpPr>
        <p:spPr>
          <a:xfrm>
            <a:off x="533400" y="346710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33400" y="3743325"/>
            <a:ext cx="6096000" cy="8572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875" i="1">
                <a:solidFill>
                  <a:srgbClr val="30271D"/>
                </a:solidFill>
                <a:latin typeface="Georgia"/>
                <a:ea typeface="Georgia"/>
              </a:rPr>
              <a:t>"Development moves people out.</a:t>
            </a:r>
            <a:endParaRPr/>
          </a:p>
          <a:p>
            <a:pPr>
              <a:lnSpc>
                <a:spcPct val="150000"/>
              </a:lnSpc>
            </a:pPr>
            <a:r>
              <a:rPr lang="en-US" sz="1875" i="1">
                <a:solidFill>
                  <a:srgbClr val="30271D"/>
                </a:solidFill>
                <a:latin typeface="Georgia"/>
                <a:ea typeface="Georgia"/>
              </a:rPr>
              <a:t>Memory has to be carried with them."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4924425"/>
            <a:ext cx="6096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0271D"/>
                </a:solidFill>
                <a:latin typeface="Segoe UI"/>
                <a:ea typeface="Segoe UI"/>
              </a:rPr>
              <a:t>Team HumanLoop · Douglas · Zheng · Dat · Steven · Boris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533400" y="5286375"/>
            <a:ext cx="6096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0271D"/>
                </a:solidFill>
                <a:latin typeface="Segoe UI"/>
                <a:ea typeface="Segoe UI"/>
              </a:rPr>
              <a:t>Track — Smart Living, Culture and Belonging</a:t>
            </a:r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533400" y="5648325"/>
            <a:ext cx="6096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0271D"/>
                </a:solidFill>
                <a:latin typeface="Segoe UI"/>
                <a:ea typeface="Segoe UI"/>
              </a:rPr>
              <a:t>Final report · 18 October 2026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33400" y="6048375"/>
            <a:ext cx="60960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A7693C"/>
                </a:solidFill>
                <a:latin typeface="Segoe UI"/>
                <a:ea typeface="Segoe UI"/>
              </a:rPr>
              <a:t>All stories in this deck are role-played for demonstration.</a:t>
            </a:r>
            <a:endParaRPr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685800"/>
            <a:ext cx="4762500" cy="4095750"/>
          </a:xfrm>
          <a:prstGeom prst="roundRect">
            <a:avLst>
              <a:gd name="adj" fmla="val 4186"/>
            </a:avLst>
          </a:prstGeom>
          <a:ln/>
        </p:spPr>
      </p:pic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6896100" y="4895850"/>
            <a:ext cx="4762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The kind of place the stories come from — a village ferry crossing, Yuen Long District.</a:t>
            </a:r>
            <a:endParaRPr/>
          </a:p>
        </p:txBody>
      </p:sp>
      <p:sp>
        <p:nvSpPr>
          <p:cNvPr id="14" name="矩形 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6896100" y="5162550"/>
            <a:ext cx="47625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Photo: </a:t>
            </a:r>
            <a:r>
              <a:rPr lang="zh-CN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姒姓賢寧</a:t>
            </a:r>
            <a:r>
              <a:rPr lang="en-US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 · CC BY-SA 4.0 · via Wikimedia Commons · cropped and colour-graded.</a:t>
            </a:r>
            <a:endParaRPr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4650"/>
            <a:ext cx="12192000" cy="13335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 2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THE PROBLEM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Two clocks, one village</a:t>
            </a:r>
            <a:endParaRPr/>
          </a:p>
        </p:txBody>
      </p:sp>
      <p:sp>
        <p:nvSpPr>
          <p:cNvPr id="221" name="矩形 220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533400" y="1524000"/>
            <a:ext cx="16002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975" b="1" spc="105">
                <a:solidFill>
                  <a:srgbClr val="2D5C3B"/>
                </a:solidFill>
                <a:latin typeface="Segoe UI"/>
                <a:ea typeface="Segoe UI"/>
              </a:rPr>
              <a:t>REDEVELOPMENT CLOCK</a:t>
            </a:r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533400" y="1971675"/>
            <a:ext cx="16002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Runs on a published schedule</a:t>
            </a:r>
            <a:endParaRPr/>
          </a:p>
        </p:txBody>
      </p:sp>
      <p:pic>
        <p:nvPicPr>
          <p:cNvPr id="224" name="图形 2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5050" y="1438275"/>
            <a:ext cx="9353550" cy="1104900"/>
          </a:xfrm>
          <a:prstGeom prst="rect">
            <a:avLst/>
          </a:prstGeom>
          <a:ln/>
        </p:spPr>
      </p:pic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33400" y="2924175"/>
            <a:ext cx="1600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MEMORY CLOCK</a:t>
            </a:r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533400" y="3171825"/>
            <a:ext cx="16002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Runs on a human one</a:t>
            </a:r>
            <a:endParaRPr/>
          </a:p>
        </p:txBody>
      </p:sp>
      <p:pic>
        <p:nvPicPr>
          <p:cNvPr id="227" name="图形 2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5050" y="2619375"/>
            <a:ext cx="9353550" cy="1104900"/>
          </a:xfrm>
          <a:prstGeom prst="rect">
            <a:avLst/>
          </a:prstGeom>
          <a:ln/>
        </p:spPr>
      </p:pic>
      <p:sp>
        <p:nvSpPr>
          <p:cNvPr id="228" name="矩形: 圆角 227"/>
          <p:cNvSpPr/>
          <p:nvPr/>
        </p:nvSpPr>
        <p:spPr>
          <a:xfrm>
            <a:off x="533400" y="4010025"/>
            <a:ext cx="95250" cy="4381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62000" y="3971925"/>
            <a:ext cx="6667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Capture</a:t>
            </a:r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762000" y="4219575"/>
            <a:ext cx="6667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One large button; consent stays on screen as a promise.</a:t>
            </a:r>
            <a:endParaRPr/>
          </a:p>
        </p:txBody>
      </p:sp>
      <p:sp>
        <p:nvSpPr>
          <p:cNvPr id="231" name="矩形: 圆角 230"/>
          <p:cNvSpPr/>
          <p:nvPr/>
        </p:nvSpPr>
        <p:spPr>
          <a:xfrm>
            <a:off x="533400" y="4638675"/>
            <a:ext cx="95250" cy="4381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762000" y="4600575"/>
            <a:ext cx="6667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Understand</a:t>
            </a:r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762000" y="4848225"/>
            <a:ext cx="6667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Per-word confidence marks uncertain words — nothing is ever silently corrected.</a:t>
            </a:r>
            <a:endParaRPr/>
          </a:p>
        </p:txBody>
      </p:sp>
      <p:sp>
        <p:nvSpPr>
          <p:cNvPr id="234" name="矩形: 圆角 233"/>
          <p:cNvSpPr/>
          <p:nvPr/>
        </p:nvSpPr>
        <p:spPr>
          <a:xfrm>
            <a:off x="533400" y="5267325"/>
            <a:ext cx="95250" cy="4381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762000" y="5229225"/>
            <a:ext cx="6667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Share</a:t>
            </a:r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62000" y="5476875"/>
            <a:ext cx="6667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Grounded answers — each bound to a timestamp that plays the original audio.</a:t>
            </a:r>
            <a:endParaRPr/>
          </a:p>
        </p:txBody>
      </p:sp>
      <p:pic>
        <p:nvPicPr>
          <p:cNvPr id="237" name="图片 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0" y="3971925"/>
            <a:ext cx="3981450" cy="2038350"/>
          </a:xfrm>
          <a:prstGeom prst="roundRect">
            <a:avLst>
              <a:gd name="adj" fmla="val 8411"/>
            </a:avLst>
          </a:prstGeom>
          <a:ln/>
        </p:spPr>
      </p:pic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7677150" y="6096000"/>
            <a:ext cx="3981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2D5C3B"/>
                </a:solidFill>
                <a:latin typeface="Segoe UI"/>
                <a:ea typeface="Segoe UI"/>
              </a:rPr>
              <a:t>Fish ponds and reed beds, Yuen Long District.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7677150" y="6334125"/>
            <a:ext cx="398145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Photo: FHKE · CC BY-SA 2.0 · Wikimedia Commons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533400" y="6448425"/>
            <a:ext cx="6038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role-played stories · no real geography · demo-scope metrics only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02 /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矩形 2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CORE FUNCTION CHAIN</a:t>
            </a:r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One story, five steps, three layers</a:t>
            </a:r>
            <a:endParaRPr/>
          </a:p>
        </p:txBody>
      </p:sp>
      <p:sp>
        <p:nvSpPr>
          <p:cNvPr id="246" name="矩形 245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7" name="图片 246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533400" y="1362075"/>
            <a:ext cx="11125200" cy="2200275"/>
          </a:xfrm>
          <a:prstGeom prst="roundRect">
            <a:avLst>
              <a:gd name="adj" fmla="val 6061"/>
            </a:avLst>
          </a:prstGeom>
          <a:ln/>
        </p:spPr>
      </p:pic>
      <p:sp>
        <p:nvSpPr>
          <p:cNvPr id="248" name="矩形: 圆角 247"/>
          <p:cNvSpPr/>
          <p:nvPr/>
        </p:nvSpPr>
        <p:spPr>
          <a:xfrm>
            <a:off x="533400" y="367665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3800475"/>
            <a:ext cx="190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971550" y="3705225"/>
            <a:ext cx="838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Record / Upload</a:t>
            </a:r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943100" y="370522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Presses one button and speaks, or uploads a file that already exists</a:t>
            </a:r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4419600" y="370522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Keeps the silences, uploads on stop, runs speech-to-text</a:t>
            </a:r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7562850" y="3705225"/>
            <a:ext cx="39433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storyteller picks the language; consent is captured on screen, not in a pop-up</a:t>
            </a:r>
            <a:endParaRPr/>
          </a:p>
        </p:txBody>
      </p:sp>
      <p:sp>
        <p:nvSpPr>
          <p:cNvPr id="254" name="矩形: 圆角 253"/>
          <p:cNvSpPr/>
          <p:nvPr/>
        </p:nvSpPr>
        <p:spPr>
          <a:xfrm>
            <a:off x="533400" y="422910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85800" y="4352925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990600" y="4257675"/>
            <a:ext cx="819150" cy="447675"/>
          </a:xfrm>
          <a:prstGeom prst="rect">
            <a:avLst/>
          </a:prstGeom>
        </p:spPr>
        <p:txBody>
          <a:bodyPr wrap="square" lIns="0" tIns="0" rIns="0" bIns="0"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Review Transcript</a:t>
            </a:r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1943100" y="425767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Reads at 23px, taps a marked passage, types or speaks a correction</a:t>
            </a:r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4419600" y="425767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Marks low confidence and suggests candidate words with timestamps</a:t>
            </a:r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7562850" y="4257675"/>
            <a:ext cx="39433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storyteller confirms or corrects — nothing is ever silently corrected</a:t>
            </a:r>
            <a:endParaRPr/>
          </a:p>
        </p:txBody>
      </p:sp>
      <p:sp>
        <p:nvSpPr>
          <p:cNvPr id="260" name="矩形: 圆角 259"/>
          <p:cNvSpPr/>
          <p:nvPr/>
        </p:nvSpPr>
        <p:spPr>
          <a:xfrm>
            <a:off x="533400" y="478155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85800" y="4905375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990600" y="4810125"/>
            <a:ext cx="819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Choose Privacy</a:t>
            </a:r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1943100" y="481012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Picks one of four audience levels; Private is the default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4419600" y="481012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Writes the level onto the story record and keeps the original audio</a:t>
            </a:r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7562850" y="4810125"/>
            <a:ext cx="39433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storyteller owns the level and can change or withdraw it in one tap</a:t>
            </a:r>
            <a:endParaRPr/>
          </a:p>
        </p:txBody>
      </p:sp>
      <p:sp>
        <p:nvSpPr>
          <p:cNvPr id="266" name="矩形: 圆角 265"/>
          <p:cNvSpPr/>
          <p:nvPr/>
        </p:nvSpPr>
        <p:spPr>
          <a:xfrm>
            <a:off x="533400" y="533400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85800" y="5457825"/>
            <a:ext cx="2571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038225" y="5476875"/>
            <a:ext cx="7715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View Story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943100" y="536257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Reads the cover, the transcript and the place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4419600" y="536257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Extracts theme and place, then shows village-level fuzzy precision only</a:t>
            </a:r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562850" y="5476875"/>
            <a:ext cx="3943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A volunteer confirms the suggested location before it is displayed</a:t>
            </a:r>
            <a:endParaRPr/>
          </a:p>
        </p:txBody>
      </p:sp>
      <p:sp>
        <p:nvSpPr>
          <p:cNvPr id="272" name="矩形: 圆角 271"/>
          <p:cNvSpPr/>
          <p:nvPr/>
        </p:nvSpPr>
        <p:spPr>
          <a:xfrm>
            <a:off x="533400" y="588645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685800" y="6010275"/>
            <a:ext cx="2000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981075" y="5915025"/>
            <a:ext cx="8286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Ask a Question</a:t>
            </a:r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943100" y="591502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Asks in plain language and listens to the answer</a:t>
            </a:r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4419600" y="591502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Answers only from recordings, each bound to a timestamp</a:t>
            </a:r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562850" y="6029325"/>
            <a:ext cx="3943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asker can play the original audio behind every single answer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533400" y="6448425"/>
            <a:ext cx="7877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Capture · Understand · Share — the third column is where a person, not the model, decides · step 03 privacy is designed, not yet wired</a:t>
            </a:r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03 / 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矩形 2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STEP 01 AND STEP 02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Record in one press, then see what the machine doubts</a:t>
            </a:r>
            <a:endParaRPr/>
          </a:p>
        </p:txBody>
      </p:sp>
      <p:sp>
        <p:nvSpPr>
          <p:cNvPr id="284" name="矩形 283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矩形: 圆角 284"/>
          <p:cNvSpPr/>
          <p:nvPr/>
        </p:nvSpPr>
        <p:spPr>
          <a:xfrm>
            <a:off x="533400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6" name="图片 285"/>
          <p:cNvPicPr>
            <a:picLocks noChangeAspect="1"/>
          </p:cNvPicPr>
          <p:nvPr/>
        </p:nvPicPr>
        <p:blipFill>
          <a:blip r:embed="rId2"/>
          <a:srcRect l="1435" r="1435"/>
          <a:stretch>
            <a:fillRect/>
          </a:stretch>
        </p:blipFill>
        <p:spPr>
          <a:xfrm>
            <a:off x="590550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533400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1 · Record / Upload</a:t>
            </a:r>
            <a:endParaRPr/>
          </a:p>
        </p:txBody>
      </p:sp>
      <p:sp>
        <p:nvSpPr>
          <p:cNvPr id="288" name="矩形: 圆角 287"/>
          <p:cNvSpPr/>
          <p:nvPr/>
        </p:nvSpPr>
        <p:spPr>
          <a:xfrm>
            <a:off x="2809875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9" name="图片 288"/>
          <p:cNvPicPr>
            <a:picLocks noChangeAspect="1"/>
          </p:cNvPicPr>
          <p:nvPr/>
        </p:nvPicPr>
        <p:blipFill>
          <a:blip r:embed="rId3"/>
          <a:srcRect l="1435" r="1435"/>
          <a:stretch>
            <a:fillRect/>
          </a:stretch>
        </p:blipFill>
        <p:spPr>
          <a:xfrm>
            <a:off x="2867025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2809875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2 · Transcript Review</a:t>
            </a:r>
            <a:endParaRPr/>
          </a:p>
        </p:txBody>
      </p:sp>
      <p:sp>
        <p:nvSpPr>
          <p:cNvPr id="291" name="矩形: 圆角 290"/>
          <p:cNvSpPr/>
          <p:nvPr/>
        </p:nvSpPr>
        <p:spPr>
          <a:xfrm>
            <a:off x="5086350" y="1400175"/>
            <a:ext cx="6572250" cy="2247900"/>
          </a:xfrm>
          <a:prstGeom prst="roundRect">
            <a:avLst>
              <a:gd name="adj" fmla="val 762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5276850" y="1619250"/>
            <a:ext cx="2762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58863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667375" y="1590675"/>
            <a:ext cx="18478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Record / Upload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5276850" y="2047875"/>
            <a:ext cx="61912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 b="1">
                <a:solidFill>
                  <a:srgbClr val="30271D"/>
                </a:solidFill>
                <a:latin typeface="Segoe UI"/>
                <a:ea typeface="Segoe UI"/>
              </a:rPr>
              <a:t>Language is chosen by a person, never guessed: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Cantonese, Waitau, Hakka or Hoklo.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5276850" y="2400300"/>
            <a:ext cx="61912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One large button, a running timer, topic prompts as gentle questions — capture has to feel like a conversation, not a form.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5276850" y="3019425"/>
            <a:ext cx="61912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Consent sits at the bottom of the screen rather than in a dismissible pop-up, because it is a promise, not terms.</a:t>
            </a:r>
            <a:endParaRPr/>
          </a:p>
        </p:txBody>
      </p:sp>
      <p:sp>
        <p:nvSpPr>
          <p:cNvPr id="297" name="矩形: 圆角 296"/>
          <p:cNvSpPr/>
          <p:nvPr/>
        </p:nvSpPr>
        <p:spPr>
          <a:xfrm>
            <a:off x="5086350" y="3819525"/>
            <a:ext cx="6572250" cy="2247900"/>
          </a:xfrm>
          <a:prstGeom prst="roundRect">
            <a:avLst>
              <a:gd name="adj" fmla="val 7627"/>
            </a:avLst>
          </a:prstGeom>
          <a:solidFill>
            <a:srgbClr val="FEFCF6"/>
          </a:solidFill>
          <a:ln w="25400">
            <a:solidFill>
              <a:srgbClr val="A7693C"/>
            </a:solidFill>
            <a:prstDash val="solid"/>
          </a:ln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5276850" y="4038600"/>
            <a:ext cx="304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A7693C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5695950" y="4010025"/>
            <a:ext cx="2076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Review Transcript</a:t>
            </a:r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5276850" y="4467225"/>
            <a:ext cx="61912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Speech-to-text returns a confidence score per word. Two words in our demo recording came back low: </a:t>
            </a:r>
            <a:r>
              <a:rPr lang="zh-CN" sz="1200">
                <a:solidFill>
                  <a:srgbClr val="30271D"/>
                </a:solidFill>
                <a:latin typeface="Segoe UI"/>
                <a:ea typeface="Segoe UI"/>
              </a:rPr>
              <a:t>農田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at 71.4% (ambient noise) and </a:t>
            </a:r>
            <a:r>
              <a:rPr lang="zh-CN" sz="1200">
                <a:solidFill>
                  <a:srgbClr val="30271D"/>
                </a:solidFill>
                <a:latin typeface="Segoe UI"/>
                <a:ea typeface="Segoe UI"/>
              </a:rPr>
              <a:t>雀鳥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at 62.8% (renovation drilling).</a:t>
            </a:r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5276850" y="5086350"/>
            <a:ext cx="619125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A7693C"/>
                </a:solidFill>
                <a:latin typeface="Segoe UI"/>
                <a:ea typeface="Segoe UI"/>
              </a:rPr>
              <a:t>Both are flagged in the transcript and offered for correction. The build marks them in red today; we are moving that mark to a reserved uncertainty colour. The original audio is never altered.</a:t>
            </a:r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533400" y="6448425"/>
            <a:ext cx="4543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demo values shown, not accuracy claims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矩形 3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STEP 03 AND STEP 04</a:t>
            </a:r>
            <a:endParaRPr/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The story card carries the ethics</a:t>
            </a:r>
            <a:endParaRPr/>
          </a:p>
        </p:txBody>
      </p:sp>
      <p:sp>
        <p:nvSpPr>
          <p:cNvPr id="308" name="矩形 307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9" name="矩形: 圆角 308"/>
          <p:cNvSpPr/>
          <p:nvPr/>
        </p:nvSpPr>
        <p:spPr>
          <a:xfrm>
            <a:off x="533400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0" name="图片 309"/>
          <p:cNvPicPr>
            <a:picLocks noChangeAspect="1"/>
          </p:cNvPicPr>
          <p:nvPr/>
        </p:nvPicPr>
        <p:blipFill>
          <a:blip r:embed="rId2"/>
          <a:srcRect l="1435" r="1435"/>
          <a:stretch>
            <a:fillRect/>
          </a:stretch>
        </p:blipFill>
        <p:spPr>
          <a:xfrm>
            <a:off x="590550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533400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3 · Story Card + Place</a:t>
            </a:r>
            <a:endParaRPr/>
          </a:p>
        </p:txBody>
      </p:sp>
      <p:sp>
        <p:nvSpPr>
          <p:cNvPr id="312" name="矩形: 圆角 311"/>
          <p:cNvSpPr/>
          <p:nvPr/>
        </p:nvSpPr>
        <p:spPr>
          <a:xfrm>
            <a:off x="2809875" y="1400175"/>
            <a:ext cx="4476750" cy="4000500"/>
          </a:xfrm>
          <a:prstGeom prst="roundRect">
            <a:avLst>
              <a:gd name="adj" fmla="val 4286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3000375" y="1619250"/>
            <a:ext cx="304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58863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3419475" y="1590675"/>
            <a:ext cx="17240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Choose Privacy</a:t>
            </a:r>
            <a:endParaRPr/>
          </a:p>
        </p:txBody>
      </p:sp>
      <p:sp>
        <p:nvSpPr>
          <p:cNvPr id="315" name="矩形: 圆角 314"/>
          <p:cNvSpPr/>
          <p:nvPr/>
        </p:nvSpPr>
        <p:spPr>
          <a:xfrm>
            <a:off x="3000375" y="204787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3152775" y="213360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EFCF6"/>
                </a:solidFill>
                <a:latin typeface="Segoe UI"/>
                <a:ea typeface="Segoe UI"/>
              </a:rPr>
              <a:t>Private</a:t>
            </a:r>
            <a:endParaRPr/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4162425" y="2152650"/>
            <a:ext cx="2162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EFCF6"/>
                </a:solidFill>
                <a:latin typeface="Segoe UI"/>
                <a:ea typeface="Segoe UI"/>
              </a:rPr>
              <a:t>Only the storyteller</a:t>
            </a:r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6419850" y="2152650"/>
            <a:ext cx="5238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EFCF6"/>
                </a:solidFill>
                <a:latin typeface="Segoe UI"/>
                <a:ea typeface="Segoe UI"/>
              </a:rPr>
              <a:t>DEFAULT</a:t>
            </a:r>
            <a:endParaRPr/>
          </a:p>
        </p:txBody>
      </p:sp>
      <p:sp>
        <p:nvSpPr>
          <p:cNvPr id="319" name="矩形: 圆角 318"/>
          <p:cNvSpPr/>
          <p:nvPr/>
        </p:nvSpPr>
        <p:spPr>
          <a:xfrm>
            <a:off x="3000375" y="248602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3152775" y="257175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Family</a:t>
            </a:r>
            <a:endParaRPr/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162425" y="259080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Family members</a:t>
            </a:r>
            <a:endParaRPr/>
          </a:p>
        </p:txBody>
      </p:sp>
      <p:sp>
        <p:nvSpPr>
          <p:cNvPr id="322" name="矩形: 圆角 321"/>
          <p:cNvSpPr/>
          <p:nvPr/>
        </p:nvSpPr>
        <p:spPr>
          <a:xfrm>
            <a:off x="3000375" y="292417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3152775" y="300990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Community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4162425" y="302895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Community groups and schools</a:t>
            </a:r>
            <a:endParaRPr/>
          </a:p>
        </p:txBody>
      </p:sp>
      <p:sp>
        <p:nvSpPr>
          <p:cNvPr id="325" name="矩形: 圆角 324"/>
          <p:cNvSpPr/>
          <p:nvPr/>
        </p:nvSpPr>
        <p:spPr>
          <a:xfrm>
            <a:off x="3000375" y="336232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3152775" y="344805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Public</a:t>
            </a:r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4162425" y="346710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Everyone, including visitors</a:t>
            </a:r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3000375" y="3876675"/>
            <a:ext cx="409575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In the build this is not a settings page either: it is reached from </a:t>
            </a:r>
            <a:r>
              <a:rPr lang="zh-CN" sz="1200">
                <a:solidFill>
                  <a:srgbClr val="30271D"/>
                </a:solidFill>
                <a:latin typeface="Segoe UI"/>
                <a:ea typeface="Segoe UI"/>
              </a:rPr>
              <a:t>我的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as one of three management entries. Private is already the default; the picker itself is not built yet.</a:t>
            </a:r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3000375" y="4772025"/>
            <a:ext cx="40957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Withdrawal removes the story from shared surfaces but keeps the audio with the storyteller.</a:t>
            </a:r>
            <a:endParaRPr/>
          </a:p>
        </p:txBody>
      </p:sp>
      <p:sp>
        <p:nvSpPr>
          <p:cNvPr id="330" name="矩形: 圆角 329"/>
          <p:cNvSpPr/>
          <p:nvPr/>
        </p:nvSpPr>
        <p:spPr>
          <a:xfrm>
            <a:off x="7534275" y="1400175"/>
            <a:ext cx="4124325" cy="4000500"/>
          </a:xfrm>
          <a:prstGeom prst="roundRect">
            <a:avLst>
              <a:gd name="adj" fmla="val 4286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7724775" y="1619250"/>
            <a:ext cx="314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58863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8153400" y="1590675"/>
            <a:ext cx="12287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View Story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7724775" y="2047875"/>
            <a:ext cx="3743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558863"/>
                </a:solidFill>
                <a:latin typeface="Segoe UI"/>
                <a:ea typeface="Segoe UI"/>
              </a:rPr>
              <a:t>THREE VERSIONS, STORED SEPARATELY</a:t>
            </a:r>
            <a:endParaRPr/>
          </a:p>
        </p:txBody>
      </p:sp>
      <p:sp>
        <p:nvSpPr>
          <p:cNvPr id="334" name="矩形: 圆角 333"/>
          <p:cNvSpPr/>
          <p:nvPr/>
        </p:nvSpPr>
        <p:spPr>
          <a:xfrm>
            <a:off x="7724775" y="2314575"/>
            <a:ext cx="57150" cy="38100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7877175" y="2314575"/>
            <a:ext cx="3590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2D5C3B"/>
                </a:solidFill>
                <a:latin typeface="Georgia"/>
                <a:ea typeface="Georgia"/>
              </a:rPr>
              <a:t>Cantonese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7877175" y="2571750"/>
            <a:ext cx="3590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Kept as it was spoken. The voice is never replaced.</a:t>
            </a:r>
            <a:endParaRPr/>
          </a:p>
        </p:txBody>
      </p:sp>
      <p:sp>
        <p:nvSpPr>
          <p:cNvPr id="337" name="矩形: 圆角 336"/>
          <p:cNvSpPr/>
          <p:nvPr/>
        </p:nvSpPr>
        <p:spPr>
          <a:xfrm>
            <a:off x="7724775" y="28956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7877175" y="2895600"/>
            <a:ext cx="3590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2D5C3B"/>
                </a:solidFill>
                <a:latin typeface="Georgia"/>
                <a:ea typeface="Georgia"/>
              </a:rPr>
              <a:t>Written Chinese</a:t>
            </a:r>
            <a:endParaRPr/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7877175" y="3152775"/>
            <a:ext cx="3590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Cleaned of filler words, with the original still playable.</a:t>
            </a:r>
            <a:endParaRPr/>
          </a:p>
        </p:txBody>
      </p:sp>
      <p:sp>
        <p:nvSpPr>
          <p:cNvPr id="340" name="矩形: 圆角 339"/>
          <p:cNvSpPr/>
          <p:nvPr/>
        </p:nvSpPr>
        <p:spPr>
          <a:xfrm>
            <a:off x="7724775" y="3476625"/>
            <a:ext cx="57150" cy="38100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7877175" y="3476625"/>
            <a:ext cx="3590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2D5C3B"/>
                </a:solidFill>
                <a:latin typeface="Georgia"/>
                <a:ea typeface="Georgia"/>
              </a:rPr>
              <a:t>English</a:t>
            </a:r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7877175" y="3733800"/>
            <a:ext cx="3590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 separate, clearly labelled version — not a replacement.</a:t>
            </a:r>
            <a:endParaRPr/>
          </a:p>
        </p:txBody>
      </p:sp>
      <p:sp>
        <p:nvSpPr>
          <p:cNvPr id="343" name="矩形 342"/>
          <p:cNvSpPr/>
          <p:nvPr/>
        </p:nvSpPr>
        <p:spPr>
          <a:xfrm>
            <a:off x="7724775" y="4095750"/>
            <a:ext cx="3743325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7724775" y="4219575"/>
            <a:ext cx="3743325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The place block reads </a:t>
            </a:r>
            <a:r>
              <a:rPr lang="zh-CN" sz="1200" b="1">
                <a:solidFill>
                  <a:srgbClr val="30271D"/>
                </a:solidFill>
                <a:latin typeface="Segoe UI"/>
                <a:ea typeface="Segoe UI"/>
              </a:rPr>
              <a:t>位置經模糊處理，並非</a:t>
            </a:r>
            <a:r>
              <a:rPr lang="en-US" sz="1200" b="1">
                <a:solidFill>
                  <a:srgbClr val="30271D"/>
                </a:solidFill>
                <a:latin typeface="Segoe UI"/>
                <a:ea typeface="Segoe UI"/>
              </a:rPr>
              <a:t> GPS </a:t>
            </a:r>
            <a:r>
              <a:rPr lang="zh-CN" sz="1200" b="1">
                <a:solidFill>
                  <a:srgbClr val="30271D"/>
                </a:solidFill>
                <a:latin typeface="Segoe UI"/>
                <a:ea typeface="Segoe UI"/>
              </a:rPr>
              <a:t>定位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and shows a village-level fuzzy area of about 800 m — never an exact GPS point.</a:t>
            </a:r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7724775" y="5114925"/>
            <a:ext cx="37433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If the place cannot be resolved, the block says "not yet located" rather than inventing a pin.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533400" y="6448425"/>
            <a:ext cx="3971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AI suggests, a human confirms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05 / 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矩形 3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STEP 05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Ask the village — and always get the receipt</a:t>
            </a:r>
            <a:endParaRPr/>
          </a:p>
        </p:txBody>
      </p:sp>
      <p:sp>
        <p:nvSpPr>
          <p:cNvPr id="352" name="矩形 351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3" name="矩形: 圆角 352"/>
          <p:cNvSpPr/>
          <p:nvPr/>
        </p:nvSpPr>
        <p:spPr>
          <a:xfrm>
            <a:off x="533400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4" name="图片 353"/>
          <p:cNvPicPr>
            <a:picLocks noChangeAspect="1"/>
          </p:cNvPicPr>
          <p:nvPr/>
        </p:nvPicPr>
        <p:blipFill>
          <a:blip r:embed="rId2"/>
          <a:srcRect l="1435" r="1435"/>
          <a:stretch>
            <a:fillRect/>
          </a:stretch>
        </p:blipFill>
        <p:spPr>
          <a:xfrm>
            <a:off x="590550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33400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4 · Ask the Village</a:t>
            </a:r>
            <a:endParaRPr/>
          </a:p>
        </p:txBody>
      </p:sp>
      <p:sp>
        <p:nvSpPr>
          <p:cNvPr id="356" name="矩形: 圆角 355"/>
          <p:cNvSpPr/>
          <p:nvPr/>
        </p:nvSpPr>
        <p:spPr>
          <a:xfrm>
            <a:off x="2809875" y="1400175"/>
            <a:ext cx="8848725" cy="4000500"/>
          </a:xfrm>
          <a:prstGeom prst="roundRect">
            <a:avLst>
              <a:gd name="adj" fmla="val 4286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3000375" y="1590675"/>
            <a:ext cx="84677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Retrieval never leaves the recorded corpus</a:t>
            </a:r>
            <a:endParaRPr/>
          </a:p>
        </p:txBody>
      </p:sp>
      <p:sp>
        <p:nvSpPr>
          <p:cNvPr id="358" name="矩形: 圆角 357"/>
          <p:cNvSpPr/>
          <p:nvPr/>
        </p:nvSpPr>
        <p:spPr>
          <a:xfrm>
            <a:off x="3000375" y="2038350"/>
            <a:ext cx="8467725" cy="476250"/>
          </a:xfrm>
          <a:prstGeom prst="roundRect">
            <a:avLst>
              <a:gd name="adj" fmla="val 24000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9" name="矩形: 圆角 358"/>
          <p:cNvSpPr/>
          <p:nvPr/>
        </p:nvSpPr>
        <p:spPr>
          <a:xfrm>
            <a:off x="3133725" y="2152650"/>
            <a:ext cx="1314450" cy="257175"/>
          </a:xfrm>
          <a:prstGeom prst="roundRect">
            <a:avLst>
              <a:gd name="adj" fmla="val 44444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3248025" y="2200275"/>
            <a:ext cx="1085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00:08 – 00:16</a:t>
            </a:r>
            <a:endParaRPr/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4581525" y="2152650"/>
            <a:ext cx="6753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mornings, the birds, and the fish ponds at the edge of the village</a:t>
            </a:r>
            <a:endParaRPr/>
          </a:p>
        </p:txBody>
      </p:sp>
      <p:sp>
        <p:nvSpPr>
          <p:cNvPr id="362" name="矩形: 圆角 361"/>
          <p:cNvSpPr/>
          <p:nvPr/>
        </p:nvSpPr>
        <p:spPr>
          <a:xfrm>
            <a:off x="3000375" y="2609850"/>
            <a:ext cx="8467725" cy="476250"/>
          </a:xfrm>
          <a:prstGeom prst="roundRect">
            <a:avLst>
              <a:gd name="adj" fmla="val 24000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3" name="矩形: 圆角 362"/>
          <p:cNvSpPr/>
          <p:nvPr/>
        </p:nvSpPr>
        <p:spPr>
          <a:xfrm>
            <a:off x="3133725" y="2724150"/>
            <a:ext cx="1314450" cy="257175"/>
          </a:xfrm>
          <a:prstGeom prst="roundRect">
            <a:avLst>
              <a:gd name="adj" fmla="val 44444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3248025" y="2771775"/>
            <a:ext cx="1085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00:19 – 00:32</a:t>
            </a:r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581525" y="2724150"/>
            <a:ext cx="6753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Who lived nearby, and how the neighbours shared the mud path</a:t>
            </a:r>
            <a:endParaRPr/>
          </a:p>
        </p:txBody>
      </p:sp>
      <p:sp>
        <p:nvSpPr>
          <p:cNvPr id="366" name="矩形: 圆角 365"/>
          <p:cNvSpPr/>
          <p:nvPr/>
        </p:nvSpPr>
        <p:spPr>
          <a:xfrm>
            <a:off x="3000375" y="3181350"/>
            <a:ext cx="8467725" cy="476250"/>
          </a:xfrm>
          <a:prstGeom prst="roundRect">
            <a:avLst>
              <a:gd name="adj" fmla="val 24000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7" name="矩形: 圆角 366"/>
          <p:cNvSpPr/>
          <p:nvPr/>
        </p:nvSpPr>
        <p:spPr>
          <a:xfrm>
            <a:off x="3133725" y="3295650"/>
            <a:ext cx="1314450" cy="257175"/>
          </a:xfrm>
          <a:prstGeom prst="roundRect">
            <a:avLst>
              <a:gd name="adj" fmla="val 44444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3248025" y="3343275"/>
            <a:ext cx="1085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00:39 – 00:45</a:t>
            </a:r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4581525" y="3295650"/>
            <a:ext cx="6753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What changed on the fields, and when the digging started</a:t>
            </a:r>
            <a:endParaRPr/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3000375" y="3790950"/>
            <a:ext cx="84677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Every answer carries the label </a:t>
            </a:r>
            <a:r>
              <a:rPr lang="en-US" sz="1125" b="1">
                <a:solidFill>
                  <a:srgbClr val="558863"/>
                </a:solidFill>
                <a:latin typeface="Segoe UI"/>
                <a:ea typeface="Segoe UI"/>
              </a:rPr>
              <a:t>"Source from recorded story"</a:t>
            </a: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, and one tap plays the original audio. A question spanning several stories returns one answer per source.</a:t>
            </a:r>
            <a:endParaRPr/>
          </a:p>
        </p:txBody>
      </p:sp>
      <p:sp>
        <p:nvSpPr>
          <p:cNvPr id="371" name="矩形: 圆角 370"/>
          <p:cNvSpPr/>
          <p:nvPr/>
        </p:nvSpPr>
        <p:spPr>
          <a:xfrm>
            <a:off x="3000375" y="4448175"/>
            <a:ext cx="8467725" cy="723900"/>
          </a:xfrm>
          <a:prstGeom prst="roundRect">
            <a:avLst>
              <a:gd name="adj" fmla="val 18421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3171825" y="4562475"/>
            <a:ext cx="81248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THE DESIGNED NO-ANSWER</a:t>
            </a:r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3171825" y="4762500"/>
            <a:ext cx="81248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350" i="1">
                <a:solidFill>
                  <a:srgbClr val="2D5C3B"/>
                </a:solidFill>
                <a:latin typeface="Georgia"/>
                <a:ea typeface="Georgia"/>
              </a:rPr>
              <a:t>"This recording never mentions it. We will not guess."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533400" y="6448425"/>
            <a:ext cx="6343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A confident wrong answer is worse than an honest blank — so the blank is designed, not treated as a failure</a:t>
            </a:r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06 / 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矩形 3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SYSTEM · PIPELINE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Six stages from a voice to a sourced answer</a:t>
            </a:r>
            <a:endParaRPr/>
          </a:p>
        </p:txBody>
      </p:sp>
      <p:sp>
        <p:nvSpPr>
          <p:cNvPr id="380" name="矩形 379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1" name="矩形: 圆角 380"/>
          <p:cNvSpPr/>
          <p:nvPr/>
        </p:nvSpPr>
        <p:spPr>
          <a:xfrm>
            <a:off x="533400" y="13811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2" name="矩形: 圆角 381"/>
          <p:cNvSpPr/>
          <p:nvPr/>
        </p:nvSpPr>
        <p:spPr>
          <a:xfrm>
            <a:off x="704850" y="15525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819150" y="1609725"/>
            <a:ext cx="95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1123950" y="15906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Browser audio ingestion</a:t>
            </a:r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704850" y="19716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 recording captured in the browser; it survives a dropped connection</a:t>
            </a:r>
            <a:endParaRPr/>
          </a:p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704850" y="26003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1390650" y="26003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Capture keeps working locally and the upload is queued</a:t>
            </a:r>
            <a:endParaRPr/>
          </a:p>
        </p:txBody>
      </p:sp>
      <p:sp>
        <p:nvSpPr>
          <p:cNvPr id="388" name="矩形: 圆角 387"/>
          <p:cNvSpPr/>
          <p:nvPr/>
        </p:nvSpPr>
        <p:spPr>
          <a:xfrm>
            <a:off x="4295775" y="1381125"/>
            <a:ext cx="3600450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9" name="矩形: 圆角 388"/>
          <p:cNvSpPr/>
          <p:nvPr/>
        </p:nvSpPr>
        <p:spPr>
          <a:xfrm>
            <a:off x="4467225" y="15525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4572000" y="1609725"/>
            <a:ext cx="1143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4886325" y="1590675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Cloud speech-to-text</a:t>
            </a:r>
            <a:endParaRPr/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4467225" y="1971675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 transcript with a confidence score attached to every single word</a:t>
            </a:r>
            <a:endParaRPr/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4467225" y="2390775"/>
            <a:ext cx="609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5153025" y="2390775"/>
            <a:ext cx="25717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Poor audio is flagged low-confidence — it is never refused</a:t>
            </a:r>
            <a:endParaRPr/>
          </a:p>
        </p:txBody>
      </p:sp>
      <p:sp>
        <p:nvSpPr>
          <p:cNvPr id="395" name="矩形: 圆角 394"/>
          <p:cNvSpPr/>
          <p:nvPr/>
        </p:nvSpPr>
        <p:spPr>
          <a:xfrm>
            <a:off x="8048625" y="13811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6" name="矩形: 圆角 395"/>
          <p:cNvSpPr/>
          <p:nvPr/>
        </p:nvSpPr>
        <p:spPr>
          <a:xfrm>
            <a:off x="8220075" y="15525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8324850" y="1609725"/>
            <a:ext cx="1143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639175" y="15906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Uncertainty-marked transcript</a:t>
            </a:r>
            <a:endParaRPr/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8220075" y="19716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Every doubtful passage is visibly marked before anything is shown</a:t>
            </a:r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8220075" y="26003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8905875" y="26003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An unreadable passage is skipped and stays marked</a:t>
            </a:r>
            <a:endParaRPr/>
          </a:p>
        </p:txBody>
      </p:sp>
      <p:sp>
        <p:nvSpPr>
          <p:cNvPr id="402" name="矩形: 圆角 401"/>
          <p:cNvSpPr/>
          <p:nvPr/>
        </p:nvSpPr>
        <p:spPr>
          <a:xfrm>
            <a:off x="533400" y="31337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3" name="矩形: 圆角 402"/>
          <p:cNvSpPr/>
          <p:nvPr/>
        </p:nvSpPr>
        <p:spPr>
          <a:xfrm>
            <a:off x="704850" y="33051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09625" y="3362325"/>
            <a:ext cx="1238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4</a:t>
            </a:r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1123950" y="33432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LLM normalisation &amp; extraction</a:t>
            </a:r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704850" y="37242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Cleaned written Chinese, English, theme tags and a place candidate</a:t>
            </a:r>
            <a:endParaRPr/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704850" y="43529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1390650" y="43529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A place that cannot be resolved stays "not yet located"</a:t>
            </a:r>
            <a:endParaRPr/>
          </a:p>
        </p:txBody>
      </p:sp>
      <p:sp>
        <p:nvSpPr>
          <p:cNvPr id="409" name="矩形: 圆角 408"/>
          <p:cNvSpPr/>
          <p:nvPr/>
        </p:nvSpPr>
        <p:spPr>
          <a:xfrm>
            <a:off x="4295775" y="3133725"/>
            <a:ext cx="3600450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0" name="矩形: 圆角 409"/>
          <p:cNvSpPr/>
          <p:nvPr/>
        </p:nvSpPr>
        <p:spPr>
          <a:xfrm>
            <a:off x="4467225" y="33051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4572000" y="3362325"/>
            <a:ext cx="1143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5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4886325" y="3343275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Timestamp-linked indexing</a:t>
            </a:r>
            <a:endParaRPr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4467225" y="3724275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Searchable units, each carrying the time range it came from</a:t>
            </a:r>
            <a:endParaRPr/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4467225" y="43529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5153025" y="4352925"/>
            <a:ext cx="2571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Recordings over five minutes are processed in chunks</a:t>
            </a:r>
            <a:endParaRPr/>
          </a:p>
        </p:txBody>
      </p:sp>
      <p:sp>
        <p:nvSpPr>
          <p:cNvPr id="416" name="矩形: 圆角 415"/>
          <p:cNvSpPr/>
          <p:nvPr/>
        </p:nvSpPr>
        <p:spPr>
          <a:xfrm>
            <a:off x="8048625" y="31337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7" name="矩形: 圆角 416"/>
          <p:cNvSpPr/>
          <p:nvPr/>
        </p:nvSpPr>
        <p:spPr>
          <a:xfrm>
            <a:off x="8220075" y="33051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8324850" y="3362325"/>
            <a:ext cx="1238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6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8639175" y="33432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Grounded question answering</a:t>
            </a:r>
            <a:endParaRPr/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8220075" y="37242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Answers restricted to the corpus, each with a playable source</a:t>
            </a:r>
            <a:endParaRPr/>
          </a:p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8220075" y="43529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8905875" y="43529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No source means the designed no-answer, not a guess</a:t>
            </a:r>
            <a:endParaRPr/>
          </a:p>
        </p:txBody>
      </p:sp>
      <p:sp>
        <p:nvSpPr>
          <p:cNvPr id="423" name="矩形: 圆角 422"/>
          <p:cNvSpPr/>
          <p:nvPr/>
        </p:nvSpPr>
        <p:spPr>
          <a:xfrm>
            <a:off x="533400" y="4886325"/>
            <a:ext cx="11125200" cy="819150"/>
          </a:xfrm>
          <a:prstGeom prst="roundRect">
            <a:avLst>
              <a:gd name="adj" fmla="val 2093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742950" y="5019675"/>
            <a:ext cx="10706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A person is inside the pipeline at four points:</a:t>
            </a:r>
            <a:r>
              <a:rPr lang="en-US" sz="1200">
                <a:solidFill>
                  <a:srgbClr val="2D5C3B"/>
                </a:solidFill>
                <a:latin typeface="Segoe UI"/>
                <a:ea typeface="Segoe UI"/>
              </a:rPr>
              <a:t> choosing the language, correcting the transcript, confirming the place, and giving consent before anything becomes public. No stage publishes on its own.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07 / 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矩形 4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SYSTEM · UNCERTAINTY</a:t>
            </a:r>
            <a:endParaRPr/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The machine shows its doubt instead of hiding it</a:t>
            </a:r>
            <a:endParaRPr/>
          </a:p>
        </p:txBody>
      </p:sp>
      <p:sp>
        <p:nvSpPr>
          <p:cNvPr id="431" name="矩形 430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2" name="矩形: 圆角 431"/>
          <p:cNvSpPr/>
          <p:nvPr/>
        </p:nvSpPr>
        <p:spPr>
          <a:xfrm>
            <a:off x="533400" y="1381125"/>
            <a:ext cx="5467350" cy="1676400"/>
          </a:xfrm>
          <a:prstGeom prst="roundRect">
            <a:avLst>
              <a:gd name="adj" fmla="val 10227"/>
            </a:avLst>
          </a:prstGeom>
          <a:solidFill>
            <a:srgbClr val="FEFCF6"/>
          </a:solidFill>
          <a:ln w="25400">
            <a:solidFill>
              <a:srgbClr val="A769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23900" y="1666875"/>
            <a:ext cx="2105025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A7693C"/>
                </a:solidFill>
                <a:latin typeface="Georgia"/>
                <a:ea typeface="Georgia"/>
              </a:rPr>
              <a:t>71.4%</a:t>
            </a:r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723900" y="2619375"/>
            <a:ext cx="2095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per-word confidence</a:t>
            </a:r>
            <a:endParaRPr/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3009900" y="1628775"/>
            <a:ext cx="280035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zh-CN" sz="1950" b="1">
                <a:solidFill>
                  <a:srgbClr val="2D5C3B"/>
                </a:solidFill>
                <a:latin typeface="Georgia"/>
                <a:ea typeface="Georgia"/>
              </a:rPr>
              <a:t>農田</a:t>
            </a:r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3009900" y="2066925"/>
            <a:ext cx="28003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Disturbed by ambient noise at the fish ponds. Marked, offered for correction, left visible in the story.</a:t>
            </a:r>
            <a:endParaRPr/>
          </a:p>
        </p:txBody>
      </p:sp>
      <p:sp>
        <p:nvSpPr>
          <p:cNvPr id="437" name="矩形: 圆角 436"/>
          <p:cNvSpPr/>
          <p:nvPr/>
        </p:nvSpPr>
        <p:spPr>
          <a:xfrm>
            <a:off x="6191250" y="1381125"/>
            <a:ext cx="5467350" cy="1676400"/>
          </a:xfrm>
          <a:prstGeom prst="roundRect">
            <a:avLst>
              <a:gd name="adj" fmla="val 10227"/>
            </a:avLst>
          </a:prstGeom>
          <a:solidFill>
            <a:srgbClr val="FEFCF6"/>
          </a:solidFill>
          <a:ln w="25400">
            <a:solidFill>
              <a:srgbClr val="A769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6381750" y="1666875"/>
            <a:ext cx="2295525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A7693C"/>
                </a:solidFill>
                <a:latin typeface="Georgia"/>
                <a:ea typeface="Georgia"/>
              </a:rPr>
              <a:t>62.8%</a:t>
            </a:r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6381750" y="2619375"/>
            <a:ext cx="2095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per-word confidence</a:t>
            </a:r>
            <a:endParaRPr/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8667750" y="1628775"/>
            <a:ext cx="280035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zh-CN" sz="1950" b="1">
                <a:solidFill>
                  <a:srgbClr val="2D5C3B"/>
                </a:solidFill>
                <a:latin typeface="Georgia"/>
                <a:ea typeface="Georgia"/>
              </a:rPr>
              <a:t>雀仔叫</a:t>
            </a:r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8667750" y="2066925"/>
            <a:ext cx="28003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Disturbed by renovation drilling next door. The storyteller confirmed it in one tap; the audio was never rewritten.</a:t>
            </a:r>
            <a:endParaRPr/>
          </a:p>
        </p:txBody>
      </p:sp>
      <p:sp>
        <p:nvSpPr>
          <p:cNvPr id="442" name="矩形: 圆角 441"/>
          <p:cNvSpPr/>
          <p:nvPr/>
        </p:nvSpPr>
        <p:spPr>
          <a:xfrm>
            <a:off x="533400" y="3209925"/>
            <a:ext cx="11125200" cy="1676400"/>
          </a:xfrm>
          <a:prstGeom prst="roundRect">
            <a:avLst>
              <a:gd name="adj" fmla="val 1022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723900" y="3400425"/>
            <a:ext cx="2209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CONFIDENCE, WORD BY WORD</a:t>
            </a:r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9458325" y="3400425"/>
            <a:ext cx="2009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One bar = one word in the transcript</a:t>
            </a:r>
            <a:endParaRPr/>
          </a:p>
        </p:txBody>
      </p:sp>
      <p:pic>
        <p:nvPicPr>
          <p:cNvPr id="445" name="图形 4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3648075"/>
            <a:ext cx="10668000" cy="952500"/>
          </a:xfrm>
          <a:prstGeom prst="rect">
            <a:avLst/>
          </a:prstGeom>
          <a:ln/>
        </p:spPr>
      </p:pic>
      <p:sp>
        <p:nvSpPr>
          <p:cNvPr id="446" name="矩形: 圆角 445"/>
          <p:cNvSpPr/>
          <p:nvPr/>
        </p:nvSpPr>
        <p:spPr>
          <a:xfrm>
            <a:off x="533400" y="5038725"/>
            <a:ext cx="11125200" cy="1162050"/>
          </a:xfrm>
          <a:prstGeom prst="roundRect">
            <a:avLst>
              <a:gd name="adj" fmla="val 14754"/>
            </a:avLst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762000" y="5238750"/>
            <a:ext cx="10668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D8EFDD"/>
                </a:solidFill>
                <a:latin typeface="Segoe UI"/>
                <a:ea typeface="Segoe UI"/>
              </a:rPr>
              <a:t>THE BOUNDARY WE HOLD</a:t>
            </a:r>
            <a:endParaRPr/>
          </a:p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762000" y="5448300"/>
            <a:ext cx="106680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EFCF6"/>
                </a:solidFill>
                <a:latin typeface="Segoe UI"/>
                <a:ea typeface="Segoe UI"/>
              </a:rPr>
              <a:t>These two figures are observations from one 51-second role-played demo recording. They are not an accuracy claim, and we will not quote a general accuracy figure for Cantonese speech recognition that we have not measured.</a:t>
            </a:r>
            <a:endParaRPr/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08 /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矩形 4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SYSTEM · GROUNDING AND PRIVACY</a:t>
            </a:r>
            <a:endParaRPr/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Grounded by construction, not by good intentions</a:t>
            </a:r>
            <a:endParaRPr/>
          </a:p>
        </p:txBody>
      </p:sp>
      <p:sp>
        <p:nvSpPr>
          <p:cNvPr id="455" name="矩形 454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6" name="矩形: 圆角 455"/>
          <p:cNvSpPr/>
          <p:nvPr/>
        </p:nvSpPr>
        <p:spPr>
          <a:xfrm>
            <a:off x="533400" y="1381125"/>
            <a:ext cx="7086600" cy="2247900"/>
          </a:xfrm>
          <a:prstGeom prst="roundRect">
            <a:avLst>
              <a:gd name="adj" fmla="val 762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704850" y="1552575"/>
            <a:ext cx="6743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HOW AN ANSWER IS PRODUCED</a:t>
            </a:r>
            <a:endParaRPr/>
          </a:p>
        </p:txBody>
      </p:sp>
      <p:pic>
        <p:nvPicPr>
          <p:cNvPr id="458" name="图形 4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" y="1762125"/>
            <a:ext cx="6743700" cy="1638300"/>
          </a:xfrm>
          <a:prstGeom prst="rect">
            <a:avLst/>
          </a:prstGeom>
          <a:ln/>
        </p:spPr>
      </p:pic>
      <p:sp>
        <p:nvSpPr>
          <p:cNvPr id="459" name="矩形: 圆角 458"/>
          <p:cNvSpPr/>
          <p:nvPr/>
        </p:nvSpPr>
        <p:spPr>
          <a:xfrm>
            <a:off x="533400" y="3781425"/>
            <a:ext cx="7086600" cy="2305050"/>
          </a:xfrm>
          <a:prstGeom prst="roundRect">
            <a:avLst>
              <a:gd name="adj" fmla="val 7438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704850" y="3952875"/>
            <a:ext cx="6743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WHO CAN HEAR A STORY</a:t>
            </a:r>
            <a:endParaRPr/>
          </a:p>
        </p:txBody>
      </p:sp>
      <p:sp>
        <p:nvSpPr>
          <p:cNvPr id="461" name="矩形: 圆角 460"/>
          <p:cNvSpPr/>
          <p:nvPr/>
        </p:nvSpPr>
        <p:spPr>
          <a:xfrm>
            <a:off x="704850" y="42005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838200" y="42862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EFCF6"/>
                </a:solidFill>
                <a:latin typeface="Georgia"/>
                <a:ea typeface="Georgia"/>
              </a:rPr>
              <a:t>Private</a:t>
            </a:r>
            <a:endParaRPr/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2019300" y="4305300"/>
            <a:ext cx="4724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EFCF6"/>
                </a:solidFill>
                <a:latin typeface="Segoe UI"/>
                <a:ea typeface="Segoe UI"/>
              </a:rPr>
              <a:t>Only the storyteller</a:t>
            </a:r>
            <a:endParaRPr/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6877050" y="4305300"/>
            <a:ext cx="438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EFCF6"/>
                </a:solidFill>
                <a:latin typeface="Segoe UI"/>
                <a:ea typeface="Segoe UI"/>
              </a:rPr>
              <a:t>Default</a:t>
            </a:r>
            <a:endParaRPr/>
          </a:p>
        </p:txBody>
      </p:sp>
      <p:sp>
        <p:nvSpPr>
          <p:cNvPr id="465" name="矩形: 圆角 464"/>
          <p:cNvSpPr/>
          <p:nvPr/>
        </p:nvSpPr>
        <p:spPr>
          <a:xfrm>
            <a:off x="704850" y="46196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838200" y="47053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Family</a:t>
            </a:r>
            <a:endParaRPr/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2019300" y="4724400"/>
            <a:ext cx="5038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Family members</a:t>
            </a:r>
            <a:endParaRPr/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7191375" y="4724400"/>
            <a:ext cx="123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558863"/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469" name="矩形: 圆角 468"/>
          <p:cNvSpPr/>
          <p:nvPr/>
        </p:nvSpPr>
        <p:spPr>
          <a:xfrm>
            <a:off x="704850" y="50387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838200" y="51244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Community</a:t>
            </a:r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2019300" y="5143500"/>
            <a:ext cx="5038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Community groups and schools</a:t>
            </a:r>
            <a:endParaRPr/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7191375" y="5143500"/>
            <a:ext cx="123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558863"/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473" name="矩形: 圆角 472"/>
          <p:cNvSpPr/>
          <p:nvPr/>
        </p:nvSpPr>
        <p:spPr>
          <a:xfrm>
            <a:off x="704850" y="54578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838200" y="55435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Public</a:t>
            </a:r>
            <a:endParaRPr/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2019300" y="5562600"/>
            <a:ext cx="5038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Everyone, including visitors</a:t>
            </a:r>
            <a:endParaRPr/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7191375" y="5562600"/>
            <a:ext cx="123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558863"/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704850" y="5934075"/>
            <a:ext cx="67437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The build already renders Leaflet with OpenStreetMap tiles, and draws only a village-level fuzzy circle of roughly 800 m — there is no GPS pin anywhere in the app. The basemap licence must still be verified before launch.</a:t>
            </a:r>
            <a:endParaRPr/>
          </a:p>
        </p:txBody>
      </p:sp>
      <p:sp>
        <p:nvSpPr>
          <p:cNvPr id="478" name="矩形: 圆角 477"/>
          <p:cNvSpPr/>
          <p:nvPr/>
        </p:nvSpPr>
        <p:spPr>
          <a:xfrm>
            <a:off x="7848600" y="1381125"/>
            <a:ext cx="3810000" cy="4048125"/>
          </a:xfrm>
          <a:prstGeom prst="roundRect">
            <a:avLst>
              <a:gd name="adj" fmla="val 4500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79" name="图片 478"/>
          <p:cNvPicPr>
            <a:picLocks noChangeAspect="1"/>
          </p:cNvPicPr>
          <p:nvPr/>
        </p:nvPicPr>
        <p:blipFill>
          <a:blip r:embed="rId3"/>
          <a:srcRect l="135" r="135"/>
          <a:stretch>
            <a:fillRect/>
          </a:stretch>
        </p:blipFill>
        <p:spPr>
          <a:xfrm>
            <a:off x="7924800" y="1457325"/>
            <a:ext cx="3657600" cy="3895725"/>
          </a:xfrm>
          <a:prstGeom prst="roundRect">
            <a:avLst>
              <a:gd name="adj" fmla="val 3646"/>
            </a:avLst>
          </a:prstGeom>
          <a:ln/>
        </p:spPr>
      </p:pic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7848600" y="5524500"/>
            <a:ext cx="38100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Our privacy and AI-responsibility rules — written for the MVP, not yet a screen in the build.</a:t>
            </a:r>
            <a:endParaRPr/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09 / 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const strip = [&#10;    { n: '01', s: 'Boris records 51 seconds of Cantonese on Screen 1.' },&#10;    { n: '02', s: 'Two words return low-confidence and are corrected, not overwritten.' },&#10;    { n: '03', s: 'Privacy tiers are not built yet — the default stays Private.' },&#10;    { n: '04', s: 'The card shows three labelled versions and a village-level fuzzy place.' },&#10;    { n: '05', s: 'Three sourced answers come back, and one honest blank.' },&#10;];&#10;&#10;&lt;Slide style={{ width: '1280px', height: '720px', background: '#F6F1E7', padding: 0, position: 'relative' }}&gt;&#10;    &lt;Box style={{ marginLeft: 56, marginRight: 56, marginTop: 40 }}&gt;&#10;        &lt;Text style={{ fontFamily: 'Segoe UI', fontSize: 14, fontWeight: 600, letterSpacing: 2.4, color: '#558863' }}&gt;&#10;            DEMO · WALKTHROUGH&#10;        &lt;/Text&gt;&#10;        &lt;Text style={{ fontFamily: 'Georgia', fontSize: 34, fontWeight: 'bold', color: '#2D5C3B', marginTop: 8, lineHeight: 1.25 }}&gt;&#10;            One story, end to end: 元朗村落晨光與魚塘回憶&#10;        &lt;/Text&gt;&#10;        &lt;Box style={{ width: 220, height: 3, background: '#558863', marginTop: 10 }} /&gt;&#10;    &lt;/Box&gt;&#10;&#10;    &lt;Box style={{ marginLeft: 56, marginRight: 56, marginTop: 16, flexDirection: 'row', gap: 24 }}&gt;&#10;        &lt;Box style={{ width: 642, flexDirection: 'row', gap: 14 }}&gt;&#10;            {[&#10;                { f: 'assets/screens/screen_record.png', c: '01 · Record' },&#10;                { f: 'assets/screens/screen_transcript.png', c: '02 · Review' },&#10;                { f: 'assets/screens/screen_story.jpg', c: '03 · Story card' },&#10;                { f: 'assets/screens/screen_ask.png', c: '04 · Ask' },&#10;            ].map((p, i) =&gt; (&#10;                &lt;Box key={i} style={{ width: 150 }}&gt;&#10;                    &lt;Box style={{ width: 150, height: 296, background: '#FEFCF6', borderRadius: 16, padding: 5, boxShadow: '0 5px 18px rgba(0,0,0,0.09)' }}&gt;&#10;                        &lt;Image src={p.f} style={{ width: 140, height: 286, objectFit: 'contain', borderRadius: 12 }} /&gt;&#10;                    &lt;/Box&gt;&#10;                    &lt;Text style={{ fontFamily: 'Segoe UI', fontSize: 13, color: '#558863', marginTop: 8, textAlign: 'center' }}&gt;{p.c}&lt;/Text&gt;&#10;                &lt;/Box&gt;&#10;            ))}&#10;        &lt;/Box&gt;&#10;&#10;        &lt;Box style={{ flex: 1, height: 320, border: '2px solid #D8EFDD', borderRadius: 18, background: '#FEFCF6', padding: 18, alignItems: 'center', justifyContent: 'space-between' }}&gt;&#10;            &lt;Text style={{ fontFamily: 'Segoe UI', fontSize: 13, fontWeight: 600, letterSpacing: 1.6, color: '#558863' }}&gt;TRY THE WORKING BUILD&lt;/Text&gt;&#10;            &lt;Box style={{ width: 170, height: 170, background: '#FFFFFF', borderRadius: 12, padding: 8, boxShadow: '0 3px 14px rgba(0,0,0,0.08)' }}&gt;&#10;                &lt;Image src='assets/demo_qr.png' style={{ width: 154, height: 154, objectFit: 'contain' }} /&gt;&#10;            &lt;/Box&gt;&#10;            &lt;Box style={{ alignItems: 'center' }}&gt;&#10;                &lt;Text style={{ fontFamily: 'Segoe UI', fontSize: 15, fontWeight: 600, color: '#2D5C3B' }}&gt;掃碼開啟演示 · Scan to open the demo&lt;/Text&gt;&#10;                &lt;Box style={{ marginTop: 6, background: '#F1EBDC', borderRadius: 999, paddingLeft: 16, paddingRight: 16, paddingTop: 5, paddingBottom: 5 }}&gt;&#10;                    &lt;Text style={{ fontFamily: 'Segoe UI', fontSize: 14, color: '#2D5C3B' }}&gt;example.com/voices-of-the-north&lt;/Text&gt;&#10;                &lt;/Box&gt;&#10;            &lt;/Box&gt;&#10;        &lt;/Box&gt;&#10;    &lt;/Box&gt;&#10;&#10;    &lt;Box style={{ marginLeft: 56, marginRight: 56, marginTop: 16, height: 150, background: '#FEFCF6', borderRadius: 18, padding: 18, boxShadow: '0 4px 20px rgba(0,0,0,0.06)' }}&gt;&#10;        &lt;Text style={{ fontFamily: 'Segoe UI', fontSize: 13, fontWeight: 600, letterSpacing: 1.6, color: '#558863' }}&gt;WHAT HAPPENS, IN ORDER&lt;/Text&gt;&#10;        &lt;Box style={{ flexDirection: 'row', gap: 14, marginTop: 12 }}&gt;&#10;            {strip.map((s, i) =&gt; (&#10;                &lt;Box key={i} style={{ flex: 1 }}&gt;&#10;                    &lt;Text style={{ fontFamily: 'Georgia', fontSize: 22, fontWeight: 'bold', color: '#558863', lineHeight: 1 }}&gt;{s.n}&lt;/Text&gt;&#10;                    &lt;Text style={{ fontFamily: 'Segoe UI', fontSize: 14, color: '#30271D', lineHeight: 1.45, marginTop: 8 }}&gt;{s.s}&lt;/Text&gt;&#10;                &lt;/Box&gt;&#10;            ))}&#10;        &lt;/Box&gt;&#10;    &lt;/Box&gt;&#10;&#10;    &lt;Box style={{ position: 'absolute', left: 56, right: 56, bottom: 26, flexDirection: 'row', justifyContent: 'space-between', alignItems: 'center' }}&gt;&#10;        &lt;Text style={{ fontFamily: 'Segoe UI', fontSize: 14, color: '#2D5C3B', opacity: 0.75 }}&gt;&#10;            Role-played recording · consent verified 29 Sep 2026 · 51 seconds&#10;        &lt;/Text&gt;&#10;        &lt;Text style={{ fontFamily: 'Segoe UI', fontSize: 14, color: '#2D5C3B', opacity: 0.75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DEMO · WALKTHROUGH</a:t>
            </a:r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One story, end to end: </a:t>
            </a:r>
            <a:r>
              <a:rPr lang="zh-CN" sz="2550" b="1">
                <a:solidFill>
                  <a:srgbClr val="2D5C3B"/>
                </a:solidFill>
                <a:latin typeface="Georgia"/>
                <a:ea typeface="Georgia"/>
              </a:rPr>
              <a:t>元朗村落晨光與魚塘回憶</a:t>
            </a:r>
            <a:endParaRPr/>
          </a:p>
        </p:txBody>
      </p:sp>
      <p:sp>
        <p:nvSpPr>
          <p:cNvPr id="21" name="矩形 20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矩形: 圆角 21"/>
          <p:cNvSpPr/>
          <p:nvPr/>
        </p:nvSpPr>
        <p:spPr>
          <a:xfrm>
            <a:off x="5334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1744" r="1744"/>
          <a:stretch>
            <a:fillRect/>
          </a:stretch>
        </p:blipFill>
        <p:spPr>
          <a:xfrm>
            <a:off x="5810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5334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01 · Record</a:t>
            </a:r>
            <a:endParaRPr/>
          </a:p>
        </p:txBody>
      </p:sp>
      <p:sp>
        <p:nvSpPr>
          <p:cNvPr id="25" name="矩形: 圆角 24"/>
          <p:cNvSpPr/>
          <p:nvPr/>
        </p:nvSpPr>
        <p:spPr>
          <a:xfrm>
            <a:off x="20955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1744" r="1744"/>
          <a:stretch>
            <a:fillRect/>
          </a:stretch>
        </p:blipFill>
        <p:spPr>
          <a:xfrm>
            <a:off x="21431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20955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02 · Review</a:t>
            </a:r>
            <a:endParaRPr/>
          </a:p>
        </p:txBody>
      </p:sp>
      <p:sp>
        <p:nvSpPr>
          <p:cNvPr id="28" name="矩形: 圆角 27"/>
          <p:cNvSpPr/>
          <p:nvPr/>
        </p:nvSpPr>
        <p:spPr>
          <a:xfrm>
            <a:off x="36576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rcRect l="1744" r="1744"/>
          <a:stretch>
            <a:fillRect/>
          </a:stretch>
        </p:blipFill>
        <p:spPr>
          <a:xfrm>
            <a:off x="37052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36576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03 · Story card</a:t>
            </a:r>
            <a:endParaRPr/>
          </a:p>
        </p:txBody>
      </p:sp>
      <p:sp>
        <p:nvSpPr>
          <p:cNvPr id="31" name="矩形: 圆角 30"/>
          <p:cNvSpPr/>
          <p:nvPr/>
        </p:nvSpPr>
        <p:spPr>
          <a:xfrm>
            <a:off x="52197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rcRect l="1744" r="1744"/>
          <a:stretch>
            <a:fillRect/>
          </a:stretch>
        </p:blipFill>
        <p:spPr>
          <a:xfrm>
            <a:off x="52673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2197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04 · Ask</a:t>
            </a:r>
            <a:endParaRPr/>
          </a:p>
        </p:txBody>
      </p:sp>
      <p:sp>
        <p:nvSpPr>
          <p:cNvPr id="34" name="矩形: 圆角 33"/>
          <p:cNvSpPr/>
          <p:nvPr/>
        </p:nvSpPr>
        <p:spPr>
          <a:xfrm>
            <a:off x="6877050" y="1381125"/>
            <a:ext cx="4781550" cy="3048000"/>
          </a:xfrm>
          <a:prstGeom prst="roundRect">
            <a:avLst>
              <a:gd name="adj" fmla="val 5625"/>
            </a:avLst>
          </a:prstGeom>
          <a:solidFill>
            <a:srgbClr val="FEFCF6"/>
          </a:solidFill>
          <a:ln w="25400">
            <a:solidFill>
              <a:srgbClr val="D8EF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343900" y="1552575"/>
            <a:ext cx="1857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TRY THE WORKING BUILD</a:t>
            </a:r>
            <a:endParaRPr/>
          </a:p>
        </p:txBody>
      </p:sp>
      <p:sp>
        <p:nvSpPr>
          <p:cNvPr id="36" name="矩形: 圆角 35"/>
          <p:cNvSpPr/>
          <p:nvPr/>
        </p:nvSpPr>
        <p:spPr>
          <a:xfrm>
            <a:off x="8458200" y="1933575"/>
            <a:ext cx="1619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2009775"/>
            <a:ext cx="1466850" cy="1466850"/>
          </a:xfrm>
          <a:prstGeom prst="rect">
            <a:avLst/>
          </a:prstGeom>
          <a:ln/>
        </p:spPr>
      </p:pic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8001000" y="3771900"/>
            <a:ext cx="25336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D5C3B"/>
                </a:solidFill>
                <a:latin typeface="Segoe UI"/>
                <a:ea typeface="Segoe UI"/>
              </a:rPr>
              <a:t>掃碼開啟演示</a:t>
            </a:r>
            <a:r>
              <a:rPr lang="en-US" sz="1125" b="1">
                <a:solidFill>
                  <a:srgbClr val="2D5C3B"/>
                </a:solidFill>
                <a:latin typeface="Segoe UI"/>
                <a:ea typeface="Segoe UI"/>
              </a:rPr>
              <a:t> · Scan to open the demo</a:t>
            </a:r>
            <a:endParaRPr/>
          </a:p>
        </p:txBody>
      </p:sp>
      <p:sp>
        <p:nvSpPr>
          <p:cNvPr id="39" name="矩形: 圆角 38"/>
          <p:cNvSpPr/>
          <p:nvPr/>
        </p:nvSpPr>
        <p:spPr>
          <a:xfrm>
            <a:off x="7101254" y="4000500"/>
            <a:ext cx="4486275" cy="257175"/>
          </a:xfrm>
          <a:prstGeom prst="roundRect">
            <a:avLst>
              <a:gd name="adj" fmla="val 3700000"/>
            </a:avLst>
          </a:prstGeom>
          <a:solidFill>
            <a:srgbClr val="F1EBD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7229475" y="4042471"/>
            <a:ext cx="42576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2D5C3B"/>
                </a:solidFill>
                <a:latin typeface="Segoe UI"/>
                <a:ea typeface="Segoe UI"/>
              </a:rPr>
              <a:t>https://voices-of-the-north.onrender.com/voices-of-the-north-app.html</a:t>
            </a:r>
            <a:endParaRPr dirty="0"/>
          </a:p>
        </p:txBody>
      </p:sp>
      <p:sp>
        <p:nvSpPr>
          <p:cNvPr id="41" name="矩形: 圆角 40"/>
          <p:cNvSpPr/>
          <p:nvPr/>
        </p:nvSpPr>
        <p:spPr>
          <a:xfrm>
            <a:off x="533400" y="4581525"/>
            <a:ext cx="11125200" cy="1428750"/>
          </a:xfrm>
          <a:prstGeom prst="roundRect">
            <a:avLst>
              <a:gd name="adj" fmla="val 12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704850" y="4752975"/>
            <a:ext cx="10782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WHAT HAPPENS, IN ORDER</a:t>
            </a:r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704850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704850" y="5353050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Boris records 51 seconds of Cantonese on Screen 1.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2886075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2886075" y="5353050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Two words return low-confidence and are corrected, not overwritten.</a:t>
            </a:r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067300" y="5019675"/>
            <a:ext cx="2057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067300" y="5353050"/>
            <a:ext cx="20574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Privacy tiers are not built yet — the default stays Private.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7258050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7258050" y="5353050"/>
            <a:ext cx="204787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The card shows three labelled versions and a village-level fuzzy place.</a:t>
            </a:r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9439275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9439275" y="5353050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Three sourced answers come back, and one honest blank.</a:t>
            </a:r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533400" y="6448425"/>
            <a:ext cx="38671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Role-played recording · consent verified 29 Sep 2026 · 51 seconds</a:t>
            </a:r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10 / 14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05CB7F-7DA8-69A1-1772-5354C83EDC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0" y="1721619"/>
            <a:ext cx="1890762" cy="18907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LIMITS · STATED PLAINLY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What we will not claim</a:t>
            </a:r>
            <a:endParaRPr/>
          </a:p>
        </p:txBody>
      </p:sp>
      <p:sp>
        <p:nvSpPr>
          <p:cNvPr id="59" name="矩形 58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矩形: 圆角 59"/>
          <p:cNvSpPr/>
          <p:nvPr/>
        </p:nvSpPr>
        <p:spPr>
          <a:xfrm>
            <a:off x="533400" y="13811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1" name="图形 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" y="1552575"/>
            <a:ext cx="323850" cy="323850"/>
          </a:xfrm>
          <a:prstGeom prst="rect">
            <a:avLst/>
          </a:prstGeom>
          <a:ln/>
        </p:spPr>
      </p:pic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04850" y="199072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Not real interviews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04850" y="2390775"/>
            <a:ext cx="32670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Every story in this deck is role-played for demonstration. No elder’s recording is used, and no community partnership has been signed.</a:t>
            </a:r>
            <a:endParaRPr/>
          </a:p>
        </p:txBody>
      </p:sp>
      <p:sp>
        <p:nvSpPr>
          <p:cNvPr id="64" name="矩形: 圆角 63"/>
          <p:cNvSpPr/>
          <p:nvPr/>
        </p:nvSpPr>
        <p:spPr>
          <a:xfrm>
            <a:off x="704850" y="3171825"/>
            <a:ext cx="326707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819150" y="3219450"/>
            <a:ext cx="3038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Status — role-played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4295775" y="1381125"/>
            <a:ext cx="3600450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7" name="图形 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7225" y="1552575"/>
            <a:ext cx="323850" cy="323850"/>
          </a:xfrm>
          <a:prstGeom prst="rect">
            <a:avLst/>
          </a:prstGeom>
          <a:ln/>
        </p:spPr>
      </p:pic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4467225" y="1990725"/>
            <a:ext cx="3257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Not an exact location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4467225" y="2390775"/>
            <a:ext cx="32575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map is real OpenStreetMap imagery, but the only thing drawn on it is a fuzzy circle of roughly 800 m. No GPS pin, no address, no exact point.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4467225" y="3171825"/>
            <a:ext cx="3257550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4581525" y="3219450"/>
            <a:ext cx="3028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Status — coarse by design</a:t>
            </a:r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8048625" y="13811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3" name="图形 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0075" y="1552575"/>
            <a:ext cx="323850" cy="323850"/>
          </a:xfrm>
          <a:prstGeom prst="rect">
            <a:avLst/>
          </a:prstGeom>
          <a:ln/>
        </p:spPr>
      </p:pic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8220075" y="199072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Not enforced yet</a:t>
            </a:r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8220075" y="2390775"/>
            <a:ext cx="32670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four privacy tiers and the consent controls are specified in the interface but are not yet enforced by a backend.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8220075" y="3171825"/>
            <a:ext cx="326707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8334375" y="3219450"/>
            <a:ext cx="3038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Status — interface only</a:t>
            </a:r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533400" y="3743325"/>
            <a:ext cx="5486400" cy="1905000"/>
          </a:xfrm>
          <a:prstGeom prst="roundRect">
            <a:avLst>
              <a:gd name="adj" fmla="val 9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9" name="图形 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850" y="3933825"/>
            <a:ext cx="266700" cy="266700"/>
          </a:xfrm>
          <a:prstGeom prst="rect">
            <a:avLst/>
          </a:prstGeom>
          <a:ln/>
        </p:spPr>
      </p:pic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085850" y="3914775"/>
            <a:ext cx="4762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 general accuracy claim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04850" y="4314825"/>
            <a:ext cx="51435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two confidence figures come from one 51-second demo recording. We do not quote a Cantonese recognition accuracy rate that we have not measured, and the demo metrics are reproducible only within the demo.</a:t>
            </a:r>
            <a:endParaRPr/>
          </a:p>
        </p:txBody>
      </p:sp>
      <p:sp>
        <p:nvSpPr>
          <p:cNvPr id="82" name="矩形: 圆角 81"/>
          <p:cNvSpPr/>
          <p:nvPr/>
        </p:nvSpPr>
        <p:spPr>
          <a:xfrm>
            <a:off x="704850" y="5229225"/>
            <a:ext cx="5143500" cy="247650"/>
          </a:xfrm>
          <a:prstGeom prst="roundRect">
            <a:avLst>
              <a:gd name="adj" fmla="val 53846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819150" y="5276850"/>
            <a:ext cx="4914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A7693C"/>
                </a:solidFill>
                <a:latin typeface="Segoe UI"/>
                <a:ea typeface="Segoe UI"/>
              </a:rPr>
              <a:t>Status — demo scope only</a:t>
            </a:r>
            <a:endParaRPr/>
          </a:p>
        </p:txBody>
      </p:sp>
      <p:sp>
        <p:nvSpPr>
          <p:cNvPr id="84" name="矩形: 圆角 83"/>
          <p:cNvSpPr/>
          <p:nvPr/>
        </p:nvSpPr>
        <p:spPr>
          <a:xfrm>
            <a:off x="6172200" y="3743325"/>
            <a:ext cx="5486400" cy="1905000"/>
          </a:xfrm>
          <a:prstGeom prst="roundRect">
            <a:avLst>
              <a:gd name="adj" fmla="val 9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5" name="图形 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650" y="3933825"/>
            <a:ext cx="266700" cy="266700"/>
          </a:xfrm>
          <a:prstGeom prst="rect">
            <a:avLst/>
          </a:prstGeom>
          <a:ln/>
        </p:spPr>
      </p:pic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724650" y="3914775"/>
            <a:ext cx="4762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Never automatic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6343650" y="4314825"/>
            <a:ext cx="51435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Nothing is published without a human confirming it. Dialects are not auto-translated, and there is no face detection, no speaker identification, no social feed and no editing of someone else’s story.</a:t>
            </a:r>
            <a:endParaRPr/>
          </a:p>
        </p:txBody>
      </p:sp>
      <p:sp>
        <p:nvSpPr>
          <p:cNvPr id="88" name="矩形: 圆角 87"/>
          <p:cNvSpPr/>
          <p:nvPr/>
        </p:nvSpPr>
        <p:spPr>
          <a:xfrm>
            <a:off x="6343650" y="5229225"/>
            <a:ext cx="5143500" cy="247650"/>
          </a:xfrm>
          <a:prstGeom prst="roundRect">
            <a:avLst>
              <a:gd name="adj" fmla="val 53846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457950" y="5276850"/>
            <a:ext cx="4914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A7693C"/>
                </a:solidFill>
                <a:latin typeface="Segoe UI"/>
                <a:ea typeface="Segoe UI"/>
              </a:rPr>
              <a:t>Status — by design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533400" y="6448425"/>
            <a:ext cx="7562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Four rules the flow obeys: one screen, one job · uncertainty stays visible · every answer has a source · consent stays with the elder</a:t>
            </a:r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11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ROADMAP · WHAT COMES AFTER THE DEMO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Expansion we deliberately did not build yet</a:t>
            </a:r>
            <a:endParaRPr/>
          </a:p>
        </p:txBody>
      </p:sp>
      <p:sp>
        <p:nvSpPr>
          <p:cNvPr id="96" name="矩形 95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" name="矩形: 圆角 96"/>
          <p:cNvSpPr/>
          <p:nvPr/>
        </p:nvSpPr>
        <p:spPr>
          <a:xfrm>
            <a:off x="5334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D8EFDD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8" name="矩形: 圆角 97"/>
          <p:cNvSpPr/>
          <p:nvPr/>
        </p:nvSpPr>
        <p:spPr>
          <a:xfrm>
            <a:off x="704850" y="1552575"/>
            <a:ext cx="552450" cy="247650"/>
          </a:xfrm>
          <a:prstGeom prst="roundRect">
            <a:avLst>
              <a:gd name="adj" fmla="val 53846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819150" y="1600200"/>
            <a:ext cx="323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EFCF6"/>
                </a:solidFill>
                <a:latin typeface="Segoe UI"/>
                <a:ea typeface="Segoe UI"/>
              </a:rPr>
              <a:t>NOW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048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In the hackathon build</a:t>
            </a:r>
            <a:endParaRPr/>
          </a:p>
        </p:txBody>
      </p:sp>
      <p:sp>
        <p:nvSpPr>
          <p:cNvPr id="101" name="矩形 100"/>
          <p:cNvSpPr/>
          <p:nvPr/>
        </p:nvSpPr>
        <p:spPr>
          <a:xfrm>
            <a:off x="704850" y="2286000"/>
            <a:ext cx="2324100" cy="952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04850" y="23907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Guided Cantonese capture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04850" y="26098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04850" y="29241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Uncertainty-marked transcript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04850" y="31432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04850" y="34575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Four privacy tiers</a:t>
            </a:r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04850" y="36766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interface only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04850" y="39909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Three-version story card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04850" y="42100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04850" y="45243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Grounded Q&amp;A with timestamps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04850" y="47434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12" name="矩形: 圆角 111"/>
          <p:cNvSpPr/>
          <p:nvPr/>
        </p:nvSpPr>
        <p:spPr>
          <a:xfrm>
            <a:off x="33528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3" name="矩形: 圆角 112"/>
          <p:cNvSpPr/>
          <p:nvPr/>
        </p:nvSpPr>
        <p:spPr>
          <a:xfrm>
            <a:off x="3524250" y="1552575"/>
            <a:ext cx="552450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638550" y="1600200"/>
            <a:ext cx="323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NEXT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35242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0 – 3 months</a:t>
            </a:r>
            <a:endParaRPr/>
          </a:p>
        </p:txBody>
      </p:sp>
      <p:sp>
        <p:nvSpPr>
          <p:cNvPr id="116" name="矩形 115"/>
          <p:cNvSpPr/>
          <p:nvPr/>
        </p:nvSpPr>
        <p:spPr>
          <a:xfrm>
            <a:off x="3524250" y="2286000"/>
            <a:ext cx="232410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3524250" y="23907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Backend enforcement of privacy tiers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3524250" y="282892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real account and storage model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3524250" y="31432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Real map on Leaflet + OpenStreetMap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3524250" y="358140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basemap licence must be verified first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3524250" y="389572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Volunteer review queue for unrecognised dialects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3524250" y="433387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partner running sessions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3524250" y="4648200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Longer and multi-session recordings</a:t>
            </a:r>
            <a:endParaRPr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3524250" y="486727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chunking is specified, not built</a:t>
            </a:r>
            <a:endParaRPr/>
          </a:p>
        </p:txBody>
      </p:sp>
      <p:sp>
        <p:nvSpPr>
          <p:cNvPr id="125" name="矩形: 圆角 124"/>
          <p:cNvSpPr/>
          <p:nvPr/>
        </p:nvSpPr>
        <p:spPr>
          <a:xfrm>
            <a:off x="61722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6" name="矩形: 圆角 125"/>
          <p:cNvSpPr/>
          <p:nvPr/>
        </p:nvSpPr>
        <p:spPr>
          <a:xfrm>
            <a:off x="6343650" y="1552575"/>
            <a:ext cx="60007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457950" y="1600200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LATER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3436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6 – 12 months</a:t>
            </a:r>
            <a:endParaRPr/>
          </a:p>
        </p:txBody>
      </p:sp>
      <p:sp>
        <p:nvSpPr>
          <p:cNvPr id="129" name="矩形 128"/>
          <p:cNvSpPr/>
          <p:nvPr/>
        </p:nvSpPr>
        <p:spPr>
          <a:xfrm>
            <a:off x="6343650" y="2286000"/>
            <a:ext cx="232410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343650" y="23907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Hakka, Hoklo and Wai Tau recognition</a:t>
            </a:r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343650" y="2828925"/>
            <a:ext cx="23241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no training data or ASR model exists for them yet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343650" y="33432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Handover to a library, museum or district NGO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343650" y="378142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custodian and a data agreement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343650" y="40957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School and community-curated collections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6343650" y="453390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depends on the tiers being enforced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6343650" y="484822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Offline-first capture for field volunteers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6343650" y="528637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capture works offline; sync does not</a:t>
            </a:r>
            <a:endParaRPr/>
          </a:p>
        </p:txBody>
      </p:sp>
      <p:sp>
        <p:nvSpPr>
          <p:cNvPr id="138" name="矩形: 圆角 137"/>
          <p:cNvSpPr/>
          <p:nvPr/>
        </p:nvSpPr>
        <p:spPr>
          <a:xfrm>
            <a:off x="89916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9" name="矩形: 圆角 138"/>
          <p:cNvSpPr/>
          <p:nvPr/>
        </p:nvSpPr>
        <p:spPr>
          <a:xfrm>
            <a:off x="9163050" y="1552575"/>
            <a:ext cx="73342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9277350" y="1600200"/>
            <a:ext cx="504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BEYOND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91630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Only if the rest works</a:t>
            </a:r>
            <a:endParaRPr/>
          </a:p>
        </p:txBody>
      </p:sp>
      <p:sp>
        <p:nvSpPr>
          <p:cNvPr id="142" name="矩形 141"/>
          <p:cNvSpPr/>
          <p:nvPr/>
        </p:nvSpPr>
        <p:spPr>
          <a:xfrm>
            <a:off x="9163050" y="2286000"/>
            <a:ext cx="232410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9163050" y="23907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A cross-district, then cross-border dialect archive</a:t>
            </a:r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9163050" y="282892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depends on the dialect branch</a:t>
            </a:r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9163050" y="31432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Paid transcription and hosting for NGOs and heritage offices</a:t>
            </a:r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9163050" y="3581400"/>
            <a:ext cx="23241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consent and compliance framework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9163050" y="40957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An open metadata schema other archives can federate</a:t>
            </a:r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9163050" y="453390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no schema agreed yet</a:t>
            </a:r>
            <a:endParaRPr/>
          </a:p>
        </p:txBody>
      </p:sp>
      <p:sp>
        <p:nvSpPr>
          <p:cNvPr id="149" name="矩形: 圆角 148"/>
          <p:cNvSpPr/>
          <p:nvPr/>
        </p:nvSpPr>
        <p:spPr>
          <a:xfrm>
            <a:off x="533400" y="5343525"/>
            <a:ext cx="11125200" cy="704850"/>
          </a:xfrm>
          <a:prstGeom prst="roundRect">
            <a:avLst>
              <a:gd name="adj" fmla="val 24324"/>
            </a:avLst>
          </a:prstGeom>
          <a:solidFill>
            <a:srgbClr val="FEFCF6"/>
          </a:solidFill>
          <a:ln w="25400">
            <a:solidFill>
              <a:srgbClr val="5588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742950" y="5419725"/>
            <a:ext cx="10706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Nothing in the last three columns is in the demo.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Each item carries the reason it is not built yet, so the gap between what we showed and what we promise stays visible.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FUTURE BRANCH · LANGUAGE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Cantonese works. The other three do not — yet.</a:t>
            </a:r>
            <a:endParaRPr/>
          </a:p>
        </p:txBody>
      </p:sp>
      <p:sp>
        <p:nvSpPr>
          <p:cNvPr id="157" name="矩形 156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矩形: 圆角 157"/>
          <p:cNvSpPr/>
          <p:nvPr/>
        </p:nvSpPr>
        <p:spPr>
          <a:xfrm>
            <a:off x="533400" y="1362075"/>
            <a:ext cx="11125200" cy="1714500"/>
          </a:xfrm>
          <a:prstGeom prst="roundRect">
            <a:avLst>
              <a:gd name="adj" fmla="val 10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9" name="图形 1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" y="1495425"/>
            <a:ext cx="10858500" cy="1447800"/>
          </a:xfrm>
          <a:prstGeom prst="rect">
            <a:avLst/>
          </a:prstGeom>
          <a:ln/>
        </p:spPr>
      </p:pic>
      <p:sp>
        <p:nvSpPr>
          <p:cNvPr id="160" name="矩形: 圆角 159"/>
          <p:cNvSpPr/>
          <p:nvPr/>
        </p:nvSpPr>
        <p:spPr>
          <a:xfrm>
            <a:off x="533400" y="32099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04850" y="3381375"/>
            <a:ext cx="3267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A7693C"/>
                </a:solidFill>
                <a:latin typeface="Segoe UI"/>
                <a:ea typeface="Segoe UI"/>
              </a:rPr>
              <a:t>PATH A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04850" y="360997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Fine-tune a dialect ASR model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704850" y="4010025"/>
            <a:ext cx="32670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Several hours of transcribed audio per dialect, plus fluent speakers to verify it.</a:t>
            </a:r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04850" y="478155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Most accurate if it works. Slowest and most expensive to obtain — this is the honest blocker.</a:t>
            </a:r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4295775" y="3209925"/>
            <a:ext cx="3600450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4467225" y="3381375"/>
            <a:ext cx="3257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A7693C"/>
                </a:solidFill>
                <a:latin typeface="Segoe UI"/>
                <a:ea typeface="Segoe UI"/>
              </a:rPr>
              <a:t>PATH B</a:t>
            </a:r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4467225" y="3609975"/>
            <a:ext cx="3257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Multilingual normalisation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4467225" y="4010025"/>
            <a:ext cx="3257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A large model that already handles related Sinitic varieties, with Cantonese as the bridge.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4467225" y="4781550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Fastest to try, least certain. We would mark its output as uncertain by default, for a human to confirm.</a:t>
            </a:r>
            <a:endParaRPr/>
          </a:p>
        </p:txBody>
      </p:sp>
      <p:sp>
        <p:nvSpPr>
          <p:cNvPr id="170" name="矩形: 圆角 169"/>
          <p:cNvSpPr/>
          <p:nvPr/>
        </p:nvSpPr>
        <p:spPr>
          <a:xfrm>
            <a:off x="8048625" y="32099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8220075" y="3381375"/>
            <a:ext cx="3267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A7693C"/>
                </a:solidFill>
                <a:latin typeface="Segoe UI"/>
                <a:ea typeface="Segoe UI"/>
              </a:rPr>
              <a:t>PATH C</a:t>
            </a:r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8220075" y="360997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Volunteer manual transcript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8220075" y="4010025"/>
            <a:ext cx="32670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A person writes the transcript; everything downstream stays exactly as it is today.</a:t>
            </a:r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8220075" y="478155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Works now. It does not scale, and it puts the labour on the community rather than the system.</a:t>
            </a:r>
            <a:endParaRPr/>
          </a:p>
        </p:txBody>
      </p:sp>
      <p:sp>
        <p:nvSpPr>
          <p:cNvPr id="175" name="矩形: 圆角 174"/>
          <p:cNvSpPr/>
          <p:nvPr/>
        </p:nvSpPr>
        <p:spPr>
          <a:xfrm>
            <a:off x="533400" y="5553075"/>
            <a:ext cx="11125200" cy="647700"/>
          </a:xfrm>
          <a:prstGeom prst="roundRect">
            <a:avLst>
              <a:gd name="adj" fmla="val 26471"/>
            </a:avLst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42950" y="5610225"/>
            <a:ext cx="107061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 b="1">
                <a:solidFill>
                  <a:srgbClr val="FEFCF6"/>
                </a:solidFill>
                <a:latin typeface="Segoe UI"/>
                <a:ea typeface="Segoe UI"/>
              </a:rPr>
              <a:t>How we would know it works:</a:t>
            </a:r>
            <a:r>
              <a:rPr lang="en-US" sz="1200">
                <a:solidFill>
                  <a:srgbClr val="FEFCF6"/>
                </a:solidFill>
                <a:latin typeface="Segoe UI"/>
                <a:ea typeface="Segoe UI"/>
              </a:rPr>
              <a:t> measure per-word confidence on a held-out set of that dialect, published with its size and its speakers, before we claim anything about it.</a:t>
            </a:r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533400" y="6448425"/>
            <a:ext cx="4419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this page describes work not yet done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IMPACT · HOW WE WOULD MEASURE IT</a:t>
            </a:r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Three goals, three countable definitions</a:t>
            </a:r>
            <a:endParaRPr/>
          </a:p>
        </p:txBody>
      </p:sp>
      <p:sp>
        <p:nvSpPr>
          <p:cNvPr id="183" name="矩形 182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矩形: 圆角 183"/>
          <p:cNvSpPr/>
          <p:nvPr/>
        </p:nvSpPr>
        <p:spPr>
          <a:xfrm>
            <a:off x="533400" y="1381125"/>
            <a:ext cx="3609975" cy="2762250"/>
          </a:xfrm>
          <a:prstGeom prst="roundRect">
            <a:avLst>
              <a:gd name="adj" fmla="val 620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5" name="矩形: 圆角 184"/>
          <p:cNvSpPr/>
          <p:nvPr/>
        </p:nvSpPr>
        <p:spPr>
          <a:xfrm>
            <a:off x="704850" y="15525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828675" y="1657350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EFCF6"/>
                </a:solidFill>
                <a:latin typeface="Georgia"/>
                <a:ea typeface="Georgia"/>
              </a:rPr>
              <a:t>11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1181100" y="1666875"/>
            <a:ext cx="514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SDG 11</a:t>
            </a:r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704850" y="2047875"/>
            <a:ext cx="326707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Sustainable cities and communities</a:t>
            </a:r>
            <a:endParaRPr/>
          </a:p>
        </p:txBody>
      </p:sp>
      <p:sp>
        <p:nvSpPr>
          <p:cNvPr id="189" name="矩形 188"/>
          <p:cNvSpPr/>
          <p:nvPr/>
        </p:nvSpPr>
        <p:spPr>
          <a:xfrm>
            <a:off x="704850" y="2743200"/>
            <a:ext cx="3267075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04850" y="2847975"/>
            <a:ext cx="3267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58863"/>
                </a:solidFill>
                <a:latin typeface="Segoe UI"/>
                <a:ea typeface="Segoe UI"/>
              </a:rPr>
              <a:t>Measured as</a:t>
            </a:r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704850" y="3048000"/>
            <a:ext cx="32670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number of village stories that carry a verified transcript and a confirmed privacy tier before clearance.</a:t>
            </a:r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704850" y="350520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A community that loses its buildings can still hold a queryable record of what was there.</a:t>
            </a:r>
            <a:endParaRPr/>
          </a:p>
        </p:txBody>
      </p:sp>
      <p:sp>
        <p:nvSpPr>
          <p:cNvPr id="193" name="矩形: 圆角 192"/>
          <p:cNvSpPr/>
          <p:nvPr/>
        </p:nvSpPr>
        <p:spPr>
          <a:xfrm>
            <a:off x="4295775" y="1381125"/>
            <a:ext cx="3600450" cy="2762250"/>
          </a:xfrm>
          <a:prstGeom prst="roundRect">
            <a:avLst>
              <a:gd name="adj" fmla="val 620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4" name="矩形: 圆角 193"/>
          <p:cNvSpPr/>
          <p:nvPr/>
        </p:nvSpPr>
        <p:spPr>
          <a:xfrm>
            <a:off x="4467225" y="15525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4610100" y="1657350"/>
            <a:ext cx="95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EFCF6"/>
                </a:solidFill>
                <a:latin typeface="Georgia"/>
                <a:ea typeface="Georgia"/>
              </a:rPr>
              <a:t>4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4943475" y="1666875"/>
            <a:ext cx="428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SDG 4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467225" y="2047875"/>
            <a:ext cx="3257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Quality education</a:t>
            </a:r>
            <a:endParaRPr/>
          </a:p>
        </p:txBody>
      </p:sp>
      <p:sp>
        <p:nvSpPr>
          <p:cNvPr id="198" name="矩形 197"/>
          <p:cNvSpPr/>
          <p:nvPr/>
        </p:nvSpPr>
        <p:spPr>
          <a:xfrm>
            <a:off x="4467225" y="2447925"/>
            <a:ext cx="325755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467225" y="2552700"/>
            <a:ext cx="32575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58863"/>
                </a:solidFill>
                <a:latin typeface="Segoe UI"/>
                <a:ea typeface="Segoe UI"/>
              </a:rPr>
              <a:t>Measured as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4467225" y="2752725"/>
            <a:ext cx="32575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Sourced answers played back in school and community sessions, counted per session — never downloads, never likes.</a:t>
            </a:r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467225" y="3505200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Students hear the original voice, not somebody’s summary of it.</a:t>
            </a:r>
            <a:endParaRPr/>
          </a:p>
        </p:txBody>
      </p:sp>
      <p:sp>
        <p:nvSpPr>
          <p:cNvPr id="202" name="矩形: 圆角 201"/>
          <p:cNvSpPr/>
          <p:nvPr/>
        </p:nvSpPr>
        <p:spPr>
          <a:xfrm>
            <a:off x="8048625" y="1381125"/>
            <a:ext cx="3609975" cy="2762250"/>
          </a:xfrm>
          <a:prstGeom prst="roundRect">
            <a:avLst>
              <a:gd name="adj" fmla="val 620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3" name="矩形: 圆角 202"/>
          <p:cNvSpPr/>
          <p:nvPr/>
        </p:nvSpPr>
        <p:spPr>
          <a:xfrm>
            <a:off x="8220075" y="15525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8324850" y="1657350"/>
            <a:ext cx="171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EFCF6"/>
                </a:solidFill>
                <a:latin typeface="Georgia"/>
                <a:ea typeface="Georgia"/>
              </a:rPr>
              <a:t>16</a:t>
            </a:r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8696325" y="1666875"/>
            <a:ext cx="514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SDG 16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8220075" y="2047875"/>
            <a:ext cx="326707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Peace, justice and strong institutions</a:t>
            </a:r>
            <a:endParaRPr/>
          </a:p>
        </p:txBody>
      </p:sp>
      <p:sp>
        <p:nvSpPr>
          <p:cNvPr id="207" name="矩形 206"/>
          <p:cNvSpPr/>
          <p:nvPr/>
        </p:nvSpPr>
        <p:spPr>
          <a:xfrm>
            <a:off x="8220075" y="2743200"/>
            <a:ext cx="3267075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8220075" y="2847975"/>
            <a:ext cx="3267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58863"/>
                </a:solidFill>
                <a:latin typeface="Segoe UI"/>
                <a:ea typeface="Segoe UI"/>
              </a:rPr>
              <a:t>Measured as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220075" y="3048000"/>
            <a:ext cx="3267075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share of answers traceable to a timestamp, and the share of stories where consent was changed or withdrawn without friction. Target: 100% traceability.</a:t>
            </a:r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8220075" y="350520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An archive that can prove where every claim came from is far harder to misuse.</a:t>
            </a:r>
            <a:endParaRPr/>
          </a:p>
        </p:txBody>
      </p:sp>
      <p:sp>
        <p:nvSpPr>
          <p:cNvPr id="211" name="矩形: 圆角 210"/>
          <p:cNvSpPr/>
          <p:nvPr/>
        </p:nvSpPr>
        <p:spPr>
          <a:xfrm>
            <a:off x="533400" y="4295775"/>
            <a:ext cx="11125200" cy="1524000"/>
          </a:xfrm>
          <a:prstGeom prst="roundRect">
            <a:avLst>
              <a:gd name="adj" fmla="val 11250"/>
            </a:avLst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800100" y="4667250"/>
            <a:ext cx="105918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2250" i="1">
                <a:solidFill>
                  <a:srgbClr val="FEFCF6"/>
                </a:solidFill>
                <a:latin typeface="Georgia"/>
                <a:ea typeface="Georgia"/>
              </a:rPr>
              <a:t>"Development can rebuild a place. Only people can remember it."</a:t>
            </a:r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800100" y="5286375"/>
            <a:ext cx="2476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D8EFDD"/>
                </a:solidFill>
                <a:latin typeface="Segoe UI"/>
                <a:ea typeface="Segoe UI"/>
              </a:rPr>
              <a:t>Voices of the North · Team HumanLoop</a:t>
            </a:r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505950" y="5286375"/>
            <a:ext cx="1885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D8EFDD"/>
                </a:solidFill>
                <a:latin typeface="Segoe UI"/>
                <a:ea typeface="Segoe UI"/>
              </a:rPr>
              <a:t>Final report · 18 October 2026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533400" y="6448425"/>
            <a:ext cx="4791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All figures in this deck are demo-scope observations, not general accuracy claims.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14 / 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2442</Words>
  <Application>Microsoft Office PowerPoint</Application>
  <PresentationFormat>宽屏</PresentationFormat>
  <Paragraphs>315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Georgia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ze liu</cp:lastModifiedBy>
  <cp:revision>1</cp:revision>
  <dcterms:created xsi:type="dcterms:W3CDTF">2026-10-15T17:29:38Z</dcterms:created>
  <dcterms:modified xsi:type="dcterms:W3CDTF">2026-10-15T17:36:34Z</dcterms:modified>
</cp:coreProperties>
</file>