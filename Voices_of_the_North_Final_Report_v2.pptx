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1.svg" ContentType="image/svg+xml"/>
  <Override PartName="/ppt/media/image12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/>
          <p:nvPr>
            <p:ph type="body" idx="1"/>
          </p:nvPr>
        </p:nvSpPr>
        <p:spPr>
          <a:xfrm>
            <a:off x="685800" y="4114800"/>
            <a:ext cx="5486400" cy="3886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en-US" sz="1200" dirty="0"/>
              <a:t>PRESENTER NOTES — before recording or presenting:</a:t>
            </a:r>
          </a:p>
          <a:p>
            <a:r>
              <a:rPr lang="en-US" sz="1200" dirty="0"/>
              <a:t>1. Open and refresh the site 1-2 minutes early. Render free tier sleeps after 15 min idle; cold start takes 30-60 s.</a:t>
            </a:r>
          </a:p>
          <a:p>
            <a:r>
              <a:rPr lang="en-US" sz="1200" dirty="0"/>
              <a:t>2. Keep a tab open and refresh every ~10 min before judging so the container stays warm.</a:t>
            </a:r>
          </a:p>
          <a:p>
            <a:r>
              <a:rPr lang="en-US" sz="1200" dirty="0"/>
              <a:t>3. The pre-recorded demo video is the backup if the live site is slow.</a:t>
            </a:r>
          </a:p>
          <a:p>
            <a:r>
              <a:rPr lang="en-US" sz="1200" dirty="0"/>
              <a:t>4. Do not type /recording.html into the address bar — it is a single-page app; use the #recording hash route.</a:t>
            </a:r>
          </a:p>
          <a:p>
            <a:r>
              <a:rPr lang="en-US" sz="1200" dirty="0"/>
              <a:t>5. The recording is a 46-second role-played Yuen Long demo track, not a field interview.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svg"/><Relationship Id="rId3" Type="http://schemas.openxmlformats.org/officeDocument/2006/relationships/image" Target="../media/image4.svg"/><Relationship Id="rId4" Type="http://schemas.openxmlformats.org/officeDocument/2006/relationships/image" Target="../media/image5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svg"/><Relationship Id="rId3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jpg"/><Relationship Id="rId5" Type="http://schemas.openxmlformats.org/officeDocument/2006/relationships/image" Target="../media/image10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notesSlide" Target="../notesSlides/notes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svg"/><Relationship Id="rId3" Type="http://schemas.openxmlformats.org/officeDocument/2006/relationships/image" Target="../media/image17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文本框 2" descr="{&quot;isTemplate&quot;:true,&quot;type&quot;:&quot;text&quot;}"/>
          <p:cNvSpPr txBox="1"/>
          <p:nvPr/>
        </p:nvSpPr>
        <p:spPr>
          <a:xfrm>
            <a:off x="533400" y="685800"/>
            <a:ext cx="60960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1050" b="1" spc="180">
                <a:solidFill>
                  <a:srgbClr val="558863"/>
                </a:solidFill>
                <a:latin typeface="Segoe UI"/>
                <a:ea typeface="Segoe UI"/>
              </a:rPr>
              <a:t>HONG KONG INTER-UNIVERSITY GENAI HACKATHON FOR SDGS 2026</a:t>
            </a:r>
            <a:endParaRPr/>
          </a:p>
        </p:txBody>
      </p:sp>
      <p:sp>
        <p:nvSpPr>
          <p:cNvPr id="4" name="文本框 3" descr="{&quot;isTemplate&quot;:true,&quot;type&quot;:&quot;text&quot;}"/>
          <p:cNvSpPr txBox="1"/>
          <p:nvPr/>
        </p:nvSpPr>
        <p:spPr>
          <a:xfrm>
            <a:off x="533400" y="1123950"/>
            <a:ext cx="6096000" cy="1695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2000"/>
              </a:lnSpc>
            </a:pPr>
            <a:r>
              <a:rPr lang="en-US" sz="4950" b="1">
                <a:solidFill>
                  <a:srgbClr val="2D5C3B"/>
                </a:solidFill>
                <a:latin typeface="Georgia"/>
                <a:ea typeface="Georgia"/>
              </a:rPr>
              <a:t>Voices of the</a:t>
            </a:r>
            <a:endParaRPr/>
          </a:p>
          <a:p>
            <a:pPr>
              <a:lnSpc>
                <a:spcPct val="112000"/>
              </a:lnSpc>
            </a:pPr>
            <a:r>
              <a:rPr lang="en-US" sz="4950" b="1">
                <a:solidFill>
                  <a:srgbClr val="2D5C3B"/>
                </a:solidFill>
                <a:latin typeface="Georgia"/>
                <a:ea typeface="Georgia"/>
              </a:rPr>
              <a:t>North</a:t>
            </a:r>
            <a:endParaRPr/>
          </a:p>
        </p:txBody>
      </p:sp>
      <p:sp>
        <p:nvSpPr>
          <p:cNvPr id="5" name="文本框 4" descr="{&quot;isTemplate&quot;:true,&quot;type&quot;:&quot;text&quot;}"/>
          <p:cNvSpPr txBox="1"/>
          <p:nvPr/>
        </p:nvSpPr>
        <p:spPr>
          <a:xfrm>
            <a:off x="533400" y="2914650"/>
            <a:ext cx="60960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950" spc="300">
                <a:solidFill>
                  <a:srgbClr val="558863"/>
                </a:solidFill>
                <a:latin typeface="Georgia"/>
                <a:ea typeface="Georgia"/>
              </a:rPr>
              <a:t>北方之聲</a:t>
            </a:r>
            <a:endParaRPr/>
          </a:p>
        </p:txBody>
      </p:sp>
      <p:sp>
        <p:nvSpPr>
          <p:cNvPr id="6" name="矩形 5"/>
          <p:cNvSpPr/>
          <p:nvPr/>
        </p:nvSpPr>
        <p:spPr>
          <a:xfrm>
            <a:off x="533400" y="3467100"/>
            <a:ext cx="2095500" cy="28575"/>
          </a:xfrm>
          <a:prstGeom prst="rect">
            <a:avLst/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文本框 6" descr="{&quot;isTemplate&quot;:true,&quot;type&quot;:&quot;text&quot;}"/>
          <p:cNvSpPr txBox="1"/>
          <p:nvPr/>
        </p:nvSpPr>
        <p:spPr>
          <a:xfrm>
            <a:off x="533400" y="3743325"/>
            <a:ext cx="6096000" cy="8572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1875" i="1">
                <a:solidFill>
                  <a:srgbClr val="30271D"/>
                </a:solidFill>
                <a:latin typeface="Georgia"/>
                <a:ea typeface="Georgia"/>
              </a:rPr>
              <a:t>"Development moves people out.</a:t>
            </a:r>
            <a:endParaRPr/>
          </a:p>
          <a:p>
            <a:pPr>
              <a:lnSpc>
                <a:spcPct val="150000"/>
              </a:lnSpc>
            </a:pPr>
            <a:r>
              <a:rPr lang="en-US" sz="1875" i="1">
                <a:solidFill>
                  <a:srgbClr val="30271D"/>
                </a:solidFill>
                <a:latin typeface="Georgia"/>
                <a:ea typeface="Georgia"/>
              </a:rPr>
              <a:t>Memory has to be carried with them."</a:t>
            </a:r>
            <a:endParaRPr/>
          </a:p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533400" y="4924425"/>
            <a:ext cx="609600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1275">
                <a:solidFill>
                  <a:srgbClr val="30271D"/>
                </a:solidFill>
                <a:latin typeface="Segoe UI"/>
                <a:ea typeface="Segoe UI"/>
              </a:rPr>
              <a:t>Team HumanLoop · Douglas · Zheng · Dat · Steven · Boris</a:t>
            </a:r>
            <a:endParaRPr/>
          </a:p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533400" y="5286375"/>
            <a:ext cx="609600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1275">
                <a:solidFill>
                  <a:srgbClr val="30271D"/>
                </a:solidFill>
                <a:latin typeface="Segoe UI"/>
                <a:ea typeface="Segoe UI"/>
              </a:rPr>
              <a:t>Track — Smart Living, Culture and Belonging</a:t>
            </a:r>
            <a:endParaRPr/>
          </a:p>
        </p:txBody>
      </p:sp>
      <p:sp>
        <p:nvSpPr>
          <p:cNvPr id="10" name="文本框 9" descr="{&quot;isTemplate&quot;:true,&quot;type&quot;:&quot;text&quot;}"/>
          <p:cNvSpPr txBox="1"/>
          <p:nvPr/>
        </p:nvSpPr>
        <p:spPr>
          <a:xfrm>
            <a:off x="533400" y="5648325"/>
            <a:ext cx="609600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1275">
                <a:solidFill>
                  <a:srgbClr val="30271D"/>
                </a:solidFill>
                <a:latin typeface="Segoe UI"/>
                <a:ea typeface="Segoe UI"/>
              </a:rPr>
              <a:t>Final report · 18 October 2026</a:t>
            </a:r>
            <a:endParaRPr/>
          </a:p>
        </p:txBody>
      </p:sp>
      <p:sp>
        <p:nvSpPr>
          <p:cNvPr id="11" name="文本框 10" descr="{&quot;isTemplate&quot;:true,&quot;type&quot;:&quot;text&quot;}"/>
          <p:cNvSpPr txBox="1"/>
          <p:nvPr/>
        </p:nvSpPr>
        <p:spPr>
          <a:xfrm>
            <a:off x="533400" y="6048375"/>
            <a:ext cx="60960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1125">
                <a:solidFill>
                  <a:srgbClr val="A7693C"/>
                </a:solidFill>
                <a:latin typeface="Segoe UI"/>
                <a:ea typeface="Segoe UI"/>
              </a:rPr>
              <a:t>All stories in this deck are role-played for demonstration. The demo audio is a 46-second Yuen Long recording.</a:t>
            </a:r>
            <a:endParaRPr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6100" y="685800"/>
            <a:ext cx="4762500" cy="4095750"/>
          </a:xfrm>
          <a:prstGeom prst="roundRect">
            <a:avLst>
              <a:gd name="adj" fmla="val 4186"/>
            </a:avLst>
          </a:prstGeom>
          <a:ln/>
        </p:spPr>
      </p:pic>
      <p:sp>
        <p:nvSpPr>
          <p:cNvPr id="13" name="文本框 12" descr="{&quot;isTemplate&quot;:true,&quot;type&quot;:&quot;text&quot;}"/>
          <p:cNvSpPr txBox="1"/>
          <p:nvPr/>
        </p:nvSpPr>
        <p:spPr>
          <a:xfrm>
            <a:off x="6896100" y="4895850"/>
            <a:ext cx="47625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en-US" sz="975">
                <a:solidFill>
                  <a:srgbClr val="2D5C3B"/>
                </a:solidFill>
                <a:latin typeface="Segoe UI"/>
                <a:ea typeface="Segoe UI"/>
              </a:rPr>
              <a:t>The kind of place the stories come from — a village ferry crossing, Yuen Long, in the Northern Metropolis.</a:t>
            </a:r>
            <a:endParaRPr/>
          </a:p>
        </p:txBody>
      </p:sp>
      <p:sp>
        <p:nvSpPr>
          <p:cNvPr id="14" name="矩形 1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D5C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文本框 14" descr="{&quot;isTemplate&quot;:true,&quot;type&quot;:&quot;text&quot;}"/>
          <p:cNvSpPr txBox="1"/>
          <p:nvPr/>
        </p:nvSpPr>
        <p:spPr>
          <a:xfrm>
            <a:off x="6896100" y="5162550"/>
            <a:ext cx="4762500" cy="1809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825">
                <a:solidFill>
                  <a:srgbClr val="558863">
                    <a:alpha val="80000"/>
                  </a:srgbClr>
                </a:solidFill>
                <a:latin typeface="Segoe UI"/>
                <a:ea typeface="Segoe UI"/>
              </a:rPr>
              <a:t>Photo: </a:t>
            </a:r>
            <a:r>
              <a:rPr lang="zh-CN" sz="825">
                <a:solidFill>
                  <a:srgbClr val="558863">
                    <a:alpha val="80000"/>
                  </a:srgbClr>
                </a:solidFill>
                <a:latin typeface="Segoe UI"/>
                <a:ea typeface="Segoe UI"/>
              </a:rPr>
              <a:t>姒姓賢寧</a:t>
            </a:r>
            <a:r>
              <a:rPr lang="en-US" sz="825">
                <a:solidFill>
                  <a:srgbClr val="558863">
                    <a:alpha val="80000"/>
                  </a:srgbClr>
                </a:solidFill>
                <a:latin typeface="Segoe UI"/>
                <a:ea typeface="Segoe UI"/>
              </a:rPr>
              <a:t> · CC BY-SA 4.0 · via Wikimedia Commons · cropped and colour-graded.</a:t>
            </a:r>
            <a:endParaRPr/>
          </a:p>
        </p:txBody>
      </p:sp>
      <p:pic>
        <p:nvPicPr>
          <p:cNvPr id="16" name="图形 1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724650"/>
            <a:ext cx="12192000" cy="133350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矩形 2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9" name="文本框 218" descr="{&quot;isTemplate&quot;:true,&quot;type&quot;:&quot;text&quot;}"/>
          <p:cNvSpPr txBox="1"/>
          <p:nvPr/>
        </p:nvSpPr>
        <p:spPr>
          <a:xfrm>
            <a:off x="533400" y="381000"/>
            <a:ext cx="11125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 spc="180">
                <a:solidFill>
                  <a:srgbClr val="558863"/>
                </a:solidFill>
                <a:latin typeface="Segoe UI"/>
                <a:ea typeface="Segoe UI"/>
              </a:rPr>
              <a:t>THE PROBLEM</a:t>
            </a:r>
            <a:endParaRPr/>
          </a:p>
        </p:txBody>
      </p:sp>
      <p:sp>
        <p:nvSpPr>
          <p:cNvPr id="220" name="文本框 219" descr="{&quot;isTemplate&quot;:true,&quot;type&quot;:&quot;text&quot;}"/>
          <p:cNvSpPr txBox="1"/>
          <p:nvPr/>
        </p:nvSpPr>
        <p:spPr>
          <a:xfrm>
            <a:off x="533400" y="619125"/>
            <a:ext cx="111252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sz="2550" b="1">
                <a:solidFill>
                  <a:srgbClr val="2D5C3B"/>
                </a:solidFill>
                <a:latin typeface="Georgia"/>
                <a:ea typeface="Georgia"/>
              </a:rPr>
              <a:t>Two clocks, one village</a:t>
            </a:r>
            <a:endParaRPr/>
          </a:p>
        </p:txBody>
      </p:sp>
      <p:sp>
        <p:nvSpPr>
          <p:cNvPr id="221" name="矩形 220"/>
          <p:cNvSpPr/>
          <p:nvPr/>
        </p:nvSpPr>
        <p:spPr>
          <a:xfrm>
            <a:off x="533400" y="1200150"/>
            <a:ext cx="2095500" cy="28575"/>
          </a:xfrm>
          <a:prstGeom prst="rect">
            <a:avLst/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2" name="文本框 221" descr="{&quot;isTemplate&quot;:true,&quot;type&quot;:&quot;text&quot;}"/>
          <p:cNvSpPr txBox="1"/>
          <p:nvPr/>
        </p:nvSpPr>
        <p:spPr>
          <a:xfrm>
            <a:off x="533400" y="1524000"/>
            <a:ext cx="1600200" cy="4095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en-US" sz="975" b="1" spc="105">
                <a:solidFill>
                  <a:srgbClr val="2D5C3B"/>
                </a:solidFill>
                <a:latin typeface="Segoe UI"/>
                <a:ea typeface="Segoe UI"/>
              </a:rPr>
              <a:t>REDEVELOPMENT CLOCK</a:t>
            </a:r>
            <a:endParaRPr/>
          </a:p>
        </p:txBody>
      </p:sp>
      <p:sp>
        <p:nvSpPr>
          <p:cNvPr id="223" name="文本框 222" descr="{&quot;isTemplate&quot;:true,&quot;type&quot;:&quot;text&quot;}"/>
          <p:cNvSpPr txBox="1"/>
          <p:nvPr/>
        </p:nvSpPr>
        <p:spPr>
          <a:xfrm>
            <a:off x="533400" y="1971675"/>
            <a:ext cx="160020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30271D"/>
                </a:solidFill>
                <a:latin typeface="Segoe UI"/>
                <a:ea typeface="Segoe UI"/>
              </a:rPr>
              <a:t>Runs on a published schedule</a:t>
            </a:r>
            <a:endParaRPr/>
          </a:p>
        </p:txBody>
      </p:sp>
      <p:pic>
        <p:nvPicPr>
          <p:cNvPr id="224" name="图形 22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05050" y="1438275"/>
            <a:ext cx="9353550" cy="1104900"/>
          </a:xfrm>
          <a:prstGeom prst="rect">
            <a:avLst/>
          </a:prstGeom>
          <a:ln/>
        </p:spPr>
      </p:pic>
      <p:sp>
        <p:nvSpPr>
          <p:cNvPr id="225" name="文本框 224" descr="{&quot;isTemplate&quot;:true,&quot;type&quot;:&quot;text&quot;}"/>
          <p:cNvSpPr txBox="1"/>
          <p:nvPr/>
        </p:nvSpPr>
        <p:spPr>
          <a:xfrm>
            <a:off x="533400" y="2924175"/>
            <a:ext cx="16002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en-US" sz="975" b="1" spc="105">
                <a:solidFill>
                  <a:srgbClr val="558863"/>
                </a:solidFill>
                <a:latin typeface="Segoe UI"/>
                <a:ea typeface="Segoe UI"/>
              </a:rPr>
              <a:t>MEMORY CLOCK</a:t>
            </a:r>
            <a:endParaRPr/>
          </a:p>
        </p:txBody>
      </p:sp>
      <p:sp>
        <p:nvSpPr>
          <p:cNvPr id="226" name="文本框 225" descr="{&quot;isTemplate&quot;:true,&quot;type&quot;:&quot;text&quot;}"/>
          <p:cNvSpPr txBox="1"/>
          <p:nvPr/>
        </p:nvSpPr>
        <p:spPr>
          <a:xfrm>
            <a:off x="533400" y="3171825"/>
            <a:ext cx="16002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30271D"/>
                </a:solidFill>
                <a:latin typeface="Segoe UI"/>
                <a:ea typeface="Segoe UI"/>
              </a:rPr>
              <a:t>Runs on a human one</a:t>
            </a:r>
            <a:endParaRPr/>
          </a:p>
        </p:txBody>
      </p:sp>
      <p:pic>
        <p:nvPicPr>
          <p:cNvPr id="227" name="图形 22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05050" y="2619375"/>
            <a:ext cx="9353550" cy="1104900"/>
          </a:xfrm>
          <a:prstGeom prst="rect">
            <a:avLst/>
          </a:prstGeom>
          <a:ln/>
        </p:spPr>
      </p:pic>
      <p:sp>
        <p:nvSpPr>
          <p:cNvPr id="228" name="矩形: 圆角 227"/>
          <p:cNvSpPr/>
          <p:nvPr/>
        </p:nvSpPr>
        <p:spPr>
          <a:xfrm>
            <a:off x="533400" y="4010025"/>
            <a:ext cx="95250" cy="438150"/>
          </a:xfrm>
          <a:prstGeom prst="roundRect">
            <a:avLst>
              <a:gd name="adj" fmla="val 50000"/>
            </a:avLst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9" name="文本框 228" descr="{&quot;isTemplate&quot;:true,&quot;type&quot;:&quot;text&quot;}"/>
          <p:cNvSpPr txBox="1"/>
          <p:nvPr/>
        </p:nvSpPr>
        <p:spPr>
          <a:xfrm>
            <a:off x="762000" y="3971925"/>
            <a:ext cx="66675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2D5C3B"/>
                </a:solidFill>
                <a:latin typeface="Georgia"/>
                <a:ea typeface="Georgia"/>
              </a:rPr>
              <a:t>Capture</a:t>
            </a:r>
            <a:endParaRPr/>
          </a:p>
        </p:txBody>
      </p:sp>
      <p:sp>
        <p:nvSpPr>
          <p:cNvPr id="230" name="文本框 229" descr="{&quot;isTemplate&quot;:true,&quot;type&quot;:&quot;text&quot;}"/>
          <p:cNvSpPr txBox="1"/>
          <p:nvPr/>
        </p:nvSpPr>
        <p:spPr>
          <a:xfrm>
            <a:off x="762000" y="4219575"/>
            <a:ext cx="666750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en-US" sz="1200">
                <a:solidFill>
                  <a:srgbClr val="30271D"/>
                </a:solidFill>
                <a:latin typeface="Segoe UI"/>
                <a:ea typeface="Segoe UI"/>
              </a:rPr>
              <a:t>One large button; consent opens as a required form before anything records.</a:t>
            </a:r>
            <a:endParaRPr/>
          </a:p>
        </p:txBody>
      </p:sp>
      <p:sp>
        <p:nvSpPr>
          <p:cNvPr id="231" name="矩形: 圆角 230"/>
          <p:cNvSpPr/>
          <p:nvPr/>
        </p:nvSpPr>
        <p:spPr>
          <a:xfrm>
            <a:off x="533400" y="4638675"/>
            <a:ext cx="95250" cy="438150"/>
          </a:xfrm>
          <a:prstGeom prst="roundRect">
            <a:avLst>
              <a:gd name="adj" fmla="val 50000"/>
            </a:avLst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2" name="文本框 231" descr="{&quot;isTemplate&quot;:true,&quot;type&quot;:&quot;text&quot;}"/>
          <p:cNvSpPr txBox="1"/>
          <p:nvPr/>
        </p:nvSpPr>
        <p:spPr>
          <a:xfrm>
            <a:off x="762000" y="4600575"/>
            <a:ext cx="66675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2D5C3B"/>
                </a:solidFill>
                <a:latin typeface="Georgia"/>
                <a:ea typeface="Georgia"/>
              </a:rPr>
              <a:t>Understand</a:t>
            </a:r>
            <a:endParaRPr/>
          </a:p>
        </p:txBody>
      </p:sp>
      <p:sp>
        <p:nvSpPr>
          <p:cNvPr id="233" name="文本框 232" descr="{&quot;isTemplate&quot;:true,&quot;type&quot;:&quot;text&quot;}"/>
          <p:cNvSpPr txBox="1"/>
          <p:nvPr/>
        </p:nvSpPr>
        <p:spPr>
          <a:xfrm>
            <a:off x="762000" y="4848225"/>
            <a:ext cx="666750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en-US" sz="1200">
                <a:solidFill>
                  <a:srgbClr val="30271D"/>
                </a:solidFill>
                <a:latin typeface="Segoe UI"/>
                <a:ea typeface="Segoe UI"/>
              </a:rPr>
              <a:t>Sentence confidence and a word-by-word timestamp — no silent corrections.</a:t>
            </a:r>
            <a:endParaRPr/>
          </a:p>
        </p:txBody>
      </p:sp>
      <p:sp>
        <p:nvSpPr>
          <p:cNvPr id="234" name="矩形: 圆角 233"/>
          <p:cNvSpPr/>
          <p:nvPr/>
        </p:nvSpPr>
        <p:spPr>
          <a:xfrm>
            <a:off x="533400" y="5267325"/>
            <a:ext cx="95250" cy="438150"/>
          </a:xfrm>
          <a:prstGeom prst="roundRect">
            <a:avLst>
              <a:gd name="adj" fmla="val 50000"/>
            </a:avLst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5" name="文本框 234" descr="{&quot;isTemplate&quot;:true,&quot;type&quot;:&quot;text&quot;}"/>
          <p:cNvSpPr txBox="1"/>
          <p:nvPr/>
        </p:nvSpPr>
        <p:spPr>
          <a:xfrm>
            <a:off x="762000" y="5229225"/>
            <a:ext cx="66675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2D5C3B"/>
                </a:solidFill>
                <a:latin typeface="Georgia"/>
                <a:ea typeface="Georgia"/>
              </a:rPr>
              <a:t>Share</a:t>
            </a:r>
            <a:endParaRPr/>
          </a:p>
        </p:txBody>
      </p:sp>
      <p:sp>
        <p:nvSpPr>
          <p:cNvPr id="236" name="文本框 235" descr="{&quot;isTemplate&quot;:true,&quot;type&quot;:&quot;text&quot;}"/>
          <p:cNvSpPr txBox="1"/>
          <p:nvPr/>
        </p:nvSpPr>
        <p:spPr>
          <a:xfrm>
            <a:off x="762000" y="5476875"/>
            <a:ext cx="666750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en-US" sz="1200">
                <a:solidFill>
                  <a:srgbClr val="30271D"/>
                </a:solidFill>
                <a:latin typeface="Segoe UI"/>
                <a:ea typeface="Segoe UI"/>
              </a:rPr>
              <a:t>Grounded answers — each bound to a timestamp that plays the original audio.</a:t>
            </a:r>
            <a:endParaRPr/>
          </a:p>
        </p:txBody>
      </p:sp>
      <p:pic>
        <p:nvPicPr>
          <p:cNvPr id="237" name="图片 2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7150" y="3971925"/>
            <a:ext cx="3981450" cy="2038350"/>
          </a:xfrm>
          <a:prstGeom prst="roundRect">
            <a:avLst>
              <a:gd name="adj" fmla="val 8411"/>
            </a:avLst>
          </a:prstGeom>
          <a:ln/>
        </p:spPr>
      </p:pic>
      <p:sp>
        <p:nvSpPr>
          <p:cNvPr id="238" name="文本框 237" descr="{&quot;isTemplate&quot;:true,&quot;type&quot;:&quot;text&quot;}"/>
          <p:cNvSpPr txBox="1"/>
          <p:nvPr/>
        </p:nvSpPr>
        <p:spPr>
          <a:xfrm>
            <a:off x="7677150" y="6096000"/>
            <a:ext cx="39814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en-US" sz="900">
                <a:solidFill>
                  <a:srgbClr val="2D5C3B"/>
                </a:solidFill>
                <a:latin typeface="Segoe UI"/>
                <a:ea typeface="Segoe UI"/>
              </a:rPr>
              <a:t>Fish ponds and reed beds, Yuen Long, in the Northern Metropolis.</a:t>
            </a:r>
            <a:endParaRPr/>
          </a:p>
        </p:txBody>
      </p:sp>
      <p:sp>
        <p:nvSpPr>
          <p:cNvPr id="239" name="文本框 238" descr="{&quot;isTemplate&quot;:true,&quot;type&quot;:&quot;text&quot;}"/>
          <p:cNvSpPr txBox="1"/>
          <p:nvPr/>
        </p:nvSpPr>
        <p:spPr>
          <a:xfrm>
            <a:off x="7677150" y="6334125"/>
            <a:ext cx="3981450" cy="1809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825">
                <a:solidFill>
                  <a:srgbClr val="558863">
                    <a:alpha val="80000"/>
                  </a:srgbClr>
                </a:solidFill>
                <a:latin typeface="Segoe UI"/>
                <a:ea typeface="Segoe UI"/>
              </a:rPr>
              <a:t>Photo: FHKE · CC BY-SA 2.0 · Wikimedia Commons</a:t>
            </a:r>
            <a:endParaRPr/>
          </a:p>
        </p:txBody>
      </p:sp>
      <p:sp>
        <p:nvSpPr>
          <p:cNvPr id="240" name="文本框 239" descr="{&quot;isTemplate&quot;:true,&quot;type&quot;:&quot;text&quot;}"/>
          <p:cNvSpPr txBox="1"/>
          <p:nvPr/>
        </p:nvSpPr>
        <p:spPr>
          <a:xfrm>
            <a:off x="533400" y="6448425"/>
            <a:ext cx="60388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2D5C3B">
                    <a:alpha val="75000"/>
                  </a:srgbClr>
                </a:solidFill>
                <a:latin typeface="Segoe UI"/>
                <a:ea typeface="Segoe UI"/>
              </a:rPr>
              <a:t>Voices of the North · HumanLoop — role-played stories · no real geography · demo-scope metrics only</a:t>
            </a:r>
            <a:endParaRPr/>
          </a:p>
        </p:txBody>
      </p:sp>
      <p:sp>
        <p:nvSpPr>
          <p:cNvPr id="241" name="文本框 240" descr="{&quot;isTemplate&quot;:true,&quot;type&quot;:&quot;text&quot;}"/>
          <p:cNvSpPr txBox="1"/>
          <p:nvPr/>
        </p:nvSpPr>
        <p:spPr>
          <a:xfrm>
            <a:off x="11239500" y="6448425"/>
            <a:ext cx="4191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2D5C3B">
                    <a:alpha val="75000"/>
                  </a:srgbClr>
                </a:solidFill>
                <a:latin typeface="Segoe UI"/>
                <a:ea typeface="Segoe UI"/>
              </a:rPr>
              <a:t>02 / 14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矩形 24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4" name="文本框 243" descr="{&quot;isTemplate&quot;:true,&quot;type&quot;:&quot;text&quot;}"/>
          <p:cNvSpPr txBox="1"/>
          <p:nvPr/>
        </p:nvSpPr>
        <p:spPr>
          <a:xfrm>
            <a:off x="533400" y="381000"/>
            <a:ext cx="11125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 spc="180">
                <a:solidFill>
                  <a:srgbClr val="558863"/>
                </a:solidFill>
                <a:latin typeface="Segoe UI"/>
                <a:ea typeface="Segoe UI"/>
              </a:rPr>
              <a:t>PRODUCT · CORE FUNCTION CHAIN</a:t>
            </a:r>
            <a:endParaRPr/>
          </a:p>
        </p:txBody>
      </p:sp>
      <p:sp>
        <p:nvSpPr>
          <p:cNvPr id="245" name="文本框 244" descr="{&quot;isTemplate&quot;:true,&quot;type&quot;:&quot;text&quot;}"/>
          <p:cNvSpPr txBox="1"/>
          <p:nvPr/>
        </p:nvSpPr>
        <p:spPr>
          <a:xfrm>
            <a:off x="533400" y="619125"/>
            <a:ext cx="111252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sz="2550" b="1">
                <a:solidFill>
                  <a:srgbClr val="2D5C3B"/>
                </a:solidFill>
                <a:latin typeface="Georgia"/>
                <a:ea typeface="Georgia"/>
              </a:rPr>
              <a:t>One story, five steps, three layers</a:t>
            </a:r>
            <a:endParaRPr/>
          </a:p>
        </p:txBody>
      </p:sp>
      <p:sp>
        <p:nvSpPr>
          <p:cNvPr id="246" name="矩形 245"/>
          <p:cNvSpPr/>
          <p:nvPr/>
        </p:nvSpPr>
        <p:spPr>
          <a:xfrm>
            <a:off x="533400" y="1200150"/>
            <a:ext cx="2095500" cy="28575"/>
          </a:xfrm>
          <a:prstGeom prst="rect">
            <a:avLst/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7" name="图片 246"/>
          <p:cNvPicPr>
            <a:picLocks noChangeAspect="1"/>
          </p:cNvPicPr>
          <p:nvPr/>
        </p:nvPicPr>
        <p:blipFill>
          <a:blip r:embed="rId2"/>
          <a:srcRect l="33" r="33"/>
          <a:stretch>
            <a:fillRect/>
          </a:stretch>
        </p:blipFill>
        <p:spPr>
          <a:xfrm>
            <a:off x="533400" y="1362075"/>
            <a:ext cx="11125200" cy="2200275"/>
          </a:xfrm>
          <a:prstGeom prst="roundRect">
            <a:avLst>
              <a:gd name="adj" fmla="val 6061"/>
            </a:avLst>
          </a:prstGeom>
          <a:ln/>
        </p:spPr>
      </p:pic>
      <p:sp>
        <p:nvSpPr>
          <p:cNvPr id="248" name="矩形: 圆角 247"/>
          <p:cNvSpPr/>
          <p:nvPr/>
        </p:nvSpPr>
        <p:spPr>
          <a:xfrm>
            <a:off x="533400" y="3676650"/>
            <a:ext cx="11125200" cy="495300"/>
          </a:xfrm>
          <a:prstGeom prst="roundRect">
            <a:avLst>
              <a:gd name="adj" fmla="val 23077"/>
            </a:avLst>
          </a:prstGeom>
          <a:solidFill>
            <a:srgbClr val="FEFC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9" name="文本框 248" descr="{&quot;isTemplate&quot;:true,&quot;type&quot;:&quot;text&quot;}"/>
          <p:cNvSpPr txBox="1"/>
          <p:nvPr/>
        </p:nvSpPr>
        <p:spPr>
          <a:xfrm>
            <a:off x="685800" y="3800475"/>
            <a:ext cx="1905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558863"/>
                </a:solidFill>
                <a:latin typeface="Georgia"/>
                <a:ea typeface="Georgia"/>
              </a:rPr>
              <a:t>01</a:t>
            </a:r>
            <a:endParaRPr/>
          </a:p>
        </p:txBody>
      </p:sp>
      <p:sp>
        <p:nvSpPr>
          <p:cNvPr id="250" name="文本框 249" descr="{&quot;isTemplate&quot;:true,&quot;type&quot;:&quot;text&quot;}"/>
          <p:cNvSpPr txBox="1"/>
          <p:nvPr/>
        </p:nvSpPr>
        <p:spPr>
          <a:xfrm>
            <a:off x="971550" y="3705225"/>
            <a:ext cx="838200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2D5C3B"/>
                </a:solidFill>
                <a:latin typeface="Georgia"/>
                <a:ea typeface="Georgia"/>
              </a:rPr>
              <a:t>Record / Upload</a:t>
            </a:r>
            <a:endParaRPr/>
          </a:p>
        </p:txBody>
      </p:sp>
      <p:sp>
        <p:nvSpPr>
          <p:cNvPr id="251" name="文本框 250" descr="{&quot;isTemplate&quot;:true,&quot;type&quot;:&quot;text&quot;}"/>
          <p:cNvSpPr txBox="1"/>
          <p:nvPr/>
        </p:nvSpPr>
        <p:spPr>
          <a:xfrm>
            <a:off x="1943100" y="3705225"/>
            <a:ext cx="2343150" cy="438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en-US" sz="1050">
                <a:solidFill>
                  <a:srgbClr val="30271D"/>
                </a:solidFill>
                <a:latin typeface="Segoe UI"/>
                <a:ea typeface="Segoe UI"/>
              </a:rPr>
              <a:t>Presses one button and speaks, or uploads a file that already exists</a:t>
            </a:r>
            <a:endParaRPr/>
          </a:p>
        </p:txBody>
      </p:sp>
      <p:sp>
        <p:nvSpPr>
          <p:cNvPr id="252" name="文本框 251" descr="{&quot;isTemplate&quot;:true,&quot;type&quot;:&quot;text&quot;}"/>
          <p:cNvSpPr txBox="1"/>
          <p:nvPr/>
        </p:nvSpPr>
        <p:spPr>
          <a:xfrm>
            <a:off x="4419600" y="3705225"/>
            <a:ext cx="3009900" cy="438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en-US" sz="1050">
                <a:solidFill>
                  <a:srgbClr val="30271D"/>
                </a:solidFill>
                <a:latin typeface="Segoe UI"/>
                <a:ea typeface="Segoe UI"/>
              </a:rPr>
              <a:t>Keeps the silences, uploads on stop, runs speech-to-text</a:t>
            </a:r>
            <a:endParaRPr/>
          </a:p>
        </p:txBody>
      </p:sp>
      <p:sp>
        <p:nvSpPr>
          <p:cNvPr id="253" name="文本框 252" descr="{&quot;isTemplate&quot;:true,&quot;type&quot;:&quot;text&quot;}"/>
          <p:cNvSpPr txBox="1"/>
          <p:nvPr/>
        </p:nvSpPr>
        <p:spPr>
          <a:xfrm>
            <a:off x="7562850" y="3705225"/>
            <a:ext cx="3943350" cy="438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en-US" sz="1050">
                <a:solidFill>
                  <a:srgbClr val="2D5C3B"/>
                </a:solidFill>
                <a:latin typeface="Segoe UI"/>
                <a:ea typeface="Segoe UI"/>
              </a:rPr>
              <a:t>The storyteller picks the language; consent is a required form before the mic opens</a:t>
            </a:r>
            <a:endParaRPr/>
          </a:p>
        </p:txBody>
      </p:sp>
      <p:sp>
        <p:nvSpPr>
          <p:cNvPr id="254" name="矩形: 圆角 253"/>
          <p:cNvSpPr/>
          <p:nvPr/>
        </p:nvSpPr>
        <p:spPr>
          <a:xfrm>
            <a:off x="533400" y="4229100"/>
            <a:ext cx="11125200" cy="495300"/>
          </a:xfrm>
          <a:prstGeom prst="roundRect">
            <a:avLst>
              <a:gd name="adj" fmla="val 23077"/>
            </a:avLst>
          </a:prstGeom>
          <a:solidFill>
            <a:srgbClr val="FEFC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5" name="文本框 254" descr="{&quot;isTemplate&quot;:true,&quot;type&quot;:&quot;text&quot;}"/>
          <p:cNvSpPr txBox="1"/>
          <p:nvPr/>
        </p:nvSpPr>
        <p:spPr>
          <a:xfrm>
            <a:off x="685800" y="4352925"/>
            <a:ext cx="2095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558863"/>
                </a:solidFill>
                <a:latin typeface="Georgia"/>
                <a:ea typeface="Georgia"/>
              </a:rPr>
              <a:t>02</a:t>
            </a:r>
            <a:endParaRPr/>
          </a:p>
        </p:txBody>
      </p:sp>
      <p:sp>
        <p:nvSpPr>
          <p:cNvPr id="256" name="文本框 255" descr="{&quot;isTemplate&quot;:true,&quot;type&quot;:&quot;text&quot;}"/>
          <p:cNvSpPr txBox="1"/>
          <p:nvPr/>
        </p:nvSpPr>
        <p:spPr>
          <a:xfrm>
            <a:off x="990600" y="4257675"/>
            <a:ext cx="819150" cy="447675"/>
          </a:xfrm>
          <a:prstGeom prst="rect">
            <a:avLst/>
          </a:prstGeom>
        </p:spPr>
        <p:txBody>
          <a:bodyPr wrap="square" lIns="0" tIns="0" rIns="0" bIns="0">
            <a:normAutofit fontScale="92500"/>
          </a:bodyPr>
          <a:lstStyle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2D5C3B"/>
                </a:solidFill>
                <a:latin typeface="Georgia"/>
                <a:ea typeface="Georgia"/>
              </a:rPr>
              <a:t>Review Transcript</a:t>
            </a:r>
            <a:endParaRPr/>
          </a:p>
        </p:txBody>
      </p:sp>
      <p:sp>
        <p:nvSpPr>
          <p:cNvPr id="257" name="文本框 256" descr="{&quot;isTemplate&quot;:true,&quot;type&quot;:&quot;text&quot;}"/>
          <p:cNvSpPr txBox="1"/>
          <p:nvPr/>
        </p:nvSpPr>
        <p:spPr>
          <a:xfrm>
            <a:off x="1943100" y="4257675"/>
            <a:ext cx="2343150" cy="438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en-US" sz="1050">
                <a:solidFill>
                  <a:srgbClr val="30271D"/>
                </a:solidFill>
                <a:latin typeface="Segoe UI"/>
                <a:ea typeface="Segoe UI"/>
              </a:rPr>
              <a:t>Reads at 23px, taps a marked passage, types or speaks a correction</a:t>
            </a:r>
            <a:endParaRPr/>
          </a:p>
        </p:txBody>
      </p:sp>
      <p:sp>
        <p:nvSpPr>
          <p:cNvPr id="258" name="文本框 257" descr="{&quot;isTemplate&quot;:true,&quot;type&quot;:&quot;text&quot;}"/>
          <p:cNvSpPr txBox="1"/>
          <p:nvPr/>
        </p:nvSpPr>
        <p:spPr>
          <a:xfrm>
            <a:off x="4419600" y="4257675"/>
            <a:ext cx="3009900" cy="438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en-US" sz="1050">
                <a:solidFill>
                  <a:srgbClr val="30271D"/>
                </a:solidFill>
                <a:latin typeface="Segoe UI"/>
                <a:ea typeface="Segoe UI"/>
              </a:rPr>
              <a:t>Shows the sentence confidence and lets any word be tapped to hear it</a:t>
            </a:r>
            <a:endParaRPr/>
          </a:p>
        </p:txBody>
      </p:sp>
      <p:sp>
        <p:nvSpPr>
          <p:cNvPr id="259" name="文本框 258" descr="{&quot;isTemplate&quot;:true,&quot;type&quot;:&quot;text&quot;}"/>
          <p:cNvSpPr txBox="1"/>
          <p:nvPr/>
        </p:nvSpPr>
        <p:spPr>
          <a:xfrm>
            <a:off x="7562850" y="4257675"/>
            <a:ext cx="3943350" cy="438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en-US" sz="1050">
                <a:solidFill>
                  <a:srgbClr val="2D5C3B"/>
                </a:solidFill>
                <a:latin typeface="Segoe UI"/>
                <a:ea typeface="Segoe UI"/>
              </a:rPr>
              <a:t>The storyteller confirms or corrects — nothing is ever silently corrected</a:t>
            </a:r>
            <a:endParaRPr/>
          </a:p>
        </p:txBody>
      </p:sp>
      <p:sp>
        <p:nvSpPr>
          <p:cNvPr id="260" name="矩形: 圆角 259"/>
          <p:cNvSpPr/>
          <p:nvPr/>
        </p:nvSpPr>
        <p:spPr>
          <a:xfrm>
            <a:off x="533400" y="4781550"/>
            <a:ext cx="11125200" cy="495300"/>
          </a:xfrm>
          <a:prstGeom prst="roundRect">
            <a:avLst>
              <a:gd name="adj" fmla="val 23077"/>
            </a:avLst>
          </a:prstGeom>
          <a:solidFill>
            <a:srgbClr val="FEFC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1" name="文本框 260" descr="{&quot;isTemplate&quot;:true,&quot;type&quot;:&quot;text&quot;}"/>
          <p:cNvSpPr txBox="1"/>
          <p:nvPr/>
        </p:nvSpPr>
        <p:spPr>
          <a:xfrm>
            <a:off x="685800" y="4905375"/>
            <a:ext cx="2095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558863"/>
                </a:solidFill>
                <a:latin typeface="Georgia"/>
                <a:ea typeface="Georgia"/>
              </a:rPr>
              <a:t>03</a:t>
            </a:r>
            <a:endParaRPr/>
          </a:p>
        </p:txBody>
      </p:sp>
      <p:sp>
        <p:nvSpPr>
          <p:cNvPr id="262" name="文本框 261" descr="{&quot;isTemplate&quot;:true,&quot;type&quot;:&quot;text&quot;}"/>
          <p:cNvSpPr txBox="1"/>
          <p:nvPr/>
        </p:nvSpPr>
        <p:spPr>
          <a:xfrm>
            <a:off x="990600" y="4810125"/>
            <a:ext cx="819150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2D5C3B"/>
                </a:solidFill>
                <a:latin typeface="Georgia"/>
                <a:ea typeface="Georgia"/>
              </a:rPr>
              <a:t>Choose Privacy</a:t>
            </a:r>
            <a:endParaRPr/>
          </a:p>
        </p:txBody>
      </p:sp>
      <p:sp>
        <p:nvSpPr>
          <p:cNvPr id="263" name="文本框 262" descr="{&quot;isTemplate&quot;:true,&quot;type&quot;:&quot;text&quot;}"/>
          <p:cNvSpPr txBox="1"/>
          <p:nvPr/>
        </p:nvSpPr>
        <p:spPr>
          <a:xfrm>
            <a:off x="1943100" y="4810125"/>
            <a:ext cx="2343150" cy="438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en-US" sz="1050">
                <a:solidFill>
                  <a:srgbClr val="30271D"/>
                </a:solidFill>
                <a:latin typeface="Segoe UI"/>
                <a:ea typeface="Segoe UI"/>
              </a:rPr>
              <a:t>Picks one of four audience levels; Private is the default</a:t>
            </a:r>
            <a:endParaRPr/>
          </a:p>
        </p:txBody>
      </p:sp>
      <p:sp>
        <p:nvSpPr>
          <p:cNvPr id="264" name="文本框 263" descr="{&quot;isTemplate&quot;:true,&quot;type&quot;:&quot;text&quot;}"/>
          <p:cNvSpPr txBox="1"/>
          <p:nvPr/>
        </p:nvSpPr>
        <p:spPr>
          <a:xfrm>
            <a:off x="4419600" y="4810125"/>
            <a:ext cx="3009900" cy="438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en-US" sz="1050">
                <a:solidFill>
                  <a:srgbClr val="30271D"/>
                </a:solidFill>
                <a:latin typeface="Segoe UI"/>
                <a:ea typeface="Segoe UI"/>
              </a:rPr>
              <a:t>Writes the level onto the story record and keeps the original audio</a:t>
            </a:r>
            <a:endParaRPr/>
          </a:p>
        </p:txBody>
      </p:sp>
      <p:sp>
        <p:nvSpPr>
          <p:cNvPr id="265" name="文本框 264" descr="{&quot;isTemplate&quot;:true,&quot;type&quot;:&quot;text&quot;}"/>
          <p:cNvSpPr txBox="1"/>
          <p:nvPr/>
        </p:nvSpPr>
        <p:spPr>
          <a:xfrm>
            <a:off x="7562850" y="4810125"/>
            <a:ext cx="3943350" cy="438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en-US" sz="1050">
                <a:solidFill>
                  <a:srgbClr val="2D5C3B"/>
                </a:solidFill>
                <a:latin typeface="Segoe UI"/>
                <a:ea typeface="Segoe UI"/>
              </a:rPr>
              <a:t>The storyteller owns the level — not the model, not the volunteer</a:t>
            </a:r>
            <a:endParaRPr/>
          </a:p>
        </p:txBody>
      </p:sp>
      <p:sp>
        <p:nvSpPr>
          <p:cNvPr id="266" name="矩形: 圆角 265"/>
          <p:cNvSpPr/>
          <p:nvPr/>
        </p:nvSpPr>
        <p:spPr>
          <a:xfrm>
            <a:off x="533400" y="5334000"/>
            <a:ext cx="11125200" cy="495300"/>
          </a:xfrm>
          <a:prstGeom prst="roundRect">
            <a:avLst>
              <a:gd name="adj" fmla="val 23077"/>
            </a:avLst>
          </a:prstGeom>
          <a:solidFill>
            <a:srgbClr val="FEFC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7" name="文本框 266" descr="{&quot;isTemplate&quot;:true,&quot;type&quot;:&quot;text&quot;}"/>
          <p:cNvSpPr txBox="1"/>
          <p:nvPr/>
        </p:nvSpPr>
        <p:spPr>
          <a:xfrm>
            <a:off x="685800" y="5457825"/>
            <a:ext cx="2571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558863"/>
                </a:solidFill>
                <a:latin typeface="Georgia"/>
                <a:ea typeface="Georgia"/>
              </a:rPr>
              <a:t>04</a:t>
            </a:r>
            <a:endParaRPr/>
          </a:p>
        </p:txBody>
      </p:sp>
      <p:sp>
        <p:nvSpPr>
          <p:cNvPr id="268" name="文本框 267" descr="{&quot;isTemplate&quot;:true,&quot;type&quot;:&quot;text&quot;}"/>
          <p:cNvSpPr txBox="1"/>
          <p:nvPr/>
        </p:nvSpPr>
        <p:spPr>
          <a:xfrm>
            <a:off x="1038225" y="5476875"/>
            <a:ext cx="7715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2D5C3B"/>
                </a:solidFill>
                <a:latin typeface="Georgia"/>
                <a:ea typeface="Georgia"/>
              </a:rPr>
              <a:t>View Story</a:t>
            </a:r>
            <a:endParaRPr/>
          </a:p>
        </p:txBody>
      </p:sp>
      <p:sp>
        <p:nvSpPr>
          <p:cNvPr id="269" name="文本框 268" descr="{&quot;isTemplate&quot;:true,&quot;type&quot;:&quot;text&quot;}"/>
          <p:cNvSpPr txBox="1"/>
          <p:nvPr/>
        </p:nvSpPr>
        <p:spPr>
          <a:xfrm>
            <a:off x="1943100" y="5362575"/>
            <a:ext cx="2343150" cy="438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en-US" sz="1050">
                <a:solidFill>
                  <a:srgbClr val="30271D"/>
                </a:solidFill>
                <a:latin typeface="Segoe UI"/>
                <a:ea typeface="Segoe UI"/>
              </a:rPr>
              <a:t>Reads the cover, the transcript and the place</a:t>
            </a:r>
            <a:endParaRPr/>
          </a:p>
        </p:txBody>
      </p:sp>
      <p:sp>
        <p:nvSpPr>
          <p:cNvPr id="270" name="文本框 269" descr="{&quot;isTemplate&quot;:true,&quot;type&quot;:&quot;text&quot;}"/>
          <p:cNvSpPr txBox="1"/>
          <p:nvPr/>
        </p:nvSpPr>
        <p:spPr>
          <a:xfrm>
            <a:off x="4419600" y="5362575"/>
            <a:ext cx="3009900" cy="438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en-US" sz="1050">
                <a:solidFill>
                  <a:srgbClr val="30271D"/>
                </a:solidFill>
                <a:latin typeface="Segoe UI"/>
                <a:ea typeface="Segoe UI"/>
              </a:rPr>
              <a:t>Extracts theme and place, then shows village-level fuzzy precision only</a:t>
            </a:r>
            <a:endParaRPr/>
          </a:p>
        </p:txBody>
      </p:sp>
      <p:sp>
        <p:nvSpPr>
          <p:cNvPr id="271" name="文本框 270" descr="{&quot;isTemplate&quot;:true,&quot;type&quot;:&quot;text&quot;}"/>
          <p:cNvSpPr txBox="1"/>
          <p:nvPr/>
        </p:nvSpPr>
        <p:spPr>
          <a:xfrm>
            <a:off x="7562850" y="5476875"/>
            <a:ext cx="39433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en-US" sz="1050">
                <a:solidFill>
                  <a:srgbClr val="2D5C3B"/>
                </a:solidFill>
                <a:latin typeface="Segoe UI"/>
                <a:ea typeface="Segoe UI"/>
              </a:rPr>
              <a:t>A volunteer confirms the suggested location before it is displayed</a:t>
            </a:r>
            <a:endParaRPr/>
          </a:p>
        </p:txBody>
      </p:sp>
      <p:sp>
        <p:nvSpPr>
          <p:cNvPr id="272" name="矩形: 圆角 271"/>
          <p:cNvSpPr/>
          <p:nvPr/>
        </p:nvSpPr>
        <p:spPr>
          <a:xfrm>
            <a:off x="533400" y="5886450"/>
            <a:ext cx="11125200" cy="495300"/>
          </a:xfrm>
          <a:prstGeom prst="roundRect">
            <a:avLst>
              <a:gd name="adj" fmla="val 23077"/>
            </a:avLst>
          </a:prstGeom>
          <a:solidFill>
            <a:srgbClr val="FEFC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3" name="文本框 272" descr="{&quot;isTemplate&quot;:true,&quot;type&quot;:&quot;text&quot;}"/>
          <p:cNvSpPr txBox="1"/>
          <p:nvPr/>
        </p:nvSpPr>
        <p:spPr>
          <a:xfrm>
            <a:off x="685800" y="6010275"/>
            <a:ext cx="20002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558863"/>
                </a:solidFill>
                <a:latin typeface="Georgia"/>
                <a:ea typeface="Georgia"/>
              </a:rPr>
              <a:t>05</a:t>
            </a:r>
            <a:endParaRPr/>
          </a:p>
        </p:txBody>
      </p:sp>
      <p:sp>
        <p:nvSpPr>
          <p:cNvPr id="274" name="文本框 273" descr="{&quot;isTemplate&quot;:true,&quot;type&quot;:&quot;text&quot;}"/>
          <p:cNvSpPr txBox="1"/>
          <p:nvPr/>
        </p:nvSpPr>
        <p:spPr>
          <a:xfrm>
            <a:off x="981075" y="5915025"/>
            <a:ext cx="828675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2D5C3B"/>
                </a:solidFill>
                <a:latin typeface="Georgia"/>
                <a:ea typeface="Georgia"/>
              </a:rPr>
              <a:t>Ask a Question</a:t>
            </a:r>
            <a:endParaRPr/>
          </a:p>
        </p:txBody>
      </p:sp>
      <p:sp>
        <p:nvSpPr>
          <p:cNvPr id="275" name="文本框 274" descr="{&quot;isTemplate&quot;:true,&quot;type&quot;:&quot;text&quot;}"/>
          <p:cNvSpPr txBox="1"/>
          <p:nvPr/>
        </p:nvSpPr>
        <p:spPr>
          <a:xfrm>
            <a:off x="1943100" y="5915025"/>
            <a:ext cx="2343150" cy="438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en-US" sz="1050">
                <a:solidFill>
                  <a:srgbClr val="30271D"/>
                </a:solidFill>
                <a:latin typeface="Segoe UI"/>
                <a:ea typeface="Segoe UI"/>
              </a:rPr>
              <a:t>Asks in plain language and listens to the answer</a:t>
            </a:r>
            <a:endParaRPr/>
          </a:p>
        </p:txBody>
      </p:sp>
      <p:sp>
        <p:nvSpPr>
          <p:cNvPr id="276" name="文本框 275" descr="{&quot;isTemplate&quot;:true,&quot;type&quot;:&quot;text&quot;}"/>
          <p:cNvSpPr txBox="1"/>
          <p:nvPr/>
        </p:nvSpPr>
        <p:spPr>
          <a:xfrm>
            <a:off x="4419600" y="5915025"/>
            <a:ext cx="3009900" cy="438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en-US" sz="1050">
                <a:solidFill>
                  <a:srgbClr val="30271D"/>
                </a:solidFill>
                <a:latin typeface="Segoe UI"/>
                <a:ea typeface="Segoe UI"/>
              </a:rPr>
              <a:t>Answers only from recordings, each bound to a timestamp</a:t>
            </a:r>
            <a:endParaRPr/>
          </a:p>
        </p:txBody>
      </p:sp>
      <p:sp>
        <p:nvSpPr>
          <p:cNvPr id="277" name="文本框 276" descr="{&quot;isTemplate&quot;:true,&quot;type&quot;:&quot;text&quot;}"/>
          <p:cNvSpPr txBox="1"/>
          <p:nvPr/>
        </p:nvSpPr>
        <p:spPr>
          <a:xfrm>
            <a:off x="7562850" y="6029325"/>
            <a:ext cx="39433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en-US" sz="1050">
                <a:solidFill>
                  <a:srgbClr val="2D5C3B"/>
                </a:solidFill>
                <a:latin typeface="Segoe UI"/>
                <a:ea typeface="Segoe UI"/>
              </a:rPr>
              <a:t>The asker can play the original audio behind every single answer</a:t>
            </a:r>
            <a:endParaRPr/>
          </a:p>
        </p:txBody>
      </p:sp>
      <p:sp>
        <p:nvSpPr>
          <p:cNvPr id="278" name="文本框 277" descr="{&quot;isTemplate&quot;:true,&quot;type&quot;:&quot;text&quot;}"/>
          <p:cNvSpPr txBox="1"/>
          <p:nvPr/>
        </p:nvSpPr>
        <p:spPr>
          <a:xfrm>
            <a:off x="533400" y="6448425"/>
            <a:ext cx="78771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2D5C3B">
                    <a:alpha val="75000"/>
                  </a:srgbClr>
                </a:solidFill>
                <a:latin typeface="Segoe UI"/>
                <a:ea typeface="Segoe UI"/>
              </a:rPr>
              <a:t>Capture · Understand · Share — the third column is where a person, not the model, decides · step 03 privacy is designed, not yet wired</a:t>
            </a:r>
            <a:endParaRPr/>
          </a:p>
        </p:txBody>
      </p:sp>
      <p:sp>
        <p:nvSpPr>
          <p:cNvPr id="279" name="文本框 278" descr="{&quot;isTemplate&quot;:true,&quot;type&quot;:&quot;text&quot;}"/>
          <p:cNvSpPr txBox="1"/>
          <p:nvPr/>
        </p:nvSpPr>
        <p:spPr>
          <a:xfrm>
            <a:off x="11239500" y="6448425"/>
            <a:ext cx="4191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2D5C3B">
                    <a:alpha val="75000"/>
                  </a:srgbClr>
                </a:solidFill>
                <a:latin typeface="Segoe UI"/>
                <a:ea typeface="Segoe UI"/>
              </a:rPr>
              <a:t>03 / 14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矩形 28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2" name="文本框 281" descr="{&quot;isTemplate&quot;:true,&quot;type&quot;:&quot;text&quot;}"/>
          <p:cNvSpPr txBox="1"/>
          <p:nvPr/>
        </p:nvSpPr>
        <p:spPr>
          <a:xfrm>
            <a:off x="533400" y="381000"/>
            <a:ext cx="11125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 spc="180">
                <a:solidFill>
                  <a:srgbClr val="558863"/>
                </a:solidFill>
                <a:latin typeface="Segoe UI"/>
                <a:ea typeface="Segoe UI"/>
              </a:rPr>
              <a:t>PRODUCT · STEP 01 AND STEP 02</a:t>
            </a:r>
            <a:endParaRPr/>
          </a:p>
        </p:txBody>
      </p:sp>
      <p:sp>
        <p:nvSpPr>
          <p:cNvPr id="283" name="文本框 282" descr="{&quot;isTemplate&quot;:true,&quot;type&quot;:&quot;text&quot;}"/>
          <p:cNvSpPr txBox="1"/>
          <p:nvPr/>
        </p:nvSpPr>
        <p:spPr>
          <a:xfrm>
            <a:off x="533400" y="619125"/>
            <a:ext cx="111252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sz="2550" b="1">
                <a:solidFill>
                  <a:srgbClr val="2D5C3B"/>
                </a:solidFill>
                <a:latin typeface="Georgia"/>
                <a:ea typeface="Georgia"/>
              </a:rPr>
              <a:t>Record in one press, then check every word against the audio</a:t>
            </a:r>
            <a:endParaRPr/>
          </a:p>
        </p:txBody>
      </p:sp>
      <p:sp>
        <p:nvSpPr>
          <p:cNvPr id="284" name="矩形 283"/>
          <p:cNvSpPr/>
          <p:nvPr/>
        </p:nvSpPr>
        <p:spPr>
          <a:xfrm>
            <a:off x="533400" y="1200150"/>
            <a:ext cx="2095500" cy="28575"/>
          </a:xfrm>
          <a:prstGeom prst="rect">
            <a:avLst/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5" name="矩形: 圆角 284"/>
          <p:cNvSpPr/>
          <p:nvPr/>
        </p:nvSpPr>
        <p:spPr>
          <a:xfrm>
            <a:off x="533400" y="1400175"/>
            <a:ext cx="2028825" cy="4000500"/>
          </a:xfrm>
          <a:prstGeom prst="roundRect">
            <a:avLst>
              <a:gd name="adj" fmla="val 8451"/>
            </a:avLst>
          </a:prstGeom>
          <a:solidFill>
            <a:srgbClr val="FEFCF6"/>
          </a:solidFill>
          <a:ln/>
          <a:effectLst>
            <a:outerShdw blurRad="209550" dist="57150" dir="540000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86" name="图片 285"/>
          <p:cNvPicPr>
            <a:picLocks noChangeAspect="1"/>
          </p:cNvPicPr>
          <p:nvPr/>
        </p:nvPicPr>
        <p:blipFill>
          <a:blip r:embed="rId2"/>
          <a:srcRect l="1435" r="1435"/>
          <a:stretch>
            <a:fillRect/>
          </a:stretch>
        </p:blipFill>
        <p:spPr>
          <a:xfrm>
            <a:off x="590550" y="1457325"/>
            <a:ext cx="1914525" cy="3886200"/>
          </a:xfrm>
          <a:prstGeom prst="roundRect">
            <a:avLst>
              <a:gd name="adj" fmla="val 6965"/>
            </a:avLst>
          </a:prstGeom>
          <a:ln/>
        </p:spPr>
      </p:pic>
      <p:sp>
        <p:nvSpPr>
          <p:cNvPr id="287" name="文本框 286" descr="{&quot;isTemplate&quot;:true,&quot;type&quot;:&quot;text&quot;}"/>
          <p:cNvSpPr txBox="1"/>
          <p:nvPr/>
        </p:nvSpPr>
        <p:spPr>
          <a:xfrm>
            <a:off x="533400" y="5495925"/>
            <a:ext cx="20288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1050">
                <a:solidFill>
                  <a:srgbClr val="558863"/>
                </a:solidFill>
                <a:latin typeface="Segoe UI"/>
                <a:ea typeface="Segoe UI"/>
              </a:rPr>
              <a:t>Screen 1 · Record / Upload</a:t>
            </a:r>
            <a:endParaRPr/>
          </a:p>
        </p:txBody>
      </p:sp>
      <p:sp>
        <p:nvSpPr>
          <p:cNvPr id="288" name="矩形: 圆角 287"/>
          <p:cNvSpPr/>
          <p:nvPr/>
        </p:nvSpPr>
        <p:spPr>
          <a:xfrm>
            <a:off x="2809875" y="1400175"/>
            <a:ext cx="2028825" cy="4000500"/>
          </a:xfrm>
          <a:prstGeom prst="roundRect">
            <a:avLst>
              <a:gd name="adj" fmla="val 8451"/>
            </a:avLst>
          </a:prstGeom>
          <a:solidFill>
            <a:srgbClr val="FEFCF6"/>
          </a:solidFill>
          <a:ln/>
          <a:effectLst>
            <a:outerShdw blurRad="209550" dist="57150" dir="540000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89" name="图片 288"/>
          <p:cNvPicPr>
            <a:picLocks noChangeAspect="1"/>
          </p:cNvPicPr>
          <p:nvPr/>
        </p:nvPicPr>
        <p:blipFill>
          <a:blip r:embed="rId3"/>
          <a:srcRect l="1435" r="1435"/>
          <a:stretch>
            <a:fillRect/>
          </a:stretch>
        </p:blipFill>
        <p:spPr>
          <a:xfrm>
            <a:off x="2867025" y="1457325"/>
            <a:ext cx="1914525" cy="3886200"/>
          </a:xfrm>
          <a:prstGeom prst="roundRect">
            <a:avLst>
              <a:gd name="adj" fmla="val 6965"/>
            </a:avLst>
          </a:prstGeom>
          <a:ln/>
        </p:spPr>
      </p:pic>
      <p:sp>
        <p:nvSpPr>
          <p:cNvPr id="290" name="文本框 289" descr="{&quot;isTemplate&quot;:true,&quot;type&quot;:&quot;text&quot;}"/>
          <p:cNvSpPr txBox="1"/>
          <p:nvPr/>
        </p:nvSpPr>
        <p:spPr>
          <a:xfrm>
            <a:off x="2809875" y="5495925"/>
            <a:ext cx="20288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1050">
                <a:solidFill>
                  <a:srgbClr val="558863"/>
                </a:solidFill>
                <a:latin typeface="Segoe UI"/>
                <a:ea typeface="Segoe UI"/>
              </a:rPr>
              <a:t>Screen 2 · Transcript Review</a:t>
            </a:r>
            <a:endParaRPr/>
          </a:p>
        </p:txBody>
      </p:sp>
      <p:sp>
        <p:nvSpPr>
          <p:cNvPr id="291" name="矩形: 圆角 290"/>
          <p:cNvSpPr/>
          <p:nvPr/>
        </p:nvSpPr>
        <p:spPr>
          <a:xfrm>
            <a:off x="5086350" y="1400175"/>
            <a:ext cx="6572250" cy="2247900"/>
          </a:xfrm>
          <a:prstGeom prst="roundRect">
            <a:avLst>
              <a:gd name="adj" fmla="val 7627"/>
            </a:avLst>
          </a:prstGeom>
          <a:solidFill>
            <a:srgbClr val="FEFCF6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2" name="文本框 291" descr="{&quot;isTemplate&quot;:true,&quot;type&quot;:&quot;text&quot;}"/>
          <p:cNvSpPr txBox="1"/>
          <p:nvPr/>
        </p:nvSpPr>
        <p:spPr>
          <a:xfrm>
            <a:off x="5276850" y="1619250"/>
            <a:ext cx="27622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558863"/>
                </a:solidFill>
                <a:latin typeface="Georgia"/>
                <a:ea typeface="Georgia"/>
              </a:rPr>
              <a:t>01</a:t>
            </a:r>
            <a:endParaRPr/>
          </a:p>
        </p:txBody>
      </p:sp>
      <p:sp>
        <p:nvSpPr>
          <p:cNvPr id="293" name="文本框 292" descr="{&quot;isTemplate&quot;:true,&quot;type&quot;:&quot;text&quot;}"/>
          <p:cNvSpPr txBox="1"/>
          <p:nvPr/>
        </p:nvSpPr>
        <p:spPr>
          <a:xfrm>
            <a:off x="5667375" y="1590675"/>
            <a:ext cx="184785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</a:pPr>
            <a:r>
              <a:rPr lang="en-US" sz="1725" b="1">
                <a:solidFill>
                  <a:srgbClr val="2D5C3B"/>
                </a:solidFill>
                <a:latin typeface="Georgia"/>
                <a:ea typeface="Georgia"/>
              </a:rPr>
              <a:t>Record / Upload</a:t>
            </a:r>
            <a:endParaRPr/>
          </a:p>
        </p:txBody>
      </p:sp>
      <p:sp>
        <p:nvSpPr>
          <p:cNvPr id="294" name="文本框 293" descr="{&quot;isTemplate&quot;:true,&quot;type&quot;:&quot;text&quot;}"/>
          <p:cNvSpPr txBox="1"/>
          <p:nvPr/>
        </p:nvSpPr>
        <p:spPr>
          <a:xfrm>
            <a:off x="5276850" y="2047875"/>
            <a:ext cx="619125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en-US" sz="1200" b="1">
                <a:solidFill>
                  <a:srgbClr val="30271D"/>
                </a:solidFill>
                <a:latin typeface="Segoe UI"/>
                <a:ea typeface="Segoe UI"/>
              </a:rPr>
              <a:t>Language is chosen by a person, never guessed:</a:t>
            </a:r>
            <a:r>
              <a:rPr lang="en-US" sz="1200">
                <a:solidFill>
                  <a:srgbClr val="30271D"/>
                </a:solidFill>
                <a:latin typeface="Segoe UI"/>
                <a:ea typeface="Segoe UI"/>
              </a:rPr>
              <a:t> Cantonese, Waitau, Hakka or Hoklo.</a:t>
            </a:r>
            <a:endParaRPr/>
          </a:p>
        </p:txBody>
      </p:sp>
      <p:sp>
        <p:nvSpPr>
          <p:cNvPr id="295" name="文本框 294" descr="{&quot;isTemplate&quot;:true,&quot;type&quot;:&quot;text&quot;}"/>
          <p:cNvSpPr txBox="1"/>
          <p:nvPr/>
        </p:nvSpPr>
        <p:spPr>
          <a:xfrm>
            <a:off x="5276850" y="2400300"/>
            <a:ext cx="6191250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200">
                <a:solidFill>
                  <a:srgbClr val="30271D"/>
                </a:solidFill>
                <a:latin typeface="Segoe UI"/>
                <a:ea typeface="Segoe UI"/>
              </a:rPr>
              <a:t>One large button, a running timer, topic prompts as gentle questions — capture has to feel like a conversation, not a form.</a:t>
            </a:r>
            <a:endParaRPr/>
          </a:p>
        </p:txBody>
      </p:sp>
      <p:sp>
        <p:nvSpPr>
          <p:cNvPr id="296" name="文本框 295" descr="{&quot;isTemplate&quot;:true,&quot;type&quot;:&quot;text&quot;}"/>
          <p:cNvSpPr txBox="1"/>
          <p:nvPr/>
        </p:nvSpPr>
        <p:spPr>
          <a:xfrm>
            <a:off x="5276850" y="3019425"/>
            <a:ext cx="6191250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200">
                <a:solidFill>
                  <a:srgbClr val="30271D"/>
                </a:solidFill>
                <a:latin typeface="Segoe UI"/>
                <a:ea typeface="Segoe UI"/>
              </a:rPr>
              <a:t>Consent is a gate, not a footnote: pressing 開始錄音 opens the 長者口述歷史知情同意書 form, and nothing records until it is confirmed.</a:t>
            </a:r>
            <a:endParaRPr/>
          </a:p>
        </p:txBody>
      </p:sp>
      <p:sp>
        <p:nvSpPr>
          <p:cNvPr id="297" name="矩形: 圆角 296"/>
          <p:cNvSpPr/>
          <p:nvPr/>
        </p:nvSpPr>
        <p:spPr>
          <a:xfrm>
            <a:off x="5086350" y="3819525"/>
            <a:ext cx="6572250" cy="2247900"/>
          </a:xfrm>
          <a:prstGeom prst="roundRect">
            <a:avLst>
              <a:gd name="adj" fmla="val 7627"/>
            </a:avLst>
          </a:prstGeom>
          <a:solidFill>
            <a:srgbClr val="FEFCF6"/>
          </a:solidFill>
          <a:ln w="25400">
            <a:solidFill>
              <a:srgbClr val="A7693C"/>
            </a:solidFill>
            <a:prstDash val="solid"/>
          </a:ln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8" name="文本框 297" descr="{&quot;isTemplate&quot;:true,&quot;type&quot;:&quot;text&quot;}"/>
          <p:cNvSpPr txBox="1"/>
          <p:nvPr/>
        </p:nvSpPr>
        <p:spPr>
          <a:xfrm>
            <a:off x="5276850" y="4038600"/>
            <a:ext cx="3048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A7693C"/>
                </a:solidFill>
                <a:latin typeface="Georgia"/>
                <a:ea typeface="Georgia"/>
              </a:rPr>
              <a:t>02</a:t>
            </a:r>
            <a:endParaRPr/>
          </a:p>
        </p:txBody>
      </p:sp>
      <p:sp>
        <p:nvSpPr>
          <p:cNvPr id="299" name="文本框 298" descr="{&quot;isTemplate&quot;:true,&quot;type&quot;:&quot;text&quot;}"/>
          <p:cNvSpPr txBox="1"/>
          <p:nvPr/>
        </p:nvSpPr>
        <p:spPr>
          <a:xfrm>
            <a:off x="5695950" y="4010025"/>
            <a:ext cx="207645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</a:pPr>
            <a:r>
              <a:rPr lang="en-US" sz="1725" b="1">
                <a:solidFill>
                  <a:srgbClr val="2D5C3B"/>
                </a:solidFill>
                <a:latin typeface="Georgia"/>
                <a:ea typeface="Georgia"/>
              </a:rPr>
              <a:t>Review Transcript</a:t>
            </a:r>
            <a:endParaRPr/>
          </a:p>
        </p:txBody>
      </p:sp>
      <p:sp>
        <p:nvSpPr>
          <p:cNvPr id="300" name="文本框 299" descr="{&quot;isTemplate&quot;:true,&quot;type&quot;:&quot;text&quot;}"/>
          <p:cNvSpPr txBox="1"/>
          <p:nvPr/>
        </p:nvSpPr>
        <p:spPr>
          <a:xfrm>
            <a:off x="5276850" y="4467225"/>
            <a:ext cx="6191250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200">
                <a:solidFill>
                  <a:srgbClr val="30271D"/>
                </a:solidFill>
                <a:latin typeface="Segoe UI"/>
                <a:ea typeface="Segoe UI"/>
              </a:rPr>
              <a:t>Speech-to-text returns one sentence-level confidence score for the whole recording — 0.94 on our demo — plus a timestamp on every word.</a:t>
            </a:r>
            <a:endParaRPr/>
          </a:p>
        </p:txBody>
      </p:sp>
      <p:sp>
        <p:nvSpPr>
          <p:cNvPr id="301" name="文本框 300" descr="{&quot;isTemplate&quot;:true,&quot;type&quot;:&quot;text&quot;}"/>
          <p:cNvSpPr txBox="1"/>
          <p:nvPr/>
        </p:nvSpPr>
        <p:spPr>
          <a:xfrm>
            <a:off x="5276850" y="5086350"/>
            <a:ext cx="6191250" cy="800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200">
                <a:solidFill>
                  <a:srgbClr val="A7693C"/>
                </a:solidFill>
                <a:latin typeface="Segoe UI"/>
                <a:ea typeface="Segoe UI"/>
              </a:rPr>
              <a:t>Every word is aligned to the audio, so any passage can be tapped and played back instantly. The storyteller confirms or corrects; the original audio is never altered.</a:t>
            </a:r>
            <a:endParaRPr/>
          </a:p>
        </p:txBody>
      </p:sp>
      <p:sp>
        <p:nvSpPr>
          <p:cNvPr id="302" name="文本框 301" descr="{&quot;isTemplate&quot;:true,&quot;type&quot;:&quot;text&quot;}"/>
          <p:cNvSpPr txBox="1"/>
          <p:nvPr/>
        </p:nvSpPr>
        <p:spPr>
          <a:xfrm>
            <a:off x="533400" y="6448425"/>
            <a:ext cx="45434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2D5C3B">
                    <a:alpha val="75000"/>
                  </a:srgbClr>
                </a:solidFill>
                <a:latin typeface="Segoe UI"/>
                <a:ea typeface="Segoe UI"/>
              </a:rPr>
              <a:t>Voices of the North · HumanLoop — 0.94 is one demo recording, not an accuracy claim</a:t>
            </a:r>
            <a:endParaRPr/>
          </a:p>
        </p:txBody>
      </p:sp>
      <p:sp>
        <p:nvSpPr>
          <p:cNvPr id="303" name="文本框 302" descr="{&quot;isTemplate&quot;:true,&quot;type&quot;:&quot;text&quot;}"/>
          <p:cNvSpPr txBox="1"/>
          <p:nvPr/>
        </p:nvSpPr>
        <p:spPr>
          <a:xfrm>
            <a:off x="11239500" y="6448425"/>
            <a:ext cx="4191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2D5C3B">
                    <a:alpha val="75000"/>
                  </a:srgbClr>
                </a:solidFill>
                <a:latin typeface="Segoe UI"/>
                <a:ea typeface="Segoe UI"/>
              </a:rPr>
              <a:t>04 / 14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矩形 30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6" name="文本框 305" descr="{&quot;isTemplate&quot;:true,&quot;type&quot;:&quot;text&quot;}"/>
          <p:cNvSpPr txBox="1"/>
          <p:nvPr/>
        </p:nvSpPr>
        <p:spPr>
          <a:xfrm>
            <a:off x="533400" y="381000"/>
            <a:ext cx="11125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 spc="180">
                <a:solidFill>
                  <a:srgbClr val="558863"/>
                </a:solidFill>
                <a:latin typeface="Segoe UI"/>
                <a:ea typeface="Segoe UI"/>
              </a:rPr>
              <a:t>PRODUCT · STEP 03 AND STEP 04</a:t>
            </a:r>
            <a:endParaRPr/>
          </a:p>
        </p:txBody>
      </p:sp>
      <p:sp>
        <p:nvSpPr>
          <p:cNvPr id="307" name="文本框 306" descr="{&quot;isTemplate&quot;:true,&quot;type&quot;:&quot;text&quot;}"/>
          <p:cNvSpPr txBox="1"/>
          <p:nvPr/>
        </p:nvSpPr>
        <p:spPr>
          <a:xfrm>
            <a:off x="533400" y="619125"/>
            <a:ext cx="111252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sz="2550" b="1">
                <a:solidFill>
                  <a:srgbClr val="2D5C3B"/>
                </a:solidFill>
                <a:latin typeface="Georgia"/>
                <a:ea typeface="Georgia"/>
              </a:rPr>
              <a:t>The story card carries the ethics</a:t>
            </a:r>
            <a:endParaRPr/>
          </a:p>
        </p:txBody>
      </p:sp>
      <p:sp>
        <p:nvSpPr>
          <p:cNvPr id="308" name="矩形 307"/>
          <p:cNvSpPr/>
          <p:nvPr/>
        </p:nvSpPr>
        <p:spPr>
          <a:xfrm>
            <a:off x="533400" y="1200150"/>
            <a:ext cx="2095500" cy="28575"/>
          </a:xfrm>
          <a:prstGeom prst="rect">
            <a:avLst/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9" name="矩形: 圆角 308"/>
          <p:cNvSpPr/>
          <p:nvPr/>
        </p:nvSpPr>
        <p:spPr>
          <a:xfrm>
            <a:off x="533400" y="1400175"/>
            <a:ext cx="2028825" cy="4000500"/>
          </a:xfrm>
          <a:prstGeom prst="roundRect">
            <a:avLst>
              <a:gd name="adj" fmla="val 8451"/>
            </a:avLst>
          </a:prstGeom>
          <a:solidFill>
            <a:srgbClr val="FEFCF6"/>
          </a:solidFill>
          <a:ln/>
          <a:effectLst>
            <a:outerShdw blurRad="209550" dist="57150" dir="540000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10" name="图片 309"/>
          <p:cNvPicPr>
            <a:picLocks noChangeAspect="1"/>
          </p:cNvPicPr>
          <p:nvPr/>
        </p:nvPicPr>
        <p:blipFill>
          <a:blip r:embed="rId2"/>
          <a:srcRect l="1435" r="1435"/>
          <a:stretch>
            <a:fillRect/>
          </a:stretch>
        </p:blipFill>
        <p:spPr>
          <a:xfrm>
            <a:off x="590550" y="1457325"/>
            <a:ext cx="1914525" cy="3886200"/>
          </a:xfrm>
          <a:prstGeom prst="roundRect">
            <a:avLst>
              <a:gd name="adj" fmla="val 6965"/>
            </a:avLst>
          </a:prstGeom>
          <a:ln/>
        </p:spPr>
      </p:pic>
      <p:sp>
        <p:nvSpPr>
          <p:cNvPr id="311" name="文本框 310" descr="{&quot;isTemplate&quot;:true,&quot;type&quot;:&quot;text&quot;}"/>
          <p:cNvSpPr txBox="1"/>
          <p:nvPr/>
        </p:nvSpPr>
        <p:spPr>
          <a:xfrm>
            <a:off x="533400" y="5495925"/>
            <a:ext cx="20288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1050">
                <a:solidFill>
                  <a:srgbClr val="558863"/>
                </a:solidFill>
                <a:latin typeface="Segoe UI"/>
                <a:ea typeface="Segoe UI"/>
              </a:rPr>
              <a:t>Screen 3 · Story Card + Place</a:t>
            </a:r>
            <a:endParaRPr/>
          </a:p>
        </p:txBody>
      </p:sp>
      <p:sp>
        <p:nvSpPr>
          <p:cNvPr id="312" name="矩形: 圆角 311"/>
          <p:cNvSpPr/>
          <p:nvPr/>
        </p:nvSpPr>
        <p:spPr>
          <a:xfrm>
            <a:off x="2809875" y="1400175"/>
            <a:ext cx="4476750" cy="4000500"/>
          </a:xfrm>
          <a:prstGeom prst="roundRect">
            <a:avLst>
              <a:gd name="adj" fmla="val 4286"/>
            </a:avLst>
          </a:prstGeom>
          <a:solidFill>
            <a:srgbClr val="FEFCF6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3" name="文本框 312" descr="{&quot;isTemplate&quot;:true,&quot;type&quot;:&quot;text&quot;}"/>
          <p:cNvSpPr txBox="1"/>
          <p:nvPr/>
        </p:nvSpPr>
        <p:spPr>
          <a:xfrm>
            <a:off x="3000375" y="1619250"/>
            <a:ext cx="3048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558863"/>
                </a:solidFill>
                <a:latin typeface="Georgia"/>
                <a:ea typeface="Georgia"/>
              </a:rPr>
              <a:t>03</a:t>
            </a:r>
            <a:endParaRPr/>
          </a:p>
        </p:txBody>
      </p:sp>
      <p:sp>
        <p:nvSpPr>
          <p:cNvPr id="314" name="文本框 313" descr="{&quot;isTemplate&quot;:true,&quot;type&quot;:&quot;text&quot;}"/>
          <p:cNvSpPr txBox="1"/>
          <p:nvPr/>
        </p:nvSpPr>
        <p:spPr>
          <a:xfrm>
            <a:off x="3419475" y="1590675"/>
            <a:ext cx="1724025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</a:pPr>
            <a:r>
              <a:rPr lang="en-US" sz="1725" b="1">
                <a:solidFill>
                  <a:srgbClr val="2D5C3B"/>
                </a:solidFill>
                <a:latin typeface="Georgia"/>
                <a:ea typeface="Georgia"/>
              </a:rPr>
              <a:t>Choose Privacy</a:t>
            </a:r>
            <a:endParaRPr/>
          </a:p>
        </p:txBody>
      </p:sp>
      <p:sp>
        <p:nvSpPr>
          <p:cNvPr id="315" name="矩形: 圆角 314"/>
          <p:cNvSpPr/>
          <p:nvPr/>
        </p:nvSpPr>
        <p:spPr>
          <a:xfrm>
            <a:off x="3000375" y="2047875"/>
            <a:ext cx="4095750" cy="361950"/>
          </a:xfrm>
          <a:prstGeom prst="roundRect">
            <a:avLst>
              <a:gd name="adj" fmla="val 50000"/>
            </a:avLst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6" name="文本框 315" descr="{&quot;isTemplate&quot;:true,&quot;type&quot;:&quot;text&quot;}"/>
          <p:cNvSpPr txBox="1"/>
          <p:nvPr/>
        </p:nvSpPr>
        <p:spPr>
          <a:xfrm>
            <a:off x="3152775" y="2133600"/>
            <a:ext cx="914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EFCF6"/>
                </a:solidFill>
                <a:latin typeface="Segoe UI"/>
                <a:ea typeface="Segoe UI"/>
              </a:rPr>
              <a:t>Private</a:t>
            </a:r>
            <a:endParaRPr/>
          </a:p>
        </p:txBody>
      </p:sp>
      <p:sp>
        <p:nvSpPr>
          <p:cNvPr id="317" name="文本框 316" descr="{&quot;isTemplate&quot;:true,&quot;type&quot;:&quot;text&quot;}"/>
          <p:cNvSpPr txBox="1"/>
          <p:nvPr/>
        </p:nvSpPr>
        <p:spPr>
          <a:xfrm>
            <a:off x="4162425" y="2152650"/>
            <a:ext cx="21621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EFCF6"/>
                </a:solidFill>
                <a:latin typeface="Segoe UI"/>
                <a:ea typeface="Segoe UI"/>
              </a:rPr>
              <a:t>Only the storyteller</a:t>
            </a:r>
            <a:endParaRPr/>
          </a:p>
        </p:txBody>
      </p:sp>
      <p:sp>
        <p:nvSpPr>
          <p:cNvPr id="318" name="文本框 317" descr="{&quot;isTemplate&quot;:true,&quot;type&quot;:&quot;text&quot;}"/>
          <p:cNvSpPr txBox="1"/>
          <p:nvPr/>
        </p:nvSpPr>
        <p:spPr>
          <a:xfrm>
            <a:off x="6419850" y="2152650"/>
            <a:ext cx="5238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EFCF6"/>
                </a:solidFill>
                <a:latin typeface="Segoe UI"/>
                <a:ea typeface="Segoe UI"/>
              </a:rPr>
              <a:t>DEFAULT</a:t>
            </a:r>
            <a:endParaRPr/>
          </a:p>
        </p:txBody>
      </p:sp>
      <p:sp>
        <p:nvSpPr>
          <p:cNvPr id="319" name="矩形: 圆角 318"/>
          <p:cNvSpPr/>
          <p:nvPr/>
        </p:nvSpPr>
        <p:spPr>
          <a:xfrm>
            <a:off x="3000375" y="2486025"/>
            <a:ext cx="4095750" cy="361950"/>
          </a:xfrm>
          <a:prstGeom prst="roundRect">
            <a:avLst>
              <a:gd name="adj" fmla="val 50000"/>
            </a:avLst>
          </a:prstGeom>
          <a:solidFill>
            <a:srgbClr val="D8EF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0" name="文本框 319" descr="{&quot;isTemplate&quot;:true,&quot;type&quot;:&quot;text&quot;}"/>
          <p:cNvSpPr txBox="1"/>
          <p:nvPr/>
        </p:nvSpPr>
        <p:spPr>
          <a:xfrm>
            <a:off x="3152775" y="2571750"/>
            <a:ext cx="914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D5C3B"/>
                </a:solidFill>
                <a:latin typeface="Segoe UI"/>
                <a:ea typeface="Segoe UI"/>
              </a:rPr>
              <a:t>Family</a:t>
            </a:r>
            <a:endParaRPr/>
          </a:p>
        </p:txBody>
      </p:sp>
      <p:sp>
        <p:nvSpPr>
          <p:cNvPr id="321" name="文本框 320" descr="{&quot;isTemplate&quot;:true,&quot;type&quot;:&quot;text&quot;}"/>
          <p:cNvSpPr txBox="1"/>
          <p:nvPr/>
        </p:nvSpPr>
        <p:spPr>
          <a:xfrm>
            <a:off x="4162425" y="2590800"/>
            <a:ext cx="27813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2D5C3B"/>
                </a:solidFill>
                <a:latin typeface="Segoe UI"/>
                <a:ea typeface="Segoe UI"/>
              </a:rPr>
              <a:t>Family members</a:t>
            </a:r>
            <a:endParaRPr/>
          </a:p>
        </p:txBody>
      </p:sp>
      <p:sp>
        <p:nvSpPr>
          <p:cNvPr id="322" name="矩形: 圆角 321"/>
          <p:cNvSpPr/>
          <p:nvPr/>
        </p:nvSpPr>
        <p:spPr>
          <a:xfrm>
            <a:off x="3000375" y="2924175"/>
            <a:ext cx="4095750" cy="361950"/>
          </a:xfrm>
          <a:prstGeom prst="roundRect">
            <a:avLst>
              <a:gd name="adj" fmla="val 50000"/>
            </a:avLst>
          </a:prstGeom>
          <a:solidFill>
            <a:srgbClr val="D8EF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3" name="文本框 322" descr="{&quot;isTemplate&quot;:true,&quot;type&quot;:&quot;text&quot;}"/>
          <p:cNvSpPr txBox="1"/>
          <p:nvPr/>
        </p:nvSpPr>
        <p:spPr>
          <a:xfrm>
            <a:off x="3152775" y="3009900"/>
            <a:ext cx="914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D5C3B"/>
                </a:solidFill>
                <a:latin typeface="Segoe UI"/>
                <a:ea typeface="Segoe UI"/>
              </a:rPr>
              <a:t>Community</a:t>
            </a:r>
            <a:endParaRPr/>
          </a:p>
        </p:txBody>
      </p:sp>
      <p:sp>
        <p:nvSpPr>
          <p:cNvPr id="324" name="文本框 323" descr="{&quot;isTemplate&quot;:true,&quot;type&quot;:&quot;text&quot;}"/>
          <p:cNvSpPr txBox="1"/>
          <p:nvPr/>
        </p:nvSpPr>
        <p:spPr>
          <a:xfrm>
            <a:off x="4162425" y="3028950"/>
            <a:ext cx="27813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2D5C3B"/>
                </a:solidFill>
                <a:latin typeface="Segoe UI"/>
                <a:ea typeface="Segoe UI"/>
              </a:rPr>
              <a:t>Community groups and schools</a:t>
            </a:r>
            <a:endParaRPr/>
          </a:p>
        </p:txBody>
      </p:sp>
      <p:sp>
        <p:nvSpPr>
          <p:cNvPr id="325" name="矩形: 圆角 324"/>
          <p:cNvSpPr/>
          <p:nvPr/>
        </p:nvSpPr>
        <p:spPr>
          <a:xfrm>
            <a:off x="3000375" y="3362325"/>
            <a:ext cx="4095750" cy="361950"/>
          </a:xfrm>
          <a:prstGeom prst="roundRect">
            <a:avLst>
              <a:gd name="adj" fmla="val 50000"/>
            </a:avLst>
          </a:prstGeom>
          <a:solidFill>
            <a:srgbClr val="D8EF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6" name="文本框 325" descr="{&quot;isTemplate&quot;:true,&quot;type&quot;:&quot;text&quot;}"/>
          <p:cNvSpPr txBox="1"/>
          <p:nvPr/>
        </p:nvSpPr>
        <p:spPr>
          <a:xfrm>
            <a:off x="3152775" y="3448050"/>
            <a:ext cx="914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D5C3B"/>
                </a:solidFill>
                <a:latin typeface="Segoe UI"/>
                <a:ea typeface="Segoe UI"/>
              </a:rPr>
              <a:t>Public</a:t>
            </a:r>
            <a:endParaRPr/>
          </a:p>
        </p:txBody>
      </p:sp>
      <p:sp>
        <p:nvSpPr>
          <p:cNvPr id="327" name="文本框 326" descr="{&quot;isTemplate&quot;:true,&quot;type&quot;:&quot;text&quot;}"/>
          <p:cNvSpPr txBox="1"/>
          <p:nvPr/>
        </p:nvSpPr>
        <p:spPr>
          <a:xfrm>
            <a:off x="4162425" y="3467100"/>
            <a:ext cx="27813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2D5C3B"/>
                </a:solidFill>
                <a:latin typeface="Segoe UI"/>
                <a:ea typeface="Segoe UI"/>
              </a:rPr>
              <a:t>Everyone, including visitors</a:t>
            </a:r>
            <a:endParaRPr/>
          </a:p>
        </p:txBody>
      </p:sp>
      <p:sp>
        <p:nvSpPr>
          <p:cNvPr id="328" name="文本框 327" descr="{&quot;isTemplate&quot;:true,&quot;type&quot;:&quot;text&quot;}"/>
          <p:cNvSpPr txBox="1"/>
          <p:nvPr/>
        </p:nvSpPr>
        <p:spPr>
          <a:xfrm>
            <a:off x="3000375" y="3876675"/>
            <a:ext cx="4095750" cy="800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200">
                <a:solidFill>
                  <a:srgbClr val="30271D"/>
                </a:solidFill>
                <a:latin typeface="Segoe UI"/>
                <a:ea typeface="Segoe UI"/>
              </a:rPr>
              <a:t>In the build this is not a settings page either: it is reached from </a:t>
            </a:r>
            <a:r>
              <a:rPr lang="zh-CN" sz="1200">
                <a:solidFill>
                  <a:srgbClr val="30271D"/>
                </a:solidFill>
                <a:latin typeface="Segoe UI"/>
                <a:ea typeface="Segoe UI"/>
              </a:rPr>
              <a:t>我的</a:t>
            </a:r>
            <a:r>
              <a:rPr lang="en-US" sz="1200">
                <a:solidFill>
                  <a:srgbClr val="30271D"/>
                </a:solidFill>
                <a:latin typeface="Segoe UI"/>
                <a:ea typeface="Segoe UI"/>
              </a:rPr>
              <a:t> as one of three management entries. Private is already the default; the picker itself is not built yet.</a:t>
            </a:r>
            <a:endParaRPr/>
          </a:p>
        </p:txBody>
      </p:sp>
      <p:sp>
        <p:nvSpPr>
          <p:cNvPr id="329" name="文本框 328" descr="{&quot;isTemplate&quot;:true,&quot;type&quot;:&quot;text&quot;}"/>
          <p:cNvSpPr txBox="1"/>
          <p:nvPr/>
        </p:nvSpPr>
        <p:spPr>
          <a:xfrm>
            <a:off x="3000375" y="4772025"/>
            <a:ext cx="4095750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125">
                <a:solidFill>
                  <a:srgbClr val="558863"/>
                </a:solidFill>
                <a:latin typeface="Segoe UI"/>
                <a:ea typeface="Segoe UI"/>
              </a:rPr>
              <a:t>Withdrawal removes the story from shared surfaces but keeps the audio with the storyteller — interface only for now.</a:t>
            </a:r>
            <a:endParaRPr/>
          </a:p>
        </p:txBody>
      </p:sp>
      <p:sp>
        <p:nvSpPr>
          <p:cNvPr id="330" name="矩形: 圆角 329"/>
          <p:cNvSpPr/>
          <p:nvPr/>
        </p:nvSpPr>
        <p:spPr>
          <a:xfrm>
            <a:off x="7534275" y="1400175"/>
            <a:ext cx="4124325" cy="4000500"/>
          </a:xfrm>
          <a:prstGeom prst="roundRect">
            <a:avLst>
              <a:gd name="adj" fmla="val 4286"/>
            </a:avLst>
          </a:prstGeom>
          <a:solidFill>
            <a:srgbClr val="FEFCF6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31" name="文本框 330" descr="{&quot;isTemplate&quot;:true,&quot;type&quot;:&quot;text&quot;}"/>
          <p:cNvSpPr txBox="1"/>
          <p:nvPr/>
        </p:nvSpPr>
        <p:spPr>
          <a:xfrm>
            <a:off x="7724775" y="1619250"/>
            <a:ext cx="31432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558863"/>
                </a:solidFill>
                <a:latin typeface="Georgia"/>
                <a:ea typeface="Georgia"/>
              </a:rPr>
              <a:t>04</a:t>
            </a:r>
            <a:endParaRPr/>
          </a:p>
        </p:txBody>
      </p:sp>
      <p:sp>
        <p:nvSpPr>
          <p:cNvPr id="332" name="文本框 331" descr="{&quot;isTemplate&quot;:true,&quot;type&quot;:&quot;text&quot;}"/>
          <p:cNvSpPr txBox="1"/>
          <p:nvPr/>
        </p:nvSpPr>
        <p:spPr>
          <a:xfrm>
            <a:off x="8153400" y="1590675"/>
            <a:ext cx="1228725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</a:pPr>
            <a:r>
              <a:rPr lang="en-US" sz="1725" b="1">
                <a:solidFill>
                  <a:srgbClr val="2D5C3B"/>
                </a:solidFill>
                <a:latin typeface="Georgia"/>
                <a:ea typeface="Georgia"/>
              </a:rPr>
              <a:t>View Story</a:t>
            </a:r>
            <a:endParaRPr/>
          </a:p>
        </p:txBody>
      </p:sp>
      <p:sp>
        <p:nvSpPr>
          <p:cNvPr id="333" name="文本框 332" descr="{&quot;isTemplate&quot;:true,&quot;type&quot;:&quot;text&quot;}"/>
          <p:cNvSpPr txBox="1"/>
          <p:nvPr/>
        </p:nvSpPr>
        <p:spPr>
          <a:xfrm>
            <a:off x="7724775" y="2047875"/>
            <a:ext cx="37433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558863"/>
                </a:solidFill>
                <a:latin typeface="Segoe UI"/>
                <a:ea typeface="Segoe UI"/>
              </a:rPr>
              <a:t>THREE VERSIONS, STORED SEPARATELY</a:t>
            </a:r>
            <a:endParaRPr/>
          </a:p>
        </p:txBody>
      </p:sp>
      <p:sp>
        <p:nvSpPr>
          <p:cNvPr id="334" name="矩形: 圆角 333"/>
          <p:cNvSpPr/>
          <p:nvPr/>
        </p:nvSpPr>
        <p:spPr>
          <a:xfrm>
            <a:off x="7724775" y="2314575"/>
            <a:ext cx="57150" cy="381000"/>
          </a:xfrm>
          <a:prstGeom prst="roundRect">
            <a:avLst>
              <a:gd name="adj" fmla="val 50000"/>
            </a:avLst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5" name="文本框 334" descr="{&quot;isTemplate&quot;:true,&quot;type&quot;:&quot;text&quot;}"/>
          <p:cNvSpPr txBox="1"/>
          <p:nvPr/>
        </p:nvSpPr>
        <p:spPr>
          <a:xfrm>
            <a:off x="7877175" y="2314575"/>
            <a:ext cx="359092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0000"/>
              </a:lnSpc>
            </a:pPr>
            <a:r>
              <a:rPr lang="en-US" sz="1275" b="1">
                <a:solidFill>
                  <a:srgbClr val="2D5C3B"/>
                </a:solidFill>
                <a:latin typeface="Georgia"/>
                <a:ea typeface="Georgia"/>
              </a:rPr>
              <a:t>Cantonese</a:t>
            </a:r>
            <a:endParaRPr/>
          </a:p>
        </p:txBody>
      </p:sp>
      <p:sp>
        <p:nvSpPr>
          <p:cNvPr id="336" name="文本框 335" descr="{&quot;isTemplate&quot;:true,&quot;type&quot;:&quot;text&quot;}"/>
          <p:cNvSpPr txBox="1"/>
          <p:nvPr/>
        </p:nvSpPr>
        <p:spPr>
          <a:xfrm>
            <a:off x="7877175" y="2571750"/>
            <a:ext cx="35909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1050">
                <a:solidFill>
                  <a:srgbClr val="30271D"/>
                </a:solidFill>
                <a:latin typeface="Segoe UI"/>
                <a:ea typeface="Segoe UI"/>
              </a:rPr>
              <a:t>Kept as it was spoken. The voice is never replaced.</a:t>
            </a:r>
            <a:endParaRPr/>
          </a:p>
        </p:txBody>
      </p:sp>
      <p:sp>
        <p:nvSpPr>
          <p:cNvPr id="337" name="矩形: 圆角 336"/>
          <p:cNvSpPr/>
          <p:nvPr/>
        </p:nvSpPr>
        <p:spPr>
          <a:xfrm>
            <a:off x="7724775" y="2895600"/>
            <a:ext cx="57150" cy="381000"/>
          </a:xfrm>
          <a:prstGeom prst="roundRect">
            <a:avLst>
              <a:gd name="adj" fmla="val 50000"/>
            </a:avLst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8" name="文本框 337" descr="{&quot;isTemplate&quot;:true,&quot;type&quot;:&quot;text&quot;}"/>
          <p:cNvSpPr txBox="1"/>
          <p:nvPr/>
        </p:nvSpPr>
        <p:spPr>
          <a:xfrm>
            <a:off x="7877175" y="2895600"/>
            <a:ext cx="359092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0000"/>
              </a:lnSpc>
            </a:pPr>
            <a:r>
              <a:rPr lang="en-US" sz="1275" b="1">
                <a:solidFill>
                  <a:srgbClr val="2D5C3B"/>
                </a:solidFill>
                <a:latin typeface="Georgia"/>
                <a:ea typeface="Georgia"/>
              </a:rPr>
              <a:t>Written Chinese</a:t>
            </a:r>
            <a:endParaRPr/>
          </a:p>
        </p:txBody>
      </p:sp>
      <p:sp>
        <p:nvSpPr>
          <p:cNvPr id="339" name="文本框 338" descr="{&quot;isTemplate&quot;:true,&quot;type&quot;:&quot;text&quot;}"/>
          <p:cNvSpPr txBox="1"/>
          <p:nvPr/>
        </p:nvSpPr>
        <p:spPr>
          <a:xfrm>
            <a:off x="7877175" y="3152775"/>
            <a:ext cx="35909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1050">
                <a:solidFill>
                  <a:srgbClr val="30271D"/>
                </a:solidFill>
                <a:latin typeface="Segoe UI"/>
                <a:ea typeface="Segoe UI"/>
              </a:rPr>
              <a:t>Cleaned of filler words, with the original still playable.</a:t>
            </a:r>
            <a:endParaRPr/>
          </a:p>
        </p:txBody>
      </p:sp>
      <p:sp>
        <p:nvSpPr>
          <p:cNvPr id="340" name="矩形: 圆角 339"/>
          <p:cNvSpPr/>
          <p:nvPr/>
        </p:nvSpPr>
        <p:spPr>
          <a:xfrm>
            <a:off x="7724775" y="3476625"/>
            <a:ext cx="57150" cy="381000"/>
          </a:xfrm>
          <a:prstGeom prst="roundRect">
            <a:avLst>
              <a:gd name="adj" fmla="val 50000"/>
            </a:avLst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1" name="文本框 340" descr="{&quot;isTemplate&quot;:true,&quot;type&quot;:&quot;text&quot;}"/>
          <p:cNvSpPr txBox="1"/>
          <p:nvPr/>
        </p:nvSpPr>
        <p:spPr>
          <a:xfrm>
            <a:off x="7877175" y="3476625"/>
            <a:ext cx="359092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0000"/>
              </a:lnSpc>
            </a:pPr>
            <a:r>
              <a:rPr lang="en-US" sz="1275" b="1">
                <a:solidFill>
                  <a:srgbClr val="2D5C3B"/>
                </a:solidFill>
                <a:latin typeface="Georgia"/>
                <a:ea typeface="Georgia"/>
              </a:rPr>
              <a:t>English</a:t>
            </a:r>
            <a:endParaRPr/>
          </a:p>
        </p:txBody>
      </p:sp>
      <p:sp>
        <p:nvSpPr>
          <p:cNvPr id="342" name="文本框 341" descr="{&quot;isTemplate&quot;:true,&quot;type&quot;:&quot;text&quot;}"/>
          <p:cNvSpPr txBox="1"/>
          <p:nvPr/>
        </p:nvSpPr>
        <p:spPr>
          <a:xfrm>
            <a:off x="7877175" y="3733800"/>
            <a:ext cx="35909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1050">
                <a:solidFill>
                  <a:srgbClr val="30271D"/>
                </a:solidFill>
                <a:latin typeface="Segoe UI"/>
                <a:ea typeface="Segoe UI"/>
              </a:rPr>
              <a:t>A separate, clearly labelled version — not a replacement.</a:t>
            </a:r>
            <a:endParaRPr/>
          </a:p>
        </p:txBody>
      </p:sp>
      <p:sp>
        <p:nvSpPr>
          <p:cNvPr id="343" name="矩形 342"/>
          <p:cNvSpPr/>
          <p:nvPr/>
        </p:nvSpPr>
        <p:spPr>
          <a:xfrm>
            <a:off x="7724775" y="4095750"/>
            <a:ext cx="3743325" cy="9525"/>
          </a:xfrm>
          <a:prstGeom prst="rect">
            <a:avLst/>
          </a:prstGeom>
          <a:solidFill>
            <a:srgbClr val="D8EF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4" name="文本框 343" descr="{&quot;isTemplate&quot;:true,&quot;type&quot;:&quot;text&quot;}"/>
          <p:cNvSpPr txBox="1"/>
          <p:nvPr/>
        </p:nvSpPr>
        <p:spPr>
          <a:xfrm>
            <a:off x="7724775" y="4219575"/>
            <a:ext cx="3743325" cy="800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200">
                <a:solidFill>
                  <a:srgbClr val="30271D"/>
                </a:solidFill>
                <a:latin typeface="Segoe UI"/>
                <a:ea typeface="Segoe UI"/>
              </a:rPr>
              <a:t>The place block reads </a:t>
            </a:r>
            <a:r>
              <a:rPr lang="zh-CN" sz="1200" b="1">
                <a:solidFill>
                  <a:srgbClr val="30271D"/>
                </a:solidFill>
                <a:latin typeface="Segoe UI"/>
                <a:ea typeface="Segoe UI"/>
              </a:rPr>
              <a:t>位置經模糊處理，並非</a:t>
            </a:r>
            <a:r>
              <a:rPr lang="en-US" sz="1200" b="1">
                <a:solidFill>
                  <a:srgbClr val="30271D"/>
                </a:solidFill>
                <a:latin typeface="Segoe UI"/>
                <a:ea typeface="Segoe UI"/>
              </a:rPr>
              <a:t> GPS </a:t>
            </a:r>
            <a:r>
              <a:rPr lang="zh-CN" sz="1200" b="1">
                <a:solidFill>
                  <a:srgbClr val="30271D"/>
                </a:solidFill>
                <a:latin typeface="Segoe UI"/>
                <a:ea typeface="Segoe UI"/>
              </a:rPr>
              <a:t>定位</a:t>
            </a:r>
            <a:r>
              <a:rPr lang="en-US" sz="1200">
                <a:solidFill>
                  <a:srgbClr val="30271D"/>
                </a:solidFill>
                <a:latin typeface="Segoe UI"/>
                <a:ea typeface="Segoe UI"/>
              </a:rPr>
              <a:t> and shows a village-level fuzzy area of about 800 m — never an exact GPS point.</a:t>
            </a:r>
            <a:endParaRPr/>
          </a:p>
        </p:txBody>
      </p:sp>
      <p:sp>
        <p:nvSpPr>
          <p:cNvPr id="345" name="文本框 344" descr="{&quot;isTemplate&quot;:true,&quot;type&quot;:&quot;text&quot;}"/>
          <p:cNvSpPr txBox="1"/>
          <p:nvPr/>
        </p:nvSpPr>
        <p:spPr>
          <a:xfrm>
            <a:off x="7724775" y="5114925"/>
            <a:ext cx="3743325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125">
                <a:solidFill>
                  <a:srgbClr val="558863"/>
                </a:solidFill>
                <a:latin typeface="Segoe UI"/>
                <a:ea typeface="Segoe UI"/>
              </a:rPr>
              <a:t>If the place cannot be resolved, the block says "not yet located" rather than inventing a pin.</a:t>
            </a:r>
            <a:endParaRPr/>
          </a:p>
        </p:txBody>
      </p:sp>
      <p:sp>
        <p:nvSpPr>
          <p:cNvPr id="346" name="文本框 345" descr="{&quot;isTemplate&quot;:true,&quot;type&quot;:&quot;text&quot;}"/>
          <p:cNvSpPr txBox="1"/>
          <p:nvPr/>
        </p:nvSpPr>
        <p:spPr>
          <a:xfrm>
            <a:off x="533400" y="6448425"/>
            <a:ext cx="39719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2D5C3B">
                    <a:alpha val="75000"/>
                  </a:srgbClr>
                </a:solidFill>
                <a:latin typeface="Segoe UI"/>
                <a:ea typeface="Segoe UI"/>
              </a:rPr>
              <a:t>Voices of the North · HumanLoop — AI suggests, a human confirms</a:t>
            </a:r>
            <a:endParaRPr/>
          </a:p>
        </p:txBody>
      </p:sp>
      <p:sp>
        <p:nvSpPr>
          <p:cNvPr id="347" name="文本框 346" descr="{&quot;isTemplate&quot;:true,&quot;type&quot;:&quot;text&quot;}"/>
          <p:cNvSpPr txBox="1"/>
          <p:nvPr/>
        </p:nvSpPr>
        <p:spPr>
          <a:xfrm>
            <a:off x="11239500" y="6448425"/>
            <a:ext cx="4191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2D5C3B">
                    <a:alpha val="75000"/>
                  </a:srgbClr>
                </a:solidFill>
                <a:latin typeface="Segoe UI"/>
                <a:ea typeface="Segoe UI"/>
              </a:rPr>
              <a:t>05 / 14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矩形 34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0" name="文本框 349" descr="{&quot;isTemplate&quot;:true,&quot;type&quot;:&quot;text&quot;}"/>
          <p:cNvSpPr txBox="1"/>
          <p:nvPr/>
        </p:nvSpPr>
        <p:spPr>
          <a:xfrm>
            <a:off x="533400" y="381000"/>
            <a:ext cx="11125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 spc="180">
                <a:solidFill>
                  <a:srgbClr val="558863"/>
                </a:solidFill>
                <a:latin typeface="Segoe UI"/>
                <a:ea typeface="Segoe UI"/>
              </a:rPr>
              <a:t>PRODUCT · STEP 05</a:t>
            </a:r>
            <a:endParaRPr/>
          </a:p>
        </p:txBody>
      </p:sp>
      <p:sp>
        <p:nvSpPr>
          <p:cNvPr id="351" name="文本框 350" descr="{&quot;isTemplate&quot;:true,&quot;type&quot;:&quot;text&quot;}"/>
          <p:cNvSpPr txBox="1"/>
          <p:nvPr/>
        </p:nvSpPr>
        <p:spPr>
          <a:xfrm>
            <a:off x="533400" y="619125"/>
            <a:ext cx="111252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sz="2550" b="1">
                <a:solidFill>
                  <a:srgbClr val="2D5C3B"/>
                </a:solidFill>
                <a:latin typeface="Georgia"/>
                <a:ea typeface="Georgia"/>
              </a:rPr>
              <a:t>Ask the village — and get the receipt</a:t>
            </a:r>
            <a:endParaRPr/>
          </a:p>
        </p:txBody>
      </p:sp>
      <p:sp>
        <p:nvSpPr>
          <p:cNvPr id="352" name="矩形 351"/>
          <p:cNvSpPr/>
          <p:nvPr/>
        </p:nvSpPr>
        <p:spPr>
          <a:xfrm>
            <a:off x="533400" y="1200150"/>
            <a:ext cx="2095500" cy="28575"/>
          </a:xfrm>
          <a:prstGeom prst="rect">
            <a:avLst/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3" name="矩形: 圆角 352"/>
          <p:cNvSpPr/>
          <p:nvPr/>
        </p:nvSpPr>
        <p:spPr>
          <a:xfrm>
            <a:off x="533400" y="1400175"/>
            <a:ext cx="2028825" cy="4000500"/>
          </a:xfrm>
          <a:prstGeom prst="roundRect">
            <a:avLst>
              <a:gd name="adj" fmla="val 8451"/>
            </a:avLst>
          </a:prstGeom>
          <a:solidFill>
            <a:srgbClr val="FEFCF6"/>
          </a:solidFill>
          <a:ln/>
          <a:effectLst>
            <a:outerShdw blurRad="209550" dist="57150" dir="540000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54" name="图片 353"/>
          <p:cNvPicPr>
            <a:picLocks noChangeAspect="1"/>
          </p:cNvPicPr>
          <p:nvPr/>
        </p:nvPicPr>
        <p:blipFill>
          <a:blip r:embed="rId2"/>
          <a:srcRect l="1435" r="1435"/>
          <a:stretch>
            <a:fillRect/>
          </a:stretch>
        </p:blipFill>
        <p:spPr>
          <a:xfrm>
            <a:off x="590550" y="1457325"/>
            <a:ext cx="1914525" cy="3886200"/>
          </a:xfrm>
          <a:prstGeom prst="roundRect">
            <a:avLst>
              <a:gd name="adj" fmla="val 6965"/>
            </a:avLst>
          </a:prstGeom>
          <a:ln/>
        </p:spPr>
      </p:pic>
      <p:sp>
        <p:nvSpPr>
          <p:cNvPr id="355" name="文本框 354" descr="{&quot;isTemplate&quot;:true,&quot;type&quot;:&quot;text&quot;}"/>
          <p:cNvSpPr txBox="1"/>
          <p:nvPr/>
        </p:nvSpPr>
        <p:spPr>
          <a:xfrm>
            <a:off x="533400" y="5495925"/>
            <a:ext cx="20288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1050">
                <a:solidFill>
                  <a:srgbClr val="558863"/>
                </a:solidFill>
                <a:latin typeface="Segoe UI"/>
                <a:ea typeface="Segoe UI"/>
              </a:rPr>
              <a:t>Screen 4 · Ask the Village</a:t>
            </a:r>
            <a:endParaRPr/>
          </a:p>
        </p:txBody>
      </p:sp>
      <p:sp>
        <p:nvSpPr>
          <p:cNvPr id="356" name="矩形: 圆角 355"/>
          <p:cNvSpPr/>
          <p:nvPr/>
        </p:nvSpPr>
        <p:spPr>
          <a:xfrm>
            <a:off x="2809875" y="1400175"/>
            <a:ext cx="8848725" cy="4000500"/>
          </a:xfrm>
          <a:prstGeom prst="roundRect">
            <a:avLst>
              <a:gd name="adj" fmla="val 4286"/>
            </a:avLst>
          </a:prstGeom>
          <a:solidFill>
            <a:srgbClr val="FEFCF6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7" name="文本框 356" descr="{&quot;isTemplate&quot;:true,&quot;type&quot;:&quot;text&quot;}"/>
          <p:cNvSpPr txBox="1"/>
          <p:nvPr/>
        </p:nvSpPr>
        <p:spPr>
          <a:xfrm>
            <a:off x="3000375" y="1590675"/>
            <a:ext cx="8467725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sz="1725" b="1">
                <a:solidFill>
                  <a:srgbClr val="2D5C3B"/>
                </a:solidFill>
                <a:latin typeface="Georgia"/>
                <a:ea typeface="Georgia"/>
              </a:rPr>
              <a:t>Deterministic grounded retrieval, cited by timestamp</a:t>
            </a:r>
            <a:endParaRPr/>
          </a:p>
        </p:txBody>
      </p:sp>
      <p:sp>
        <p:nvSpPr>
          <p:cNvPr id="358" name="矩形: 圆角 357"/>
          <p:cNvSpPr/>
          <p:nvPr/>
        </p:nvSpPr>
        <p:spPr>
          <a:xfrm>
            <a:off x="3000375" y="2038350"/>
            <a:ext cx="8467725" cy="476250"/>
          </a:xfrm>
          <a:prstGeom prst="roundRect">
            <a:avLst>
              <a:gd name="adj" fmla="val 24000"/>
            </a:avLst>
          </a:prstGeom>
          <a:solidFill>
            <a:srgbClr val="F6F1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9" name="矩形: 圆角 358"/>
          <p:cNvSpPr/>
          <p:nvPr/>
        </p:nvSpPr>
        <p:spPr>
          <a:xfrm>
            <a:off x="3133725" y="2152650"/>
            <a:ext cx="1314450" cy="257175"/>
          </a:xfrm>
          <a:prstGeom prst="roundRect">
            <a:avLst>
              <a:gd name="adj" fmla="val 44444"/>
            </a:avLst>
          </a:prstGeom>
          <a:solidFill>
            <a:srgbClr val="D8EF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0" name="文本框 359" descr="{&quot;isTemplate&quot;:true,&quot;type&quot;:&quot;text&quot;}"/>
          <p:cNvSpPr txBox="1"/>
          <p:nvPr/>
        </p:nvSpPr>
        <p:spPr>
          <a:xfrm>
            <a:off x="3248025" y="2200275"/>
            <a:ext cx="10858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1050" b="1">
                <a:solidFill>
                  <a:srgbClr val="2D5C3B"/>
                </a:solidFill>
                <a:latin typeface="Segoe UI"/>
                <a:ea typeface="Segoe UI"/>
              </a:rPr>
              <a:t>00:08 – 00:16</a:t>
            </a:r>
            <a:endParaRPr/>
          </a:p>
        </p:txBody>
      </p:sp>
      <p:sp>
        <p:nvSpPr>
          <p:cNvPr id="361" name="文本框 360" descr="{&quot;isTemplate&quot;:true,&quot;type&quot;:&quot;text&quot;}"/>
          <p:cNvSpPr txBox="1"/>
          <p:nvPr/>
        </p:nvSpPr>
        <p:spPr>
          <a:xfrm>
            <a:off x="4581525" y="2152650"/>
            <a:ext cx="6753225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30271D"/>
                </a:solidFill>
                <a:latin typeface="Segoe UI"/>
                <a:ea typeface="Segoe UI"/>
              </a:rPr>
              <a:t>The mornings, the birds, and the fish ponds at the edge of the village</a:t>
            </a:r>
            <a:endParaRPr/>
          </a:p>
        </p:txBody>
      </p:sp>
      <p:sp>
        <p:nvSpPr>
          <p:cNvPr id="362" name="矩形: 圆角 361"/>
          <p:cNvSpPr/>
          <p:nvPr/>
        </p:nvSpPr>
        <p:spPr>
          <a:xfrm>
            <a:off x="3000375" y="2609850"/>
            <a:ext cx="8467725" cy="476250"/>
          </a:xfrm>
          <a:prstGeom prst="roundRect">
            <a:avLst>
              <a:gd name="adj" fmla="val 24000"/>
            </a:avLst>
          </a:prstGeom>
          <a:solidFill>
            <a:srgbClr val="F6F1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3" name="矩形: 圆角 362"/>
          <p:cNvSpPr/>
          <p:nvPr/>
        </p:nvSpPr>
        <p:spPr>
          <a:xfrm>
            <a:off x="3133725" y="2724150"/>
            <a:ext cx="1314450" cy="257175"/>
          </a:xfrm>
          <a:prstGeom prst="roundRect">
            <a:avLst>
              <a:gd name="adj" fmla="val 44444"/>
            </a:avLst>
          </a:prstGeom>
          <a:solidFill>
            <a:srgbClr val="D8EF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4" name="文本框 363" descr="{&quot;isTemplate&quot;:true,&quot;type&quot;:&quot;text&quot;}"/>
          <p:cNvSpPr txBox="1"/>
          <p:nvPr/>
        </p:nvSpPr>
        <p:spPr>
          <a:xfrm>
            <a:off x="3248025" y="2771775"/>
            <a:ext cx="10858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1050" b="1">
                <a:solidFill>
                  <a:srgbClr val="2D5C3B"/>
                </a:solidFill>
                <a:latin typeface="Segoe UI"/>
                <a:ea typeface="Segoe UI"/>
              </a:rPr>
              <a:t>00:19 – 00:32</a:t>
            </a:r>
            <a:endParaRPr/>
          </a:p>
        </p:txBody>
      </p:sp>
      <p:sp>
        <p:nvSpPr>
          <p:cNvPr id="365" name="文本框 364" descr="{&quot;isTemplate&quot;:true,&quot;type&quot;:&quot;text&quot;}"/>
          <p:cNvSpPr txBox="1"/>
          <p:nvPr/>
        </p:nvSpPr>
        <p:spPr>
          <a:xfrm>
            <a:off x="4581525" y="2724150"/>
            <a:ext cx="6753225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30271D"/>
                </a:solidFill>
                <a:latin typeface="Segoe UI"/>
                <a:ea typeface="Segoe UI"/>
              </a:rPr>
              <a:t>Who lived nearby, and how the neighbours shared the mud path</a:t>
            </a:r>
            <a:endParaRPr/>
          </a:p>
        </p:txBody>
      </p:sp>
      <p:sp>
        <p:nvSpPr>
          <p:cNvPr id="366" name="矩形: 圆角 365"/>
          <p:cNvSpPr/>
          <p:nvPr/>
        </p:nvSpPr>
        <p:spPr>
          <a:xfrm>
            <a:off x="3000375" y="3181350"/>
            <a:ext cx="8467725" cy="476250"/>
          </a:xfrm>
          <a:prstGeom prst="roundRect">
            <a:avLst>
              <a:gd name="adj" fmla="val 24000"/>
            </a:avLst>
          </a:prstGeom>
          <a:solidFill>
            <a:srgbClr val="F6F1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7" name="矩形: 圆角 366"/>
          <p:cNvSpPr/>
          <p:nvPr/>
        </p:nvSpPr>
        <p:spPr>
          <a:xfrm>
            <a:off x="3133725" y="3295650"/>
            <a:ext cx="1314450" cy="257175"/>
          </a:xfrm>
          <a:prstGeom prst="roundRect">
            <a:avLst>
              <a:gd name="adj" fmla="val 44444"/>
            </a:avLst>
          </a:prstGeom>
          <a:solidFill>
            <a:srgbClr val="D8EF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8" name="文本框 367" descr="{&quot;isTemplate&quot;:true,&quot;type&quot;:&quot;text&quot;}"/>
          <p:cNvSpPr txBox="1"/>
          <p:nvPr/>
        </p:nvSpPr>
        <p:spPr>
          <a:xfrm>
            <a:off x="3248025" y="3343275"/>
            <a:ext cx="10858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1050" b="1">
                <a:solidFill>
                  <a:srgbClr val="2D5C3B"/>
                </a:solidFill>
                <a:latin typeface="Segoe UI"/>
                <a:ea typeface="Segoe UI"/>
              </a:rPr>
              <a:t>00:39 – 00:45</a:t>
            </a:r>
            <a:endParaRPr/>
          </a:p>
        </p:txBody>
      </p:sp>
      <p:sp>
        <p:nvSpPr>
          <p:cNvPr id="369" name="文本框 368" descr="{&quot;isTemplate&quot;:true,&quot;type&quot;:&quot;text&quot;}"/>
          <p:cNvSpPr txBox="1"/>
          <p:nvPr/>
        </p:nvSpPr>
        <p:spPr>
          <a:xfrm>
            <a:off x="4581525" y="3295650"/>
            <a:ext cx="6753225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30271D"/>
                </a:solidFill>
                <a:latin typeface="Segoe UI"/>
                <a:ea typeface="Segoe UI"/>
              </a:rPr>
              <a:t>What changed on the fields, and when the digging started</a:t>
            </a:r>
            <a:endParaRPr/>
          </a:p>
        </p:txBody>
      </p:sp>
      <p:sp>
        <p:nvSpPr>
          <p:cNvPr id="370" name="文本框 369" descr="{&quot;isTemplate&quot;:true,&quot;type&quot;:&quot;text&quot;}"/>
          <p:cNvSpPr txBox="1"/>
          <p:nvPr/>
        </p:nvSpPr>
        <p:spPr>
          <a:xfrm>
            <a:off x="3000375" y="3790950"/>
            <a:ext cx="8467725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125">
                <a:solidFill>
                  <a:srgbClr val="558863"/>
                </a:solidFill>
                <a:latin typeface="Segoe UI"/>
                <a:ea typeface="Segoe UI"/>
              </a:rPr>
              <a:t>Every answer carries the label </a:t>
            </a:r>
            <a:r>
              <a:rPr lang="en-US" sz="1125" b="1">
                <a:solidFill>
                  <a:srgbClr val="558863"/>
                </a:solidFill>
                <a:latin typeface="Segoe UI"/>
                <a:ea typeface="Segoe UI"/>
              </a:rPr>
              <a:t>"Source from recorded story"</a:t>
            </a:r>
            <a:r>
              <a:rPr lang="en-US" sz="1125">
                <a:solidFill>
                  <a:srgbClr val="558863"/>
                </a:solidFill>
                <a:latin typeface="Segoe UI"/>
                <a:ea typeface="Segoe UI"/>
              </a:rPr>
              <a:t>, and one tap plays the original audio. A question spanning several stories returns one answer per source.</a:t>
            </a:r>
            <a:endParaRPr/>
          </a:p>
        </p:txBody>
      </p:sp>
      <p:sp>
        <p:nvSpPr>
          <p:cNvPr id="371" name="矩形: 圆角 370"/>
          <p:cNvSpPr/>
          <p:nvPr/>
        </p:nvSpPr>
        <p:spPr>
          <a:xfrm>
            <a:off x="3000375" y="4448175"/>
            <a:ext cx="8467725" cy="723900"/>
          </a:xfrm>
          <a:prstGeom prst="roundRect">
            <a:avLst>
              <a:gd name="adj" fmla="val 18421"/>
            </a:avLst>
          </a:prstGeom>
          <a:solidFill>
            <a:srgbClr val="D8EF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2" name="文本框 371" descr="{&quot;isTemplate&quot;:true,&quot;type&quot;:&quot;text&quot;}"/>
          <p:cNvSpPr txBox="1"/>
          <p:nvPr/>
        </p:nvSpPr>
        <p:spPr>
          <a:xfrm>
            <a:off x="3171825" y="4562475"/>
            <a:ext cx="81248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D5C3B"/>
                </a:solidFill>
                <a:latin typeface="Segoe UI"/>
                <a:ea typeface="Segoe UI"/>
              </a:rPr>
              <a:t>THE DESIGNED NO-ANSWER</a:t>
            </a:r>
            <a:endParaRPr/>
          </a:p>
        </p:txBody>
      </p:sp>
      <p:sp>
        <p:nvSpPr>
          <p:cNvPr id="373" name="文本框 372" descr="{&quot;isTemplate&quot;:true,&quot;type&quot;:&quot;text&quot;}"/>
          <p:cNvSpPr txBox="1"/>
          <p:nvPr/>
        </p:nvSpPr>
        <p:spPr>
          <a:xfrm>
            <a:off x="3171825" y="4762500"/>
            <a:ext cx="8124825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1350" i="1">
                <a:solidFill>
                  <a:srgbClr val="2D5C3B"/>
                </a:solidFill>
                <a:latin typeface="Georgia"/>
                <a:ea typeface="Georgia"/>
              </a:rPr>
              <a:t>"This recording never mentions it. We will not guess."</a:t>
            </a:r>
            <a:endParaRPr/>
          </a:p>
        </p:txBody>
      </p:sp>
      <p:sp>
        <p:nvSpPr>
          <p:cNvPr id="374" name="文本框 373" descr="{&quot;isTemplate&quot;:true,&quot;type&quot;:&quot;text&quot;}"/>
          <p:cNvSpPr txBox="1"/>
          <p:nvPr/>
        </p:nvSpPr>
        <p:spPr>
          <a:xfrm>
            <a:off x="533400" y="6448425"/>
            <a:ext cx="63436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2D5C3B">
                    <a:alpha val="75000"/>
                  </a:srgbClr>
                </a:solidFill>
                <a:latin typeface="Segoe UI"/>
                <a:ea typeface="Segoe UI"/>
              </a:rPr>
              <a:t>It reduces unsupported answers and declines what the corpus does not cover — an honest blank beats a confident guess</a:t>
            </a:r>
            <a:endParaRPr/>
          </a:p>
        </p:txBody>
      </p:sp>
      <p:sp>
        <p:nvSpPr>
          <p:cNvPr id="375" name="文本框 374" descr="{&quot;isTemplate&quot;:true,&quot;type&quot;:&quot;text&quot;}"/>
          <p:cNvSpPr txBox="1"/>
          <p:nvPr/>
        </p:nvSpPr>
        <p:spPr>
          <a:xfrm>
            <a:off x="11239500" y="6448425"/>
            <a:ext cx="4191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2D5C3B">
                    <a:alpha val="75000"/>
                  </a:srgbClr>
                </a:solidFill>
                <a:latin typeface="Segoe UI"/>
                <a:ea typeface="Segoe UI"/>
              </a:rPr>
              <a:t>06 / 14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矩形 37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8" name="文本框 377" descr="{&quot;isTemplate&quot;:true,&quot;type&quot;:&quot;text&quot;}"/>
          <p:cNvSpPr txBox="1"/>
          <p:nvPr/>
        </p:nvSpPr>
        <p:spPr>
          <a:xfrm>
            <a:off x="533400" y="381000"/>
            <a:ext cx="11125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 spc="180">
                <a:solidFill>
                  <a:srgbClr val="558863"/>
                </a:solidFill>
                <a:latin typeface="Segoe UI"/>
                <a:ea typeface="Segoe UI"/>
              </a:rPr>
              <a:t>SYSTEM · PIPELINE</a:t>
            </a:r>
            <a:endParaRPr/>
          </a:p>
        </p:txBody>
      </p:sp>
      <p:sp>
        <p:nvSpPr>
          <p:cNvPr id="379" name="文本框 378" descr="{&quot;isTemplate&quot;:true,&quot;type&quot;:&quot;text&quot;}"/>
          <p:cNvSpPr txBox="1"/>
          <p:nvPr/>
        </p:nvSpPr>
        <p:spPr>
          <a:xfrm>
            <a:off x="533400" y="619125"/>
            <a:ext cx="111252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sz="2550" b="1">
                <a:solidFill>
                  <a:srgbClr val="2D5C3B"/>
                </a:solidFill>
                <a:latin typeface="Georgia"/>
                <a:ea typeface="Georgia"/>
              </a:rPr>
              <a:t>Six stages from a voice to a sourced answer</a:t>
            </a:r>
            <a:endParaRPr/>
          </a:p>
        </p:txBody>
      </p:sp>
      <p:sp>
        <p:nvSpPr>
          <p:cNvPr id="380" name="矩形 379"/>
          <p:cNvSpPr/>
          <p:nvPr/>
        </p:nvSpPr>
        <p:spPr>
          <a:xfrm>
            <a:off x="533400" y="1200150"/>
            <a:ext cx="2095500" cy="28575"/>
          </a:xfrm>
          <a:prstGeom prst="rect">
            <a:avLst/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1" name="矩形: 圆角 380"/>
          <p:cNvSpPr/>
          <p:nvPr/>
        </p:nvSpPr>
        <p:spPr>
          <a:xfrm>
            <a:off x="533400" y="1381125"/>
            <a:ext cx="3609975" cy="1600200"/>
          </a:xfrm>
          <a:prstGeom prst="roundRect">
            <a:avLst>
              <a:gd name="adj" fmla="val 10714"/>
            </a:avLst>
          </a:prstGeom>
          <a:solidFill>
            <a:srgbClr val="FEFCF6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82" name="矩形: 圆角 381"/>
          <p:cNvSpPr/>
          <p:nvPr/>
        </p:nvSpPr>
        <p:spPr>
          <a:xfrm>
            <a:off x="704850" y="155257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3" name="文本框 382" descr="{&quot;isTemplate&quot;:true,&quot;type&quot;:&quot;text&quot;}"/>
          <p:cNvSpPr txBox="1"/>
          <p:nvPr/>
        </p:nvSpPr>
        <p:spPr>
          <a:xfrm>
            <a:off x="819150" y="1609725"/>
            <a:ext cx="952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EFCF6"/>
                </a:solidFill>
                <a:latin typeface="Georgia"/>
                <a:ea typeface="Georgia"/>
              </a:rPr>
              <a:t>1</a:t>
            </a:r>
            <a:endParaRPr/>
          </a:p>
        </p:txBody>
      </p:sp>
      <p:sp>
        <p:nvSpPr>
          <p:cNvPr id="384" name="文本框 383" descr="{&quot;isTemplate&quot;:true,&quot;type&quot;:&quot;text&quot;}"/>
          <p:cNvSpPr txBox="1"/>
          <p:nvPr/>
        </p:nvSpPr>
        <p:spPr>
          <a:xfrm>
            <a:off x="1123950" y="1590675"/>
            <a:ext cx="28479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sz="1350" b="1">
                <a:solidFill>
                  <a:srgbClr val="2D5C3B"/>
                </a:solidFill>
                <a:latin typeface="Georgia"/>
                <a:ea typeface="Georgia"/>
              </a:rPr>
              <a:t>Browser audio ingestion</a:t>
            </a:r>
            <a:endParaRPr/>
          </a:p>
        </p:txBody>
      </p:sp>
      <p:sp>
        <p:nvSpPr>
          <p:cNvPr id="385" name="文本框 384" descr="{&quot;isTemplate&quot;:true,&quot;type&quot;:&quot;text&quot;}"/>
          <p:cNvSpPr txBox="1"/>
          <p:nvPr/>
        </p:nvSpPr>
        <p:spPr>
          <a:xfrm>
            <a:off x="704850" y="1971675"/>
            <a:ext cx="3267075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30271D"/>
                </a:solidFill>
                <a:latin typeface="Segoe UI"/>
                <a:ea typeface="Segoe UI"/>
              </a:rPr>
              <a:t>A recording captured in the browser; it survives a dropped connection</a:t>
            </a:r>
            <a:endParaRPr/>
          </a:p>
        </p:txBody>
      </p:sp>
      <p:sp>
        <p:nvSpPr>
          <p:cNvPr id="386" name="文本框 385" descr="{&quot;isTemplate&quot;:true,&quot;type&quot;:&quot;text&quot;}"/>
          <p:cNvSpPr txBox="1"/>
          <p:nvPr/>
        </p:nvSpPr>
        <p:spPr>
          <a:xfrm>
            <a:off x="704850" y="2600325"/>
            <a:ext cx="6096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558863"/>
                </a:solidFill>
                <a:latin typeface="Segoe UI"/>
                <a:ea typeface="Segoe UI"/>
              </a:rPr>
              <a:t>IF IT FAILS</a:t>
            </a:r>
            <a:endParaRPr/>
          </a:p>
        </p:txBody>
      </p:sp>
      <p:sp>
        <p:nvSpPr>
          <p:cNvPr id="387" name="文本框 386" descr="{&quot;isTemplate&quot;:true,&quot;type&quot;:&quot;text&quot;}"/>
          <p:cNvSpPr txBox="1"/>
          <p:nvPr/>
        </p:nvSpPr>
        <p:spPr>
          <a:xfrm>
            <a:off x="1390650" y="2600325"/>
            <a:ext cx="258127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975">
                <a:solidFill>
                  <a:srgbClr val="30271D"/>
                </a:solidFill>
                <a:latin typeface="Segoe UI"/>
                <a:ea typeface="Segoe UI"/>
              </a:rPr>
              <a:t>Capture keeps working locally and the upload is queued</a:t>
            </a:r>
            <a:endParaRPr/>
          </a:p>
        </p:txBody>
      </p:sp>
      <p:sp>
        <p:nvSpPr>
          <p:cNvPr id="388" name="矩形: 圆角 387"/>
          <p:cNvSpPr/>
          <p:nvPr/>
        </p:nvSpPr>
        <p:spPr>
          <a:xfrm>
            <a:off x="4295775" y="1381125"/>
            <a:ext cx="3600450" cy="1600200"/>
          </a:xfrm>
          <a:prstGeom prst="roundRect">
            <a:avLst>
              <a:gd name="adj" fmla="val 10714"/>
            </a:avLst>
          </a:prstGeom>
          <a:solidFill>
            <a:srgbClr val="FEFCF6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89" name="矩形: 圆角 388"/>
          <p:cNvSpPr/>
          <p:nvPr/>
        </p:nvSpPr>
        <p:spPr>
          <a:xfrm>
            <a:off x="4467225" y="155257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0" name="文本框 389" descr="{&quot;isTemplate&quot;:true,&quot;type&quot;:&quot;text&quot;}"/>
          <p:cNvSpPr txBox="1"/>
          <p:nvPr/>
        </p:nvSpPr>
        <p:spPr>
          <a:xfrm>
            <a:off x="4572000" y="1609725"/>
            <a:ext cx="1143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EFCF6"/>
                </a:solidFill>
                <a:latin typeface="Georgia"/>
                <a:ea typeface="Georgia"/>
              </a:rPr>
              <a:t>2</a:t>
            </a:r>
            <a:endParaRPr/>
          </a:p>
        </p:txBody>
      </p:sp>
      <p:sp>
        <p:nvSpPr>
          <p:cNvPr id="391" name="文本框 390" descr="{&quot;isTemplate&quot;:true,&quot;type&quot;:&quot;text&quot;}"/>
          <p:cNvSpPr txBox="1"/>
          <p:nvPr/>
        </p:nvSpPr>
        <p:spPr>
          <a:xfrm>
            <a:off x="4886325" y="1590675"/>
            <a:ext cx="28384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sz="1350" b="1">
                <a:solidFill>
                  <a:srgbClr val="2D5C3B"/>
                </a:solidFill>
                <a:latin typeface="Georgia"/>
                <a:ea typeface="Georgia"/>
              </a:rPr>
              <a:t>Cloud speech-to-text</a:t>
            </a:r>
            <a:endParaRPr/>
          </a:p>
        </p:txBody>
      </p:sp>
      <p:sp>
        <p:nvSpPr>
          <p:cNvPr id="392" name="文本框 391" descr="{&quot;isTemplate&quot;:true,&quot;type&quot;:&quot;text&quot;}"/>
          <p:cNvSpPr txBox="1"/>
          <p:nvPr/>
        </p:nvSpPr>
        <p:spPr>
          <a:xfrm>
            <a:off x="4467225" y="1971675"/>
            <a:ext cx="32575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30271D"/>
                </a:solidFill>
                <a:latin typeface="Segoe UI"/>
                <a:ea typeface="Segoe UI"/>
              </a:rPr>
              <a:t>A transcript with a sentence-level confidence score and a timestamp on every word</a:t>
            </a:r>
            <a:endParaRPr/>
          </a:p>
        </p:txBody>
      </p:sp>
      <p:sp>
        <p:nvSpPr>
          <p:cNvPr id="393" name="文本框 392" descr="{&quot;isTemplate&quot;:true,&quot;type&quot;:&quot;text&quot;}"/>
          <p:cNvSpPr txBox="1"/>
          <p:nvPr/>
        </p:nvSpPr>
        <p:spPr>
          <a:xfrm>
            <a:off x="4467225" y="2390775"/>
            <a:ext cx="609600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558863"/>
                </a:solidFill>
                <a:latin typeface="Segoe UI"/>
                <a:ea typeface="Segoe UI"/>
              </a:rPr>
              <a:t>IF IT FAILS</a:t>
            </a:r>
            <a:endParaRPr/>
          </a:p>
        </p:txBody>
      </p:sp>
      <p:sp>
        <p:nvSpPr>
          <p:cNvPr id="394" name="文本框 393" descr="{&quot;isTemplate&quot;:true,&quot;type&quot;:&quot;text&quot;}"/>
          <p:cNvSpPr txBox="1"/>
          <p:nvPr/>
        </p:nvSpPr>
        <p:spPr>
          <a:xfrm>
            <a:off x="5153025" y="2390775"/>
            <a:ext cx="2571750" cy="419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975">
                <a:solidFill>
                  <a:srgbClr val="30271D"/>
                </a:solidFill>
                <a:latin typeface="Segoe UI"/>
                <a:ea typeface="Segoe UI"/>
              </a:rPr>
              <a:t>Poor audio is flagged low-confidence — it is never refused</a:t>
            </a:r>
            <a:endParaRPr/>
          </a:p>
        </p:txBody>
      </p:sp>
      <p:sp>
        <p:nvSpPr>
          <p:cNvPr id="395" name="矩形: 圆角 394"/>
          <p:cNvSpPr/>
          <p:nvPr/>
        </p:nvSpPr>
        <p:spPr>
          <a:xfrm>
            <a:off x="8048625" y="1381125"/>
            <a:ext cx="3609975" cy="1600200"/>
          </a:xfrm>
          <a:prstGeom prst="roundRect">
            <a:avLst>
              <a:gd name="adj" fmla="val 10714"/>
            </a:avLst>
          </a:prstGeom>
          <a:solidFill>
            <a:srgbClr val="FEFCF6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96" name="矩形: 圆角 395"/>
          <p:cNvSpPr/>
          <p:nvPr/>
        </p:nvSpPr>
        <p:spPr>
          <a:xfrm>
            <a:off x="8220075" y="155257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7" name="文本框 396" descr="{&quot;isTemplate&quot;:true,&quot;type&quot;:&quot;text&quot;}"/>
          <p:cNvSpPr txBox="1"/>
          <p:nvPr/>
        </p:nvSpPr>
        <p:spPr>
          <a:xfrm>
            <a:off x="8324850" y="1609725"/>
            <a:ext cx="1143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EFCF6"/>
                </a:solidFill>
                <a:latin typeface="Georgia"/>
                <a:ea typeface="Georgia"/>
              </a:rPr>
              <a:t>3</a:t>
            </a:r>
            <a:endParaRPr/>
          </a:p>
        </p:txBody>
      </p:sp>
      <p:sp>
        <p:nvSpPr>
          <p:cNvPr id="398" name="文本框 397" descr="{&quot;isTemplate&quot;:true,&quot;type&quot;:&quot;text&quot;}"/>
          <p:cNvSpPr txBox="1"/>
          <p:nvPr/>
        </p:nvSpPr>
        <p:spPr>
          <a:xfrm>
            <a:off x="8639175" y="1590675"/>
            <a:ext cx="28479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sz="1350" b="1">
                <a:solidFill>
                  <a:srgbClr val="2D5C3B"/>
                </a:solidFill>
                <a:latin typeface="Georgia"/>
                <a:ea typeface="Georgia"/>
              </a:rPr>
              <a:t>Human-verified transcript</a:t>
            </a:r>
            <a:endParaRPr/>
          </a:p>
        </p:txBody>
      </p:sp>
      <p:sp>
        <p:nvSpPr>
          <p:cNvPr id="399" name="文本框 398" descr="{&quot;isTemplate&quot;:true,&quot;type&quot;:&quot;text&quot;}"/>
          <p:cNvSpPr txBox="1"/>
          <p:nvPr/>
        </p:nvSpPr>
        <p:spPr>
          <a:xfrm>
            <a:off x="8220075" y="1971675"/>
            <a:ext cx="3267075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30271D"/>
                </a:solidFill>
                <a:latin typeface="Segoe UI"/>
                <a:ea typeface="Segoe UI"/>
              </a:rPr>
              <a:t>The storyteller reads and corrects before anything is shown</a:t>
            </a:r>
            <a:endParaRPr/>
          </a:p>
        </p:txBody>
      </p:sp>
      <p:sp>
        <p:nvSpPr>
          <p:cNvPr id="400" name="文本框 399" descr="{&quot;isTemplate&quot;:true,&quot;type&quot;:&quot;text&quot;}"/>
          <p:cNvSpPr txBox="1"/>
          <p:nvPr/>
        </p:nvSpPr>
        <p:spPr>
          <a:xfrm>
            <a:off x="8220075" y="2600325"/>
            <a:ext cx="6096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558863"/>
                </a:solidFill>
                <a:latin typeface="Segoe UI"/>
                <a:ea typeface="Segoe UI"/>
              </a:rPr>
              <a:t>IF IT FAILS</a:t>
            </a:r>
            <a:endParaRPr/>
          </a:p>
        </p:txBody>
      </p:sp>
      <p:sp>
        <p:nvSpPr>
          <p:cNvPr id="401" name="文本框 400" descr="{&quot;isTemplate&quot;:true,&quot;type&quot;:&quot;text&quot;}"/>
          <p:cNvSpPr txBox="1"/>
          <p:nvPr/>
        </p:nvSpPr>
        <p:spPr>
          <a:xfrm>
            <a:off x="8905875" y="2600325"/>
            <a:ext cx="258127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975">
                <a:solidFill>
                  <a:srgbClr val="30271D"/>
                </a:solidFill>
                <a:latin typeface="Segoe UI"/>
                <a:ea typeface="Segoe UI"/>
              </a:rPr>
              <a:t>An unreadable passage stays flagged for the storyteller</a:t>
            </a:r>
            <a:endParaRPr/>
          </a:p>
        </p:txBody>
      </p:sp>
      <p:sp>
        <p:nvSpPr>
          <p:cNvPr id="402" name="矩形: 圆角 401"/>
          <p:cNvSpPr/>
          <p:nvPr/>
        </p:nvSpPr>
        <p:spPr>
          <a:xfrm>
            <a:off x="533400" y="3133725"/>
            <a:ext cx="3609975" cy="1600200"/>
          </a:xfrm>
          <a:prstGeom prst="roundRect">
            <a:avLst>
              <a:gd name="adj" fmla="val 10714"/>
            </a:avLst>
          </a:prstGeom>
          <a:solidFill>
            <a:srgbClr val="FEFCF6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03" name="矩形: 圆角 402"/>
          <p:cNvSpPr/>
          <p:nvPr/>
        </p:nvSpPr>
        <p:spPr>
          <a:xfrm>
            <a:off x="704850" y="330517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4" name="文本框 403" descr="{&quot;isTemplate&quot;:true,&quot;type&quot;:&quot;text&quot;}"/>
          <p:cNvSpPr txBox="1"/>
          <p:nvPr/>
        </p:nvSpPr>
        <p:spPr>
          <a:xfrm>
            <a:off x="809625" y="3362325"/>
            <a:ext cx="12382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EFCF6"/>
                </a:solidFill>
                <a:latin typeface="Georgia"/>
                <a:ea typeface="Georgia"/>
              </a:rPr>
              <a:t>4</a:t>
            </a:r>
            <a:endParaRPr/>
          </a:p>
        </p:txBody>
      </p:sp>
      <p:sp>
        <p:nvSpPr>
          <p:cNvPr id="405" name="文本框 404" descr="{&quot;isTemplate&quot;:true,&quot;type&quot;:&quot;text&quot;}"/>
          <p:cNvSpPr txBox="1"/>
          <p:nvPr/>
        </p:nvSpPr>
        <p:spPr>
          <a:xfrm>
            <a:off x="1123950" y="3343275"/>
            <a:ext cx="28479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sz="1350" b="1">
                <a:solidFill>
                  <a:srgbClr val="2D5C3B"/>
                </a:solidFill>
                <a:latin typeface="Georgia"/>
                <a:ea typeface="Georgia"/>
              </a:rPr>
              <a:t>Normalisation &amp; extraction</a:t>
            </a:r>
            <a:endParaRPr/>
          </a:p>
        </p:txBody>
      </p:sp>
      <p:sp>
        <p:nvSpPr>
          <p:cNvPr id="406" name="文本框 405" descr="{&quot;isTemplate&quot;:true,&quot;type&quot;:&quot;text&quot;}"/>
          <p:cNvSpPr txBox="1"/>
          <p:nvPr/>
        </p:nvSpPr>
        <p:spPr>
          <a:xfrm>
            <a:off x="704850" y="3724275"/>
            <a:ext cx="3267075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30271D"/>
                </a:solidFill>
                <a:latin typeface="Segoe UI"/>
                <a:ea typeface="Segoe UI"/>
              </a:rPr>
              <a:t>Cleaned written Chinese, English, theme tags and a place candidate — pre-computed for the demo</a:t>
            </a:r>
            <a:endParaRPr/>
          </a:p>
        </p:txBody>
      </p:sp>
      <p:sp>
        <p:nvSpPr>
          <p:cNvPr id="407" name="文本框 406" descr="{&quot;isTemplate&quot;:true,&quot;type&quot;:&quot;text&quot;}"/>
          <p:cNvSpPr txBox="1"/>
          <p:nvPr/>
        </p:nvSpPr>
        <p:spPr>
          <a:xfrm>
            <a:off x="704850" y="4352925"/>
            <a:ext cx="6096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558863"/>
                </a:solidFill>
                <a:latin typeface="Segoe UI"/>
                <a:ea typeface="Segoe UI"/>
              </a:rPr>
              <a:t>IF IT FAILS</a:t>
            </a:r>
            <a:endParaRPr/>
          </a:p>
        </p:txBody>
      </p:sp>
      <p:sp>
        <p:nvSpPr>
          <p:cNvPr id="408" name="文本框 407" descr="{&quot;isTemplate&quot;:true,&quot;type&quot;:&quot;text&quot;}"/>
          <p:cNvSpPr txBox="1"/>
          <p:nvPr/>
        </p:nvSpPr>
        <p:spPr>
          <a:xfrm>
            <a:off x="1390650" y="4352925"/>
            <a:ext cx="258127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975">
                <a:solidFill>
                  <a:srgbClr val="30271D"/>
                </a:solidFill>
                <a:latin typeface="Segoe UI"/>
                <a:ea typeface="Segoe UI"/>
              </a:rPr>
              <a:t>A place that cannot be resolved stays "not yet located"</a:t>
            </a:r>
            <a:endParaRPr/>
          </a:p>
        </p:txBody>
      </p:sp>
      <p:sp>
        <p:nvSpPr>
          <p:cNvPr id="409" name="矩形: 圆角 408"/>
          <p:cNvSpPr/>
          <p:nvPr/>
        </p:nvSpPr>
        <p:spPr>
          <a:xfrm>
            <a:off x="4295775" y="3133725"/>
            <a:ext cx="3600450" cy="1600200"/>
          </a:xfrm>
          <a:prstGeom prst="roundRect">
            <a:avLst>
              <a:gd name="adj" fmla="val 10714"/>
            </a:avLst>
          </a:prstGeom>
          <a:solidFill>
            <a:srgbClr val="FEFCF6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10" name="矩形: 圆角 409"/>
          <p:cNvSpPr/>
          <p:nvPr/>
        </p:nvSpPr>
        <p:spPr>
          <a:xfrm>
            <a:off x="4467225" y="330517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1" name="文本框 410" descr="{&quot;isTemplate&quot;:true,&quot;type&quot;:&quot;text&quot;}"/>
          <p:cNvSpPr txBox="1"/>
          <p:nvPr/>
        </p:nvSpPr>
        <p:spPr>
          <a:xfrm>
            <a:off x="4572000" y="3362325"/>
            <a:ext cx="1143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EFCF6"/>
                </a:solidFill>
                <a:latin typeface="Georgia"/>
                <a:ea typeface="Georgia"/>
              </a:rPr>
              <a:t>5</a:t>
            </a:r>
            <a:endParaRPr/>
          </a:p>
        </p:txBody>
      </p:sp>
      <p:sp>
        <p:nvSpPr>
          <p:cNvPr id="412" name="文本框 411" descr="{&quot;isTemplate&quot;:true,&quot;type&quot;:&quot;text&quot;}"/>
          <p:cNvSpPr txBox="1"/>
          <p:nvPr/>
        </p:nvSpPr>
        <p:spPr>
          <a:xfrm>
            <a:off x="4886325" y="3343275"/>
            <a:ext cx="28384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sz="1350" b="1">
                <a:solidFill>
                  <a:srgbClr val="2D5C3B"/>
                </a:solidFill>
                <a:latin typeface="Georgia"/>
                <a:ea typeface="Georgia"/>
              </a:rPr>
              <a:t>Timestamp-linked indexing</a:t>
            </a:r>
            <a:endParaRPr/>
          </a:p>
        </p:txBody>
      </p:sp>
      <p:sp>
        <p:nvSpPr>
          <p:cNvPr id="413" name="文本框 412" descr="{&quot;isTemplate&quot;:true,&quot;type&quot;:&quot;text&quot;}"/>
          <p:cNvSpPr txBox="1"/>
          <p:nvPr/>
        </p:nvSpPr>
        <p:spPr>
          <a:xfrm>
            <a:off x="4467225" y="3724275"/>
            <a:ext cx="32575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30271D"/>
                </a:solidFill>
                <a:latin typeface="Segoe UI"/>
                <a:ea typeface="Segoe UI"/>
              </a:rPr>
              <a:t>Searchable units, each carrying the time range it came from</a:t>
            </a:r>
            <a:endParaRPr/>
          </a:p>
        </p:txBody>
      </p:sp>
      <p:sp>
        <p:nvSpPr>
          <p:cNvPr id="414" name="文本框 413" descr="{&quot;isTemplate&quot;:true,&quot;type&quot;:&quot;text&quot;}"/>
          <p:cNvSpPr txBox="1"/>
          <p:nvPr/>
        </p:nvSpPr>
        <p:spPr>
          <a:xfrm>
            <a:off x="4467225" y="4352925"/>
            <a:ext cx="6096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558863"/>
                </a:solidFill>
                <a:latin typeface="Segoe UI"/>
                <a:ea typeface="Segoe UI"/>
              </a:rPr>
              <a:t>IF IT FAILS</a:t>
            </a:r>
            <a:endParaRPr/>
          </a:p>
        </p:txBody>
      </p:sp>
      <p:sp>
        <p:nvSpPr>
          <p:cNvPr id="415" name="文本框 414" descr="{&quot;isTemplate&quot;:true,&quot;type&quot;:&quot;text&quot;}"/>
          <p:cNvSpPr txBox="1"/>
          <p:nvPr/>
        </p:nvSpPr>
        <p:spPr>
          <a:xfrm>
            <a:off x="5153025" y="4352925"/>
            <a:ext cx="25717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975">
                <a:solidFill>
                  <a:srgbClr val="30271D"/>
                </a:solidFill>
                <a:latin typeface="Segoe UI"/>
                <a:ea typeface="Segoe UI"/>
              </a:rPr>
              <a:t>Recordings over five minutes are processed in chunks</a:t>
            </a:r>
            <a:endParaRPr/>
          </a:p>
        </p:txBody>
      </p:sp>
      <p:sp>
        <p:nvSpPr>
          <p:cNvPr id="416" name="矩形: 圆角 415"/>
          <p:cNvSpPr/>
          <p:nvPr/>
        </p:nvSpPr>
        <p:spPr>
          <a:xfrm>
            <a:off x="8048625" y="3133725"/>
            <a:ext cx="3609975" cy="1600200"/>
          </a:xfrm>
          <a:prstGeom prst="roundRect">
            <a:avLst>
              <a:gd name="adj" fmla="val 10714"/>
            </a:avLst>
          </a:prstGeom>
          <a:solidFill>
            <a:srgbClr val="FEFCF6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17" name="矩形: 圆角 416"/>
          <p:cNvSpPr/>
          <p:nvPr/>
        </p:nvSpPr>
        <p:spPr>
          <a:xfrm>
            <a:off x="8220075" y="330517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8" name="文本框 417" descr="{&quot;isTemplate&quot;:true,&quot;type&quot;:&quot;text&quot;}"/>
          <p:cNvSpPr txBox="1"/>
          <p:nvPr/>
        </p:nvSpPr>
        <p:spPr>
          <a:xfrm>
            <a:off x="8324850" y="3362325"/>
            <a:ext cx="12382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EFCF6"/>
                </a:solidFill>
                <a:latin typeface="Georgia"/>
                <a:ea typeface="Georgia"/>
              </a:rPr>
              <a:t>6</a:t>
            </a:r>
            <a:endParaRPr/>
          </a:p>
        </p:txBody>
      </p:sp>
      <p:sp>
        <p:nvSpPr>
          <p:cNvPr id="419" name="文本框 418" descr="{&quot;isTemplate&quot;:true,&quot;type&quot;:&quot;text&quot;}"/>
          <p:cNvSpPr txBox="1"/>
          <p:nvPr/>
        </p:nvSpPr>
        <p:spPr>
          <a:xfrm>
            <a:off x="8639175" y="3343275"/>
            <a:ext cx="28479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sz="1350" b="1">
                <a:solidFill>
                  <a:srgbClr val="2D5C3B"/>
                </a:solidFill>
                <a:latin typeface="Georgia"/>
                <a:ea typeface="Georgia"/>
              </a:rPr>
              <a:t>Grounded question answering</a:t>
            </a:r>
            <a:endParaRPr/>
          </a:p>
        </p:txBody>
      </p:sp>
      <p:sp>
        <p:nvSpPr>
          <p:cNvPr id="420" name="文本框 419" descr="{&quot;isTemplate&quot;:true,&quot;type&quot;:&quot;text&quot;}"/>
          <p:cNvSpPr txBox="1"/>
          <p:nvPr/>
        </p:nvSpPr>
        <p:spPr>
          <a:xfrm>
            <a:off x="8220075" y="3724275"/>
            <a:ext cx="3267075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30271D"/>
                </a:solidFill>
                <a:latin typeface="Segoe UI"/>
                <a:ea typeface="Segoe UI"/>
              </a:rPr>
              <a:t>Answers restricted to the corpus, each with a playable source</a:t>
            </a:r>
            <a:endParaRPr/>
          </a:p>
        </p:txBody>
      </p:sp>
      <p:sp>
        <p:nvSpPr>
          <p:cNvPr id="421" name="文本框 420" descr="{&quot;isTemplate&quot;:true,&quot;type&quot;:&quot;text&quot;}"/>
          <p:cNvSpPr txBox="1"/>
          <p:nvPr/>
        </p:nvSpPr>
        <p:spPr>
          <a:xfrm>
            <a:off x="8220075" y="4352925"/>
            <a:ext cx="6096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558863"/>
                </a:solidFill>
                <a:latin typeface="Segoe UI"/>
                <a:ea typeface="Segoe UI"/>
              </a:rPr>
              <a:t>IF IT FAILS</a:t>
            </a:r>
            <a:endParaRPr/>
          </a:p>
        </p:txBody>
      </p:sp>
      <p:sp>
        <p:nvSpPr>
          <p:cNvPr id="422" name="文本框 421" descr="{&quot;isTemplate&quot;:true,&quot;type&quot;:&quot;text&quot;}"/>
          <p:cNvSpPr txBox="1"/>
          <p:nvPr/>
        </p:nvSpPr>
        <p:spPr>
          <a:xfrm>
            <a:off x="8905875" y="4352925"/>
            <a:ext cx="258127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975">
                <a:solidFill>
                  <a:srgbClr val="30271D"/>
                </a:solidFill>
                <a:latin typeface="Segoe UI"/>
                <a:ea typeface="Segoe UI"/>
              </a:rPr>
              <a:t>No source means the designed no-answer, not a guess</a:t>
            </a:r>
            <a:endParaRPr/>
          </a:p>
        </p:txBody>
      </p:sp>
      <p:sp>
        <p:nvSpPr>
          <p:cNvPr id="423" name="矩形: 圆角 422"/>
          <p:cNvSpPr/>
          <p:nvPr/>
        </p:nvSpPr>
        <p:spPr>
          <a:xfrm>
            <a:off x="533400" y="4886325"/>
            <a:ext cx="11125200" cy="819150"/>
          </a:xfrm>
          <a:prstGeom prst="roundRect">
            <a:avLst>
              <a:gd name="adj" fmla="val 20930"/>
            </a:avLst>
          </a:prstGeom>
          <a:solidFill>
            <a:srgbClr val="D8EF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4" name="文本框 423" descr="{&quot;isTemplate&quot;:true,&quot;type&quot;:&quot;text&quot;}"/>
          <p:cNvSpPr txBox="1"/>
          <p:nvPr/>
        </p:nvSpPr>
        <p:spPr>
          <a:xfrm>
            <a:off x="742950" y="5019675"/>
            <a:ext cx="107061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00" b="1">
                <a:solidFill>
                  <a:srgbClr val="2D5C3B"/>
                </a:solidFill>
                <a:latin typeface="Segoe UI"/>
                <a:ea typeface="Segoe UI"/>
              </a:rPr>
              <a:t>A person is inside the pipeline at four points:</a:t>
            </a:r>
            <a:r>
              <a:rPr lang="en-US" sz="1200">
                <a:solidFill>
                  <a:srgbClr val="2D5C3B"/>
                </a:solidFill>
                <a:latin typeface="Segoe UI"/>
                <a:ea typeface="Segoe UI"/>
              </a:rPr>
              <a:t> choosing the language, correcting the transcript, confirming the place, and confirming consent before the microphone opens. No stage publishes on its own.</a:t>
            </a:r>
            <a:endParaRPr/>
          </a:p>
        </p:txBody>
      </p:sp>
      <p:sp>
        <p:nvSpPr>
          <p:cNvPr id="425" name="文本框 424" descr="{&quot;isTemplate&quot;:true,&quot;type&quot;:&quot;text&quot;}"/>
          <p:cNvSpPr txBox="1"/>
          <p:nvPr/>
        </p:nvSpPr>
        <p:spPr>
          <a:xfrm>
            <a:off x="533400" y="6448425"/>
            <a:ext cx="19716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2D5C3B">
                    <a:alpha val="75000"/>
                  </a:srgbClr>
                </a:solidFill>
                <a:latin typeface="Segoe UI"/>
                <a:ea typeface="Segoe UI"/>
              </a:rPr>
              <a:t>Voices of the North · HumanLoop</a:t>
            </a:r>
            <a:endParaRPr/>
          </a:p>
        </p:txBody>
      </p:sp>
      <p:sp>
        <p:nvSpPr>
          <p:cNvPr id="426" name="文本框 425" descr="{&quot;isTemplate&quot;:true,&quot;type&quot;:&quot;text&quot;}"/>
          <p:cNvSpPr txBox="1"/>
          <p:nvPr/>
        </p:nvSpPr>
        <p:spPr>
          <a:xfrm>
            <a:off x="11239500" y="6448425"/>
            <a:ext cx="4191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2D5C3B">
                    <a:alpha val="75000"/>
                  </a:srgbClr>
                </a:solidFill>
                <a:latin typeface="Segoe UI"/>
                <a:ea typeface="Segoe UI"/>
              </a:rPr>
              <a:t>07 / 14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矩形 4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9" name="文本框 428" descr="{&quot;isTemplate&quot;:true,&quot;type&quot;:&quot;text&quot;}"/>
          <p:cNvSpPr txBox="1"/>
          <p:nvPr/>
        </p:nvSpPr>
        <p:spPr>
          <a:xfrm>
            <a:off x="533400" y="381000"/>
            <a:ext cx="11125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 spc="180">
                <a:solidFill>
                  <a:srgbClr val="558863"/>
                </a:solidFill>
                <a:latin typeface="Segoe UI"/>
                <a:ea typeface="Segoe UI"/>
              </a:rPr>
              <a:t>SYSTEM · CONFIDENCE AND ALIGNMENT</a:t>
            </a:r>
            <a:endParaRPr/>
          </a:p>
        </p:txBody>
      </p:sp>
      <p:sp>
        <p:nvSpPr>
          <p:cNvPr id="430" name="文本框 429" descr="{&quot;isTemplate&quot;:true,&quot;type&quot;:&quot;text&quot;}"/>
          <p:cNvSpPr txBox="1"/>
          <p:nvPr/>
        </p:nvSpPr>
        <p:spPr>
          <a:xfrm>
            <a:off x="533400" y="619125"/>
            <a:ext cx="111252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sz="2550" b="1">
                <a:solidFill>
                  <a:srgbClr val="2D5C3B"/>
                </a:solidFill>
                <a:latin typeface="Georgia"/>
                <a:ea typeface="Georgia"/>
              </a:rPr>
              <a:t>Every word is traceable back to the moment it was spoken</a:t>
            </a:r>
            <a:endParaRPr/>
          </a:p>
        </p:txBody>
      </p:sp>
      <p:sp>
        <p:nvSpPr>
          <p:cNvPr id="431" name="矩形 430"/>
          <p:cNvSpPr/>
          <p:nvPr/>
        </p:nvSpPr>
        <p:spPr>
          <a:xfrm>
            <a:off x="533400" y="1200150"/>
            <a:ext cx="2095500" cy="28575"/>
          </a:xfrm>
          <a:prstGeom prst="rect">
            <a:avLst/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2" name="矩形: 圆角 431"/>
          <p:cNvSpPr/>
          <p:nvPr/>
        </p:nvSpPr>
        <p:spPr>
          <a:xfrm>
            <a:off x="533400" y="1381125"/>
            <a:ext cx="5467350" cy="1676400"/>
          </a:xfrm>
          <a:prstGeom prst="roundRect">
            <a:avLst>
              <a:gd name="adj" fmla="val 10227"/>
            </a:avLst>
          </a:prstGeom>
          <a:solidFill>
            <a:srgbClr val="FEFCF6"/>
          </a:solidFill>
          <a:ln w="25400">
            <a:solidFill>
              <a:srgbClr val="A769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3" name="文本框 432" descr="{&quot;isTemplate&quot;:true,&quot;type&quot;:&quot;text&quot;}"/>
          <p:cNvSpPr txBox="1"/>
          <p:nvPr/>
        </p:nvSpPr>
        <p:spPr>
          <a:xfrm>
            <a:off x="723900" y="1666875"/>
            <a:ext cx="2105025" cy="8763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A7693C"/>
                </a:solidFill>
                <a:latin typeface="Georgia"/>
                <a:ea typeface="Georgia"/>
              </a:rPr>
              <a:t>0.94</a:t>
            </a:r>
            <a:endParaRPr/>
          </a:p>
        </p:txBody>
      </p:sp>
      <p:sp>
        <p:nvSpPr>
          <p:cNvPr id="434" name="文本框 433" descr="{&quot;isTemplate&quot;:true,&quot;type&quot;:&quot;text&quot;}"/>
          <p:cNvSpPr txBox="1"/>
          <p:nvPr/>
        </p:nvSpPr>
        <p:spPr>
          <a:xfrm>
            <a:off x="723900" y="2619375"/>
            <a:ext cx="20955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558863"/>
                </a:solidFill>
                <a:latin typeface="Segoe UI"/>
                <a:ea typeface="Segoe UI"/>
              </a:rPr>
              <a:t>sentence-level confidence</a:t>
            </a:r>
            <a:endParaRPr/>
          </a:p>
        </p:txBody>
      </p:sp>
      <p:sp>
        <p:nvSpPr>
          <p:cNvPr id="435" name="文本框 434" descr="{&quot;isTemplate&quot;:true,&quot;type&quot;:&quot;text&quot;}"/>
          <p:cNvSpPr txBox="1"/>
          <p:nvPr/>
        </p:nvSpPr>
        <p:spPr>
          <a:xfrm>
            <a:off x="3009900" y="1628775"/>
            <a:ext cx="2800350" cy="361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</a:pPr>
            <a:r>
              <a:rPr lang="zh-CN" sz="1950" b="1">
                <a:solidFill>
                  <a:srgbClr val="2D5C3B"/>
                </a:solidFill>
                <a:latin typeface="Georgia"/>
                <a:ea typeface="Georgia"/>
              </a:rPr>
              <a:t>一個示範錄音</a:t>
            </a:r>
            <a:endParaRPr/>
          </a:p>
        </p:txBody>
      </p:sp>
      <p:sp>
        <p:nvSpPr>
          <p:cNvPr id="436" name="文本框 435" descr="{&quot;isTemplate&quot;:true,&quot;type&quot;:&quot;text&quot;}"/>
          <p:cNvSpPr txBox="1"/>
          <p:nvPr/>
        </p:nvSpPr>
        <p:spPr>
          <a:xfrm>
            <a:off x="3009900" y="2066925"/>
            <a:ext cx="2800350" cy="7524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125">
                <a:solidFill>
                  <a:srgbClr val="30271D"/>
                </a:solidFill>
                <a:latin typeface="Segoe UI"/>
                <a:ea typeface="Segoe UI"/>
              </a:rPr>
              <a:t>Google Cloud Speech-to-Text returns one score for the whole recording. It is not an accuracy rate.</a:t>
            </a:r>
            <a:endParaRPr/>
          </a:p>
        </p:txBody>
      </p:sp>
      <p:sp>
        <p:nvSpPr>
          <p:cNvPr id="437" name="矩形: 圆角 436"/>
          <p:cNvSpPr/>
          <p:nvPr/>
        </p:nvSpPr>
        <p:spPr>
          <a:xfrm>
            <a:off x="6191250" y="1381125"/>
            <a:ext cx="5467350" cy="1676400"/>
          </a:xfrm>
          <a:prstGeom prst="roundRect">
            <a:avLst>
              <a:gd name="adj" fmla="val 10227"/>
            </a:avLst>
          </a:prstGeom>
          <a:solidFill>
            <a:srgbClr val="FEFCF6"/>
          </a:solidFill>
          <a:ln w="25400">
            <a:solidFill>
              <a:srgbClr val="A769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8" name="文本框 437" descr="{&quot;isTemplate&quot;:true,&quot;type&quot;:&quot;text&quot;}"/>
          <p:cNvSpPr txBox="1"/>
          <p:nvPr/>
        </p:nvSpPr>
        <p:spPr>
          <a:xfrm>
            <a:off x="6381750" y="1666875"/>
            <a:ext cx="2295525" cy="8763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A7693C"/>
                </a:solidFill>
                <a:latin typeface="Georgia"/>
                <a:ea typeface="Georgia"/>
              </a:rPr>
              <a:t>46 s</a:t>
            </a:r>
            <a:endParaRPr/>
          </a:p>
        </p:txBody>
      </p:sp>
      <p:sp>
        <p:nvSpPr>
          <p:cNvPr id="439" name="文本框 438" descr="{&quot;isTemplate&quot;:true,&quot;type&quot;:&quot;text&quot;}"/>
          <p:cNvSpPr txBox="1"/>
          <p:nvPr/>
        </p:nvSpPr>
        <p:spPr>
          <a:xfrm>
            <a:off x="6381750" y="2619375"/>
            <a:ext cx="20955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558863"/>
                </a:solidFill>
                <a:latin typeface="Segoe UI"/>
                <a:ea typeface="Segoe UI"/>
              </a:rPr>
              <a:t>role-played demo recording</a:t>
            </a:r>
            <a:endParaRPr/>
          </a:p>
        </p:txBody>
      </p:sp>
      <p:sp>
        <p:nvSpPr>
          <p:cNvPr id="440" name="文本框 439" descr="{&quot;isTemplate&quot;:true,&quot;type&quot;:&quot;text&quot;}"/>
          <p:cNvSpPr txBox="1"/>
          <p:nvPr/>
        </p:nvSpPr>
        <p:spPr>
          <a:xfrm>
            <a:off x="8667750" y="1628775"/>
            <a:ext cx="2800350" cy="361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</a:pPr>
            <a:r>
              <a:rPr lang="zh-CN" sz="1950" b="1">
                <a:solidFill>
                  <a:srgbClr val="2D5C3B"/>
                </a:solidFill>
                <a:latin typeface="Georgia"/>
                <a:ea typeface="Georgia"/>
              </a:rPr>
              <a:t>元朗 · 示範</a:t>
            </a:r>
            <a:endParaRPr/>
          </a:p>
        </p:txBody>
      </p:sp>
      <p:sp>
        <p:nvSpPr>
          <p:cNvPr id="441" name="文本框 440" descr="{&quot;isTemplate&quot;:true,&quot;type&quot;:&quot;text&quot;}"/>
          <p:cNvSpPr txBox="1"/>
          <p:nvPr/>
        </p:nvSpPr>
        <p:spPr>
          <a:xfrm>
            <a:off x="8667750" y="2066925"/>
            <a:ext cx="2800350" cy="7524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125">
                <a:solidFill>
                  <a:srgbClr val="30271D"/>
                </a:solidFill>
                <a:latin typeface="Segoe UI"/>
                <a:ea typeface="Segoe UI"/>
              </a:rPr>
              <a:t>One take, recorded for the demo. No elder's voice is used and no field interview is claimed.</a:t>
            </a:r>
            <a:endParaRPr/>
          </a:p>
        </p:txBody>
      </p:sp>
      <p:sp>
        <p:nvSpPr>
          <p:cNvPr id="442" name="矩形: 圆角 441"/>
          <p:cNvSpPr/>
          <p:nvPr/>
        </p:nvSpPr>
        <p:spPr>
          <a:xfrm>
            <a:off x="533400" y="3209925"/>
            <a:ext cx="11125200" cy="1676400"/>
          </a:xfrm>
          <a:prstGeom prst="roundRect">
            <a:avLst>
              <a:gd name="adj" fmla="val 10227"/>
            </a:avLst>
          </a:prstGeom>
          <a:solidFill>
            <a:srgbClr val="FEFCF6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43" name="文本框 442" descr="{&quot;isTemplate&quot;:true,&quot;type&quot;:&quot;text&quot;}"/>
          <p:cNvSpPr txBox="1"/>
          <p:nvPr/>
        </p:nvSpPr>
        <p:spPr>
          <a:xfrm>
            <a:off x="723900" y="3400425"/>
            <a:ext cx="22098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558863"/>
                </a:solidFill>
                <a:latin typeface="Segoe UI"/>
                <a:ea typeface="Segoe UI"/>
              </a:rPr>
              <a:t>WORD-LEVEL ACOUSTIC ALIGNMENT</a:t>
            </a:r>
            <a:endParaRPr/>
          </a:p>
        </p:txBody>
      </p:sp>
      <p:sp>
        <p:nvSpPr>
          <p:cNvPr id="444" name="文本框 443" descr="{&quot;isTemplate&quot;:true,&quot;type&quot;:&quot;text&quot;}"/>
          <p:cNvSpPr txBox="1"/>
          <p:nvPr/>
        </p:nvSpPr>
        <p:spPr>
          <a:xfrm>
            <a:off x="9458325" y="3400425"/>
            <a:ext cx="20097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558863"/>
                </a:solidFill>
                <a:latin typeface="Segoe UI"/>
                <a:ea typeface="Segoe UI"/>
              </a:rPr>
              <a:t>One bar = one word, timestamped</a:t>
            </a:r>
            <a:endParaRPr/>
          </a:p>
        </p:txBody>
      </p:sp>
      <p:pic>
        <p:nvPicPr>
          <p:cNvPr id="445" name="图形 44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3648075"/>
            <a:ext cx="10668000" cy="952500"/>
          </a:xfrm>
          <a:prstGeom prst="rect">
            <a:avLst/>
          </a:prstGeom>
          <a:ln/>
        </p:spPr>
      </p:pic>
      <p:sp>
        <p:nvSpPr>
          <p:cNvPr id="446" name="矩形: 圆角 445"/>
          <p:cNvSpPr/>
          <p:nvPr/>
        </p:nvSpPr>
        <p:spPr>
          <a:xfrm>
            <a:off x="533400" y="5038725"/>
            <a:ext cx="11125200" cy="1162050"/>
          </a:xfrm>
          <a:prstGeom prst="roundRect">
            <a:avLst>
              <a:gd name="adj" fmla="val 14754"/>
            </a:avLst>
          </a:prstGeom>
          <a:solidFill>
            <a:srgbClr val="2D5C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7" name="文本框 446" descr="{&quot;isTemplate&quot;:true,&quot;type&quot;:&quot;text&quot;}"/>
          <p:cNvSpPr txBox="1"/>
          <p:nvPr/>
        </p:nvSpPr>
        <p:spPr>
          <a:xfrm>
            <a:off x="762000" y="5238750"/>
            <a:ext cx="106680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D8EFDD"/>
                </a:solidFill>
                <a:latin typeface="Segoe UI"/>
                <a:ea typeface="Segoe UI"/>
              </a:rPr>
              <a:t>THE BOUNDARY WE HOLD</a:t>
            </a:r>
            <a:endParaRPr/>
          </a:p>
        </p:txBody>
      </p:sp>
      <p:sp>
        <p:nvSpPr>
          <p:cNvPr id="448" name="文本框 447" descr="{&quot;isTemplate&quot;:true,&quot;type&quot;:&quot;text&quot;}"/>
          <p:cNvSpPr txBox="1"/>
          <p:nvPr/>
        </p:nvSpPr>
        <p:spPr>
          <a:xfrm>
            <a:off x="762000" y="5448300"/>
            <a:ext cx="106680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00">
                <a:solidFill>
                  <a:srgbClr val="FEFCF6"/>
                </a:solidFill>
                <a:latin typeface="Segoe UI"/>
                <a:ea typeface="Segoe UI"/>
              </a:rPr>
              <a:t>0.94 is sentence-level confidence from one 46-second role-played demo recording — not an accuracy rate, and not a separate per-word score. We quote no Cantonese accuracy figure we have not measured.</a:t>
            </a:r>
            <a:endParaRPr/>
          </a:p>
        </p:txBody>
      </p:sp>
      <p:sp>
        <p:nvSpPr>
          <p:cNvPr id="449" name="文本框 448" descr="{&quot;isTemplate&quot;:true,&quot;type&quot;:&quot;text&quot;}"/>
          <p:cNvSpPr txBox="1"/>
          <p:nvPr/>
        </p:nvSpPr>
        <p:spPr>
          <a:xfrm>
            <a:off x="533400" y="6448425"/>
            <a:ext cx="19716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2D5C3B">
                    <a:alpha val="75000"/>
                  </a:srgbClr>
                </a:solidFill>
                <a:latin typeface="Segoe UI"/>
                <a:ea typeface="Segoe UI"/>
              </a:rPr>
              <a:t>Voices of the North · HumanLoop</a:t>
            </a:r>
            <a:endParaRPr/>
          </a:p>
        </p:txBody>
      </p:sp>
      <p:sp>
        <p:nvSpPr>
          <p:cNvPr id="450" name="文本框 449" descr="{&quot;isTemplate&quot;:true,&quot;type&quot;:&quot;text&quot;}"/>
          <p:cNvSpPr txBox="1"/>
          <p:nvPr/>
        </p:nvSpPr>
        <p:spPr>
          <a:xfrm>
            <a:off x="11239500" y="6448425"/>
            <a:ext cx="4191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2D5C3B">
                    <a:alpha val="75000"/>
                  </a:srgbClr>
                </a:solidFill>
                <a:latin typeface="Segoe UI"/>
                <a:ea typeface="Segoe UI"/>
              </a:rPr>
              <a:t>08 / 14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矩形 45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3" name="文本框 452" descr="{&quot;isTemplate&quot;:true,&quot;type&quot;:&quot;text&quot;}"/>
          <p:cNvSpPr txBox="1"/>
          <p:nvPr/>
        </p:nvSpPr>
        <p:spPr>
          <a:xfrm>
            <a:off x="533400" y="381000"/>
            <a:ext cx="11125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 spc="180">
                <a:solidFill>
                  <a:srgbClr val="558863"/>
                </a:solidFill>
                <a:latin typeface="Segoe UI"/>
                <a:ea typeface="Segoe UI"/>
              </a:rPr>
              <a:t>SYSTEM · GROUNDING AND PRIVACY</a:t>
            </a:r>
            <a:endParaRPr/>
          </a:p>
        </p:txBody>
      </p:sp>
      <p:sp>
        <p:nvSpPr>
          <p:cNvPr id="454" name="文本框 453" descr="{&quot;isTemplate&quot;:true,&quot;type&quot;:&quot;text&quot;}"/>
          <p:cNvSpPr txBox="1"/>
          <p:nvPr/>
        </p:nvSpPr>
        <p:spPr>
          <a:xfrm>
            <a:off x="533400" y="619125"/>
            <a:ext cx="111252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sz="2550" b="1">
                <a:solidFill>
                  <a:srgbClr val="2D5C3B"/>
                </a:solidFill>
                <a:latin typeface="Georgia"/>
                <a:ea typeface="Georgia"/>
              </a:rPr>
              <a:t>Grounded by construction, not by good intentions</a:t>
            </a:r>
            <a:endParaRPr/>
          </a:p>
        </p:txBody>
      </p:sp>
      <p:sp>
        <p:nvSpPr>
          <p:cNvPr id="455" name="矩形 454"/>
          <p:cNvSpPr/>
          <p:nvPr/>
        </p:nvSpPr>
        <p:spPr>
          <a:xfrm>
            <a:off x="533400" y="1200150"/>
            <a:ext cx="2095500" cy="28575"/>
          </a:xfrm>
          <a:prstGeom prst="rect">
            <a:avLst/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6" name="矩形: 圆角 455"/>
          <p:cNvSpPr/>
          <p:nvPr/>
        </p:nvSpPr>
        <p:spPr>
          <a:xfrm>
            <a:off x="533400" y="1381125"/>
            <a:ext cx="7086600" cy="2247900"/>
          </a:xfrm>
          <a:prstGeom prst="roundRect">
            <a:avLst>
              <a:gd name="adj" fmla="val 7627"/>
            </a:avLst>
          </a:prstGeom>
          <a:solidFill>
            <a:srgbClr val="FEFCF6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57" name="文本框 456" descr="{&quot;isTemplate&quot;:true,&quot;type&quot;:&quot;text&quot;}"/>
          <p:cNvSpPr txBox="1"/>
          <p:nvPr/>
        </p:nvSpPr>
        <p:spPr>
          <a:xfrm>
            <a:off x="704850" y="1552575"/>
            <a:ext cx="67437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558863"/>
                </a:solidFill>
                <a:latin typeface="Segoe UI"/>
                <a:ea typeface="Segoe UI"/>
              </a:rPr>
              <a:t>HOW AN ANSWER IS PRODUCED</a:t>
            </a:r>
            <a:endParaRPr/>
          </a:p>
        </p:txBody>
      </p:sp>
      <p:pic>
        <p:nvPicPr>
          <p:cNvPr id="458" name="图形 45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4850" y="1762125"/>
            <a:ext cx="6743700" cy="1638300"/>
          </a:xfrm>
          <a:prstGeom prst="rect">
            <a:avLst/>
          </a:prstGeom>
          <a:ln/>
        </p:spPr>
      </p:pic>
      <p:sp>
        <p:nvSpPr>
          <p:cNvPr id="459" name="矩形: 圆角 458"/>
          <p:cNvSpPr/>
          <p:nvPr/>
        </p:nvSpPr>
        <p:spPr>
          <a:xfrm>
            <a:off x="533400" y="3781425"/>
            <a:ext cx="7086600" cy="2305050"/>
          </a:xfrm>
          <a:prstGeom prst="roundRect">
            <a:avLst>
              <a:gd name="adj" fmla="val 7438"/>
            </a:avLst>
          </a:prstGeom>
          <a:solidFill>
            <a:srgbClr val="FEFCF6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60" name="文本框 459" descr="{&quot;isTemplate&quot;:true,&quot;type&quot;:&quot;text&quot;}"/>
          <p:cNvSpPr txBox="1"/>
          <p:nvPr/>
        </p:nvSpPr>
        <p:spPr>
          <a:xfrm>
            <a:off x="704850" y="3952875"/>
            <a:ext cx="67437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558863"/>
                </a:solidFill>
                <a:latin typeface="Segoe UI"/>
                <a:ea typeface="Segoe UI"/>
              </a:rPr>
              <a:t>WHO CAN HEAR A STORY — INTERFACE ONLY</a:t>
            </a:r>
            <a:endParaRPr/>
          </a:p>
        </p:txBody>
      </p:sp>
      <p:sp>
        <p:nvSpPr>
          <p:cNvPr id="461" name="矩形: 圆角 460"/>
          <p:cNvSpPr/>
          <p:nvPr/>
        </p:nvSpPr>
        <p:spPr>
          <a:xfrm>
            <a:off x="704850" y="4200525"/>
            <a:ext cx="6743700" cy="361950"/>
          </a:xfrm>
          <a:prstGeom prst="roundRect">
            <a:avLst>
              <a:gd name="adj" fmla="val 31579"/>
            </a:avLst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2" name="文本框 461" descr="{&quot;isTemplate&quot;:true,&quot;type&quot;:&quot;text&quot;}"/>
          <p:cNvSpPr txBox="1"/>
          <p:nvPr/>
        </p:nvSpPr>
        <p:spPr>
          <a:xfrm>
            <a:off x="838200" y="4286250"/>
            <a:ext cx="10477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EFCF6"/>
                </a:solidFill>
                <a:latin typeface="Georgia"/>
                <a:ea typeface="Georgia"/>
              </a:rPr>
              <a:t>Private</a:t>
            </a:r>
            <a:endParaRPr/>
          </a:p>
        </p:txBody>
      </p:sp>
      <p:sp>
        <p:nvSpPr>
          <p:cNvPr id="463" name="文本框 462" descr="{&quot;isTemplate&quot;:true,&quot;type&quot;:&quot;text&quot;}"/>
          <p:cNvSpPr txBox="1"/>
          <p:nvPr/>
        </p:nvSpPr>
        <p:spPr>
          <a:xfrm>
            <a:off x="2019300" y="4305300"/>
            <a:ext cx="47244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EFCF6"/>
                </a:solidFill>
                <a:latin typeface="Segoe UI"/>
                <a:ea typeface="Segoe UI"/>
              </a:rPr>
              <a:t>Only the storyteller</a:t>
            </a:r>
            <a:endParaRPr/>
          </a:p>
        </p:txBody>
      </p:sp>
      <p:sp>
        <p:nvSpPr>
          <p:cNvPr id="464" name="文本框 463" descr="{&quot;isTemplate&quot;:true,&quot;type&quot;:&quot;text&quot;}"/>
          <p:cNvSpPr txBox="1"/>
          <p:nvPr/>
        </p:nvSpPr>
        <p:spPr>
          <a:xfrm>
            <a:off x="6877050" y="4305300"/>
            <a:ext cx="4381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EFCF6"/>
                </a:solidFill>
                <a:latin typeface="Segoe UI"/>
                <a:ea typeface="Segoe UI"/>
              </a:rPr>
              <a:t>Default</a:t>
            </a:r>
            <a:endParaRPr/>
          </a:p>
        </p:txBody>
      </p:sp>
      <p:sp>
        <p:nvSpPr>
          <p:cNvPr id="465" name="矩形: 圆角 464"/>
          <p:cNvSpPr/>
          <p:nvPr/>
        </p:nvSpPr>
        <p:spPr>
          <a:xfrm>
            <a:off x="704850" y="4619625"/>
            <a:ext cx="6743700" cy="361950"/>
          </a:xfrm>
          <a:prstGeom prst="roundRect">
            <a:avLst>
              <a:gd name="adj" fmla="val 31579"/>
            </a:avLst>
          </a:prstGeom>
          <a:solidFill>
            <a:srgbClr val="F6F1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6" name="文本框 465" descr="{&quot;isTemplate&quot;:true,&quot;type&quot;:&quot;text&quot;}"/>
          <p:cNvSpPr txBox="1"/>
          <p:nvPr/>
        </p:nvSpPr>
        <p:spPr>
          <a:xfrm>
            <a:off x="838200" y="4705350"/>
            <a:ext cx="10477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D5C3B"/>
                </a:solidFill>
                <a:latin typeface="Georgia"/>
                <a:ea typeface="Georgia"/>
              </a:rPr>
              <a:t>Family</a:t>
            </a:r>
            <a:endParaRPr/>
          </a:p>
        </p:txBody>
      </p:sp>
      <p:sp>
        <p:nvSpPr>
          <p:cNvPr id="467" name="文本框 466" descr="{&quot;isTemplate&quot;:true,&quot;type&quot;:&quot;text&quot;}"/>
          <p:cNvSpPr txBox="1"/>
          <p:nvPr/>
        </p:nvSpPr>
        <p:spPr>
          <a:xfrm>
            <a:off x="2019300" y="4724400"/>
            <a:ext cx="50387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30271D"/>
                </a:solidFill>
                <a:latin typeface="Segoe UI"/>
                <a:ea typeface="Segoe UI"/>
              </a:rPr>
              <a:t>Family members</a:t>
            </a:r>
            <a:endParaRPr/>
          </a:p>
        </p:txBody>
      </p:sp>
      <p:sp>
        <p:nvSpPr>
          <p:cNvPr id="468" name="文本框 467" descr="{&quot;isTemplate&quot;:true,&quot;type&quot;:&quot;text&quot;}"/>
          <p:cNvSpPr txBox="1"/>
          <p:nvPr/>
        </p:nvSpPr>
        <p:spPr>
          <a:xfrm>
            <a:off x="7191375" y="4724400"/>
            <a:ext cx="1238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975" b="1">
                <a:solidFill>
                  <a:srgbClr val="558863"/>
                </a:solidFill>
                <a:latin typeface="Segoe UI"/>
                <a:ea typeface="Segoe UI"/>
              </a:rPr>
              <a:t>—</a:t>
            </a:r>
            <a:endParaRPr/>
          </a:p>
        </p:txBody>
      </p:sp>
      <p:sp>
        <p:nvSpPr>
          <p:cNvPr id="469" name="矩形: 圆角 468"/>
          <p:cNvSpPr/>
          <p:nvPr/>
        </p:nvSpPr>
        <p:spPr>
          <a:xfrm>
            <a:off x="704850" y="5038725"/>
            <a:ext cx="6743700" cy="361950"/>
          </a:xfrm>
          <a:prstGeom prst="roundRect">
            <a:avLst>
              <a:gd name="adj" fmla="val 31579"/>
            </a:avLst>
          </a:prstGeom>
          <a:solidFill>
            <a:srgbClr val="F6F1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0" name="文本框 469" descr="{&quot;isTemplate&quot;:true,&quot;type&quot;:&quot;text&quot;}"/>
          <p:cNvSpPr txBox="1"/>
          <p:nvPr/>
        </p:nvSpPr>
        <p:spPr>
          <a:xfrm>
            <a:off x="838200" y="5124450"/>
            <a:ext cx="10477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D5C3B"/>
                </a:solidFill>
                <a:latin typeface="Georgia"/>
                <a:ea typeface="Georgia"/>
              </a:rPr>
              <a:t>Community</a:t>
            </a:r>
            <a:endParaRPr/>
          </a:p>
        </p:txBody>
      </p:sp>
      <p:sp>
        <p:nvSpPr>
          <p:cNvPr id="471" name="文本框 470" descr="{&quot;isTemplate&quot;:true,&quot;type&quot;:&quot;text&quot;}"/>
          <p:cNvSpPr txBox="1"/>
          <p:nvPr/>
        </p:nvSpPr>
        <p:spPr>
          <a:xfrm>
            <a:off x="2019300" y="5143500"/>
            <a:ext cx="50387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30271D"/>
                </a:solidFill>
                <a:latin typeface="Segoe UI"/>
                <a:ea typeface="Segoe UI"/>
              </a:rPr>
              <a:t>Community groups and schools</a:t>
            </a:r>
            <a:endParaRPr/>
          </a:p>
        </p:txBody>
      </p:sp>
      <p:sp>
        <p:nvSpPr>
          <p:cNvPr id="472" name="文本框 471" descr="{&quot;isTemplate&quot;:true,&quot;type&quot;:&quot;text&quot;}"/>
          <p:cNvSpPr txBox="1"/>
          <p:nvPr/>
        </p:nvSpPr>
        <p:spPr>
          <a:xfrm>
            <a:off x="7191375" y="5143500"/>
            <a:ext cx="1238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975" b="1">
                <a:solidFill>
                  <a:srgbClr val="558863"/>
                </a:solidFill>
                <a:latin typeface="Segoe UI"/>
                <a:ea typeface="Segoe UI"/>
              </a:rPr>
              <a:t>—</a:t>
            </a:r>
            <a:endParaRPr/>
          </a:p>
        </p:txBody>
      </p:sp>
      <p:sp>
        <p:nvSpPr>
          <p:cNvPr id="473" name="矩形: 圆角 472"/>
          <p:cNvSpPr/>
          <p:nvPr/>
        </p:nvSpPr>
        <p:spPr>
          <a:xfrm>
            <a:off x="704850" y="5457825"/>
            <a:ext cx="6743700" cy="361950"/>
          </a:xfrm>
          <a:prstGeom prst="roundRect">
            <a:avLst>
              <a:gd name="adj" fmla="val 31579"/>
            </a:avLst>
          </a:prstGeom>
          <a:solidFill>
            <a:srgbClr val="F6F1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4" name="文本框 473" descr="{&quot;isTemplate&quot;:true,&quot;type&quot;:&quot;text&quot;}"/>
          <p:cNvSpPr txBox="1"/>
          <p:nvPr/>
        </p:nvSpPr>
        <p:spPr>
          <a:xfrm>
            <a:off x="838200" y="5543550"/>
            <a:ext cx="10477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D5C3B"/>
                </a:solidFill>
                <a:latin typeface="Georgia"/>
                <a:ea typeface="Georgia"/>
              </a:rPr>
              <a:t>Public</a:t>
            </a:r>
            <a:endParaRPr/>
          </a:p>
        </p:txBody>
      </p:sp>
      <p:sp>
        <p:nvSpPr>
          <p:cNvPr id="475" name="文本框 474" descr="{&quot;isTemplate&quot;:true,&quot;type&quot;:&quot;text&quot;}"/>
          <p:cNvSpPr txBox="1"/>
          <p:nvPr/>
        </p:nvSpPr>
        <p:spPr>
          <a:xfrm>
            <a:off x="2019300" y="5562600"/>
            <a:ext cx="50387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30271D"/>
                </a:solidFill>
                <a:latin typeface="Segoe UI"/>
                <a:ea typeface="Segoe UI"/>
              </a:rPr>
              <a:t>Everyone, including visitors</a:t>
            </a:r>
            <a:endParaRPr/>
          </a:p>
        </p:txBody>
      </p:sp>
      <p:sp>
        <p:nvSpPr>
          <p:cNvPr id="476" name="文本框 475" descr="{&quot;isTemplate&quot;:true,&quot;type&quot;:&quot;text&quot;}"/>
          <p:cNvSpPr txBox="1"/>
          <p:nvPr/>
        </p:nvSpPr>
        <p:spPr>
          <a:xfrm>
            <a:off x="7191375" y="5562600"/>
            <a:ext cx="1238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975" b="1">
                <a:solidFill>
                  <a:srgbClr val="558863"/>
                </a:solidFill>
                <a:latin typeface="Segoe UI"/>
                <a:ea typeface="Segoe UI"/>
              </a:rPr>
              <a:t>—</a:t>
            </a:r>
            <a:endParaRPr/>
          </a:p>
        </p:txBody>
      </p:sp>
      <p:sp>
        <p:nvSpPr>
          <p:cNvPr id="477" name="文本框 476" descr="{&quot;isTemplate&quot;:true,&quot;type&quot;:&quot;text&quot;}"/>
          <p:cNvSpPr txBox="1"/>
          <p:nvPr/>
        </p:nvSpPr>
        <p:spPr>
          <a:xfrm>
            <a:off x="704850" y="5934075"/>
            <a:ext cx="67437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30271D"/>
                </a:solidFill>
                <a:latin typeface="Segoe UI"/>
                <a:ea typeface="Segoe UI"/>
              </a:rPr>
              <a:t>The build already renders Leaflet with OpenStreetMap tiles, and draws only a village-level fuzzy circle of roughly 800 m — there is no GPS pin anywhere in the app. The basemap licence must still be verified before launch.</a:t>
            </a:r>
            <a:endParaRPr/>
          </a:p>
        </p:txBody>
      </p:sp>
      <p:sp>
        <p:nvSpPr>
          <p:cNvPr id="478" name="矩形: 圆角 477"/>
          <p:cNvSpPr/>
          <p:nvPr/>
        </p:nvSpPr>
        <p:spPr>
          <a:xfrm>
            <a:off x="7848600" y="1381125"/>
            <a:ext cx="3810000" cy="4048125"/>
          </a:xfrm>
          <a:prstGeom prst="roundRect">
            <a:avLst>
              <a:gd name="adj" fmla="val 4500"/>
            </a:avLst>
          </a:prstGeom>
          <a:solidFill>
            <a:srgbClr val="FEFCF6"/>
          </a:solidFill>
          <a:ln/>
          <a:effectLst>
            <a:outerShdw blurRad="209550" dist="57150" dir="540000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479" name="图片 478"/>
          <p:cNvPicPr>
            <a:picLocks noChangeAspect="1"/>
          </p:cNvPicPr>
          <p:nvPr/>
        </p:nvPicPr>
        <p:blipFill>
          <a:blip r:embed="rId3"/>
          <a:srcRect l="135" r="135"/>
          <a:stretch>
            <a:fillRect/>
          </a:stretch>
        </p:blipFill>
        <p:spPr>
          <a:xfrm>
            <a:off x="7924800" y="1457325"/>
            <a:ext cx="3657600" cy="3895725"/>
          </a:xfrm>
          <a:prstGeom prst="roundRect">
            <a:avLst>
              <a:gd name="adj" fmla="val 3646"/>
            </a:avLst>
          </a:prstGeom>
          <a:ln/>
        </p:spPr>
      </p:pic>
      <p:sp>
        <p:nvSpPr>
          <p:cNvPr id="480" name="文本框 479" descr="{&quot;isTemplate&quot;:true,&quot;type&quot;:&quot;text&quot;}"/>
          <p:cNvSpPr txBox="1"/>
          <p:nvPr/>
        </p:nvSpPr>
        <p:spPr>
          <a:xfrm>
            <a:off x="7848600" y="5524500"/>
            <a:ext cx="3810000" cy="4572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050">
                <a:solidFill>
                  <a:srgbClr val="558863"/>
                </a:solidFill>
                <a:latin typeface="Segoe UI"/>
                <a:ea typeface="Segoe UI"/>
              </a:rPr>
              <a:t>No permanent server storage: recordings are processed, not archived. A failed take may stay in the user's browser until it is removed.</a:t>
            </a:r>
            <a:endParaRPr/>
          </a:p>
        </p:txBody>
      </p:sp>
      <p:sp>
        <p:nvSpPr>
          <p:cNvPr id="481" name="文本框 480" descr="{&quot;isTemplate&quot;:true,&quot;type&quot;:&quot;text&quot;}"/>
          <p:cNvSpPr txBox="1"/>
          <p:nvPr/>
        </p:nvSpPr>
        <p:spPr>
          <a:xfrm>
            <a:off x="533400" y="6448425"/>
            <a:ext cx="19716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2D5C3B">
                    <a:alpha val="75000"/>
                  </a:srgbClr>
                </a:solidFill>
                <a:latin typeface="Segoe UI"/>
                <a:ea typeface="Segoe UI"/>
              </a:rPr>
              <a:t>Voices of the North · HumanLoop</a:t>
            </a:r>
            <a:endParaRPr/>
          </a:p>
        </p:txBody>
      </p:sp>
      <p:sp>
        <p:nvSpPr>
          <p:cNvPr id="482" name="文本框 481" descr="{&quot;isTemplate&quot;:true,&quot;type&quot;:&quot;text&quot;}"/>
          <p:cNvSpPr txBox="1"/>
          <p:nvPr/>
        </p:nvSpPr>
        <p:spPr>
          <a:xfrm>
            <a:off x="11239500" y="6448425"/>
            <a:ext cx="4191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2D5C3B">
                    <a:alpha val="75000"/>
                  </a:srgbClr>
                </a:solidFill>
                <a:latin typeface="Segoe UI"/>
                <a:ea typeface="Segoe UI"/>
              </a:rPr>
              <a:t>09 / 14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const strip = [&#10;    { n: '01', s: 'Boris records 51 seconds of Cantonese on Screen 1.' },&#10;    { n: '02', s: 'Two words return low-confidence and are corrected, not overwritten.' },&#10;    { n: '03', s: 'Privacy tiers are not built yet — the default stays Private.' },&#10;    { n: '04', s: 'The card shows three labelled versions and a village-level fuzzy place.' },&#10;    { n: '05', s: 'Three sourced answers come back, and one honest blank.' },&#10;];&#10;&#10;&lt;Slide style={{ width: '1280px', height: '720px', background: '#F6F1E7', padding: 0, position: 'relative' }}&gt;&#10;    &lt;Box style={{ marginLeft: 56, marginRight: 56, marginTop: 40 }}&gt;&#10;        &lt;Text style={{ fontFamily: 'Segoe UI', fontSize: 14, fontWeight: 600, letterSpacing: 2.4, color: '#558863' }}&gt;&#10;            DEMO · WALKTHROUGH&#10;        &lt;/Text&gt;&#10;        &lt;Text style={{ fontFamily: 'Georgia', fontSize: 34, fontWeight: 'bold', color: '#2D5C3B', marginTop: 8, lineHeight: 1.25 }}&gt;&#10;            One story, end to end: 元朗村落晨光與魚塘回憶&#10;        &lt;/Text&gt;&#10;        &lt;Box style={{ width: 220, height: 3, background: '#558863', marginTop: 10 }} /&gt;&#10;    &lt;/Box&gt;&#10;&#10;    &lt;Box style={{ marginLeft: 56, marginRight: 56, marginTop: 16, flexDirection: 'row', gap: 24 }}&gt;&#10;        &lt;Box style={{ width: 642, flexDirection: 'row', gap: 14 }}&gt;&#10;            {[&#10;                { f: 'assets/screens/screen_record.png', c: '01 · Record' },&#10;                { f: 'assets/screens/screen_transcript.png', c: '02 · Review' },&#10;                { f: 'assets/screens/screen_story.jpg', c: '03 · Story card' },&#10;                { f: 'assets/screens/screen_ask.png', c: '04 · Ask' },&#10;            ].map((p, i) =&gt; (&#10;                &lt;Box key={i} style={{ width: 150 }}&gt;&#10;                    &lt;Box style={{ width: 150, height: 296, background: '#FEFCF6', borderRadius: 16, padding: 5, boxShadow: '0 5px 18px rgba(0,0,0,0.09)' }}&gt;&#10;                        &lt;Image src={p.f} style={{ width: 140, height: 286, objectFit: 'contain', borderRadius: 12 }} /&gt;&#10;                    &lt;/Box&gt;&#10;                    &lt;Text style={{ fontFamily: 'Segoe UI', fontSize: 13, color: '#558863', marginTop: 8, textAlign: 'center' }}&gt;{p.c}&lt;/Text&gt;&#10;                &lt;/Box&gt;&#10;            ))}&#10;        &lt;/Box&gt;&#10;&#10;        &lt;Box style={{ flex: 1, height: 320, border: '2px solid #D8EFDD', borderRadius: 18, background: '#FEFCF6', padding: 18, alignItems: 'center', justifyContent: 'space-between' }}&gt;&#10;            &lt;Text style={{ fontFamily: 'Segoe UI', fontSize: 13, fontWeight: 600, letterSpacing: 1.6, color: '#558863' }}&gt;TRY THE WORKING BUILD&lt;/Text&gt;&#10;            &lt;Box style={{ width: 170, height: 170, background: '#FFFFFF', borderRadius: 12, padding: 8, boxShadow: '0 3px 14px rgba(0,0,0,0.08)' }}&gt;&#10;                &lt;Image src='assets/demo_qr.png' style={{ width: 154, height: 154, objectFit: 'contain' }} /&gt;&#10;            &lt;/Box&gt;&#10;            &lt;Box style={{ alignItems: 'center' }}&gt;&#10;                &lt;Text style={{ fontFamily: 'Segoe UI', fontSize: 15, fontWeight: 600, color: '#2D5C3B' }}&gt;掃碼開啟演示 · Scan to open the demo&lt;/Text&gt;&#10;                &lt;Box style={{ marginTop: 6, background: '#F1EBDC', borderRadius: 999, paddingLeft: 16, paddingRight: 16, paddingTop: 5, paddingBottom: 5 }}&gt;&#10;                    &lt;Text style={{ fontFamily: 'Segoe UI', fontSize: 14, color: '#2D5C3B' }}&gt;example.com/voices-of-the-north&lt;/Text&gt;&#10;                &lt;/Box&gt;&#10;            &lt;/Box&gt;&#10;        &lt;/Box&gt;&#10;    &lt;/Box&gt;&#10;&#10;    &lt;Box style={{ marginLeft: 56, marginRight: 56, marginTop: 16, height: 150, background: '#FEFCF6', borderRadius: 18, padding: 18, boxShadow: '0 4px 20px rgba(0,0,0,0.06)' }}&gt;&#10;        &lt;Text style={{ fontFamily: 'Segoe UI', fontSize: 13, fontWeight: 600, letterSpacing: 1.6, color: '#558863' }}&gt;WHAT HAPPENS, IN ORDER&lt;/Text&gt;&#10;        &lt;Box style={{ flexDirection: 'row', gap: 14, marginTop: 12 }}&gt;&#10;            {strip.map((s, i) =&gt; (&#10;                &lt;Box key={i} style={{ flex: 1 }}&gt;&#10;                    &lt;Text style={{ fontFamily: 'Georgia', fontSize: 22, fontWeight: 'bold', color: '#558863', lineHeight: 1 }}&gt;{s.n}&lt;/Text&gt;&#10;                    &lt;Text style={{ fontFamily: 'Segoe UI', fontSize: 14, color: '#30271D', lineHeight: 1.45, marginTop: 8 }}&gt;{s.s}&lt;/Text&gt;&#10;                &lt;/Box&gt;&#10;            ))}&#10;        &lt;/Box&gt;&#10;    &lt;/Box&gt;&#10;&#10;    &lt;Box style={{ position: 'absolute', left: 56, right: 56, bottom: 26, flexDirection: 'row', justifyContent: 'space-between', alignItems: 'center' }}&gt;&#10;        &lt;Text style={{ fontFamily: 'Segoe UI', fontSize: 14, color: '#2D5C3B', opacity: 0.75 }}&gt;&#10;            Role-played recording · consent verified 29 Sep 2026 · 51 seconds&#10;        &lt;/Text&gt;&#10;        &lt;Text style={{ fontFamily: 'Segoe UI', fontSize: 14, color: '#2D5C3B', opacity: 0.75 }}&gt;10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文本框 18" descr="{&quot;isTemplate&quot;:true,&quot;type&quot;:&quot;text&quot;}"/>
          <p:cNvSpPr txBox="1"/>
          <p:nvPr/>
        </p:nvSpPr>
        <p:spPr>
          <a:xfrm>
            <a:off x="533400" y="381000"/>
            <a:ext cx="11125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 spc="180">
                <a:solidFill>
                  <a:srgbClr val="558863"/>
                </a:solidFill>
                <a:latin typeface="Segoe UI"/>
                <a:ea typeface="Segoe UI"/>
              </a:rPr>
              <a:t>DEMO · WALKTHROUGH</a:t>
            </a:r>
            <a:endParaRPr/>
          </a:p>
        </p:txBody>
      </p:sp>
      <p:sp>
        <p:nvSpPr>
          <p:cNvPr id="20" name="文本框 19" descr="{&quot;isTemplate&quot;:true,&quot;type&quot;:&quot;text&quot;}"/>
          <p:cNvSpPr txBox="1"/>
          <p:nvPr/>
        </p:nvSpPr>
        <p:spPr>
          <a:xfrm>
            <a:off x="533400" y="619125"/>
            <a:ext cx="111252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sz="2550" b="1">
                <a:solidFill>
                  <a:srgbClr val="2D5C3B"/>
                </a:solidFill>
                <a:latin typeface="Georgia"/>
                <a:ea typeface="Georgia"/>
              </a:rPr>
              <a:t>One story, end to end: </a:t>
            </a:r>
            <a:r>
              <a:rPr lang="zh-CN" sz="2550" b="1">
                <a:solidFill>
                  <a:srgbClr val="2D5C3B"/>
                </a:solidFill>
                <a:latin typeface="Georgia"/>
                <a:ea typeface="Georgia"/>
              </a:rPr>
              <a:t>元朗村落晨光與魚塘回憶</a:t>
            </a:r>
            <a:endParaRPr/>
          </a:p>
        </p:txBody>
      </p:sp>
      <p:sp>
        <p:nvSpPr>
          <p:cNvPr id="21" name="矩形 20"/>
          <p:cNvSpPr/>
          <p:nvPr/>
        </p:nvSpPr>
        <p:spPr>
          <a:xfrm>
            <a:off x="533400" y="1200150"/>
            <a:ext cx="2095500" cy="28575"/>
          </a:xfrm>
          <a:prstGeom prst="rect">
            <a:avLst/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矩形: 圆角 21"/>
          <p:cNvSpPr/>
          <p:nvPr/>
        </p:nvSpPr>
        <p:spPr>
          <a:xfrm>
            <a:off x="533400" y="1381125"/>
            <a:ext cx="1428750" cy="2819400"/>
          </a:xfrm>
          <a:prstGeom prst="roundRect">
            <a:avLst>
              <a:gd name="adj" fmla="val 10667"/>
            </a:avLst>
          </a:prstGeom>
          <a:solidFill>
            <a:srgbClr val="FEFCF6"/>
          </a:solidFill>
          <a:ln/>
          <a:effectLst>
            <a:outerShdw blurRad="171450" dist="47625" dir="540000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rcRect l="1744" r="1744"/>
          <a:stretch>
            <a:fillRect/>
          </a:stretch>
        </p:blipFill>
        <p:spPr>
          <a:xfrm>
            <a:off x="581025" y="1428750"/>
            <a:ext cx="1333500" cy="2724150"/>
          </a:xfrm>
          <a:prstGeom prst="roundRect">
            <a:avLst>
              <a:gd name="adj" fmla="val 8571"/>
            </a:avLst>
          </a:prstGeom>
          <a:ln/>
        </p:spPr>
      </p:pic>
      <p:sp>
        <p:nvSpPr>
          <p:cNvPr id="24" name="文本框 23" descr="{&quot;isTemplate&quot;:true,&quot;type&quot;:&quot;text&quot;}"/>
          <p:cNvSpPr txBox="1"/>
          <p:nvPr/>
        </p:nvSpPr>
        <p:spPr>
          <a:xfrm>
            <a:off x="533400" y="4276725"/>
            <a:ext cx="14287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558863"/>
                </a:solidFill>
                <a:latin typeface="Segoe UI"/>
                <a:ea typeface="Segoe UI"/>
              </a:rPr>
              <a:t>01 · Record</a:t>
            </a:r>
            <a:endParaRPr/>
          </a:p>
        </p:txBody>
      </p:sp>
      <p:sp>
        <p:nvSpPr>
          <p:cNvPr id="25" name="矩形: 圆角 24"/>
          <p:cNvSpPr/>
          <p:nvPr/>
        </p:nvSpPr>
        <p:spPr>
          <a:xfrm>
            <a:off x="2095500" y="1381125"/>
            <a:ext cx="1428750" cy="2819400"/>
          </a:xfrm>
          <a:prstGeom prst="roundRect">
            <a:avLst>
              <a:gd name="adj" fmla="val 10667"/>
            </a:avLst>
          </a:prstGeom>
          <a:solidFill>
            <a:srgbClr val="FEFCF6"/>
          </a:solidFill>
          <a:ln/>
          <a:effectLst>
            <a:outerShdw blurRad="171450" dist="47625" dir="540000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rcRect l="1744" r="1744"/>
          <a:stretch>
            <a:fillRect/>
          </a:stretch>
        </p:blipFill>
        <p:spPr>
          <a:xfrm>
            <a:off x="2143125" y="1428750"/>
            <a:ext cx="1333500" cy="2724150"/>
          </a:xfrm>
          <a:prstGeom prst="roundRect">
            <a:avLst>
              <a:gd name="adj" fmla="val 8571"/>
            </a:avLst>
          </a:prstGeom>
          <a:ln/>
        </p:spPr>
      </p:pic>
      <p:sp>
        <p:nvSpPr>
          <p:cNvPr id="27" name="文本框 26" descr="{&quot;isTemplate&quot;:true,&quot;type&quot;:&quot;text&quot;}"/>
          <p:cNvSpPr txBox="1"/>
          <p:nvPr/>
        </p:nvSpPr>
        <p:spPr>
          <a:xfrm>
            <a:off x="2095500" y="4276725"/>
            <a:ext cx="14287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558863"/>
                </a:solidFill>
                <a:latin typeface="Segoe UI"/>
                <a:ea typeface="Segoe UI"/>
              </a:rPr>
              <a:t>02 · Review</a:t>
            </a:r>
            <a:endParaRPr/>
          </a:p>
        </p:txBody>
      </p:sp>
      <p:sp>
        <p:nvSpPr>
          <p:cNvPr id="28" name="矩形: 圆角 27"/>
          <p:cNvSpPr/>
          <p:nvPr/>
        </p:nvSpPr>
        <p:spPr>
          <a:xfrm>
            <a:off x="3657600" y="1381125"/>
            <a:ext cx="1428750" cy="2819400"/>
          </a:xfrm>
          <a:prstGeom prst="roundRect">
            <a:avLst>
              <a:gd name="adj" fmla="val 10667"/>
            </a:avLst>
          </a:prstGeom>
          <a:solidFill>
            <a:srgbClr val="FEFCF6"/>
          </a:solidFill>
          <a:ln/>
          <a:effectLst>
            <a:outerShdw blurRad="171450" dist="47625" dir="540000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4"/>
          <a:srcRect l="1744" r="1744"/>
          <a:stretch>
            <a:fillRect/>
          </a:stretch>
        </p:blipFill>
        <p:spPr>
          <a:xfrm>
            <a:off x="3705225" y="1428750"/>
            <a:ext cx="1333500" cy="2724150"/>
          </a:xfrm>
          <a:prstGeom prst="roundRect">
            <a:avLst>
              <a:gd name="adj" fmla="val 8571"/>
            </a:avLst>
          </a:prstGeom>
          <a:ln/>
        </p:spPr>
      </p:pic>
      <p:sp>
        <p:nvSpPr>
          <p:cNvPr id="30" name="文本框 29" descr="{&quot;isTemplate&quot;:true,&quot;type&quot;:&quot;text&quot;}"/>
          <p:cNvSpPr txBox="1"/>
          <p:nvPr/>
        </p:nvSpPr>
        <p:spPr>
          <a:xfrm>
            <a:off x="3657600" y="4276725"/>
            <a:ext cx="14287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558863"/>
                </a:solidFill>
                <a:latin typeface="Segoe UI"/>
                <a:ea typeface="Segoe UI"/>
              </a:rPr>
              <a:t>03 · Story card</a:t>
            </a:r>
            <a:endParaRPr/>
          </a:p>
        </p:txBody>
      </p:sp>
      <p:sp>
        <p:nvSpPr>
          <p:cNvPr id="31" name="矩形: 圆角 30"/>
          <p:cNvSpPr/>
          <p:nvPr/>
        </p:nvSpPr>
        <p:spPr>
          <a:xfrm>
            <a:off x="5219700" y="1381125"/>
            <a:ext cx="1428750" cy="2819400"/>
          </a:xfrm>
          <a:prstGeom prst="roundRect">
            <a:avLst>
              <a:gd name="adj" fmla="val 10667"/>
            </a:avLst>
          </a:prstGeom>
          <a:solidFill>
            <a:srgbClr val="FEFCF6"/>
          </a:solidFill>
          <a:ln/>
          <a:effectLst>
            <a:outerShdw blurRad="171450" dist="47625" dir="540000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5"/>
          <a:srcRect l="1744" r="1744"/>
          <a:stretch>
            <a:fillRect/>
          </a:stretch>
        </p:blipFill>
        <p:spPr>
          <a:xfrm>
            <a:off x="5267325" y="1428750"/>
            <a:ext cx="1333500" cy="2724150"/>
          </a:xfrm>
          <a:prstGeom prst="roundRect">
            <a:avLst>
              <a:gd name="adj" fmla="val 8571"/>
            </a:avLst>
          </a:prstGeom>
          <a:ln/>
        </p:spPr>
      </p:pic>
      <p:sp>
        <p:nvSpPr>
          <p:cNvPr id="33" name="文本框 32" descr="{&quot;isTemplate&quot;:true,&quot;type&quot;:&quot;text&quot;}"/>
          <p:cNvSpPr txBox="1"/>
          <p:nvPr/>
        </p:nvSpPr>
        <p:spPr>
          <a:xfrm>
            <a:off x="5219700" y="4276725"/>
            <a:ext cx="14287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558863"/>
                </a:solidFill>
                <a:latin typeface="Segoe UI"/>
                <a:ea typeface="Segoe UI"/>
              </a:rPr>
              <a:t>04 · Ask</a:t>
            </a:r>
            <a:endParaRPr/>
          </a:p>
        </p:txBody>
      </p:sp>
      <p:sp>
        <p:nvSpPr>
          <p:cNvPr id="34" name="矩形: 圆角 33"/>
          <p:cNvSpPr/>
          <p:nvPr/>
        </p:nvSpPr>
        <p:spPr>
          <a:xfrm>
            <a:off x="6877050" y="1381125"/>
            <a:ext cx="4781550" cy="3048000"/>
          </a:xfrm>
          <a:prstGeom prst="roundRect">
            <a:avLst>
              <a:gd name="adj" fmla="val 5625"/>
            </a:avLst>
          </a:prstGeom>
          <a:solidFill>
            <a:srgbClr val="FEFCF6"/>
          </a:solidFill>
          <a:ln w="25400">
            <a:solidFill>
              <a:srgbClr val="D8EF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文本框 34" descr="{&quot;isTemplate&quot;:true,&quot;type&quot;:&quot;text&quot;}"/>
          <p:cNvSpPr txBox="1"/>
          <p:nvPr/>
        </p:nvSpPr>
        <p:spPr>
          <a:xfrm>
            <a:off x="8343900" y="1552575"/>
            <a:ext cx="18573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558863"/>
                </a:solidFill>
                <a:latin typeface="Segoe UI"/>
                <a:ea typeface="Segoe UI"/>
              </a:rPr>
              <a:t>TRY THE WORKING BUILD</a:t>
            </a:r>
            <a:endParaRPr/>
          </a:p>
        </p:txBody>
      </p:sp>
      <p:sp>
        <p:nvSpPr>
          <p:cNvPr id="36" name="矩形: 圆角 35"/>
          <p:cNvSpPr/>
          <p:nvPr/>
        </p:nvSpPr>
        <p:spPr>
          <a:xfrm>
            <a:off x="8458200" y="1933575"/>
            <a:ext cx="1619250" cy="161925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133350" dist="28575" dir="540000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4400" y="2009775"/>
            <a:ext cx="1466850" cy="1466850"/>
          </a:xfrm>
          <a:prstGeom prst="rect">
            <a:avLst/>
          </a:prstGeom>
          <a:ln/>
        </p:spPr>
      </p:pic>
      <p:sp>
        <p:nvSpPr>
          <p:cNvPr id="38" name="文本框 37" descr="{&quot;isTemplate&quot;:true,&quot;type&quot;:&quot;text&quot;}"/>
          <p:cNvSpPr txBox="1"/>
          <p:nvPr/>
        </p:nvSpPr>
        <p:spPr>
          <a:xfrm>
            <a:off x="8001000" y="3771900"/>
            <a:ext cx="25336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D5C3B"/>
                </a:solidFill>
                <a:latin typeface="Segoe UI"/>
                <a:ea typeface="Segoe UI"/>
              </a:rPr>
              <a:t>掃碼開啟演示</a:t>
            </a:r>
            <a:r>
              <a:rPr lang="en-US" sz="1125" b="1">
                <a:solidFill>
                  <a:srgbClr val="2D5C3B"/>
                </a:solidFill>
                <a:latin typeface="Segoe UI"/>
                <a:ea typeface="Segoe UI"/>
              </a:rPr>
              <a:t> · Scan to open the demo</a:t>
            </a:r>
            <a:endParaRPr/>
          </a:p>
        </p:txBody>
      </p:sp>
      <p:sp>
        <p:nvSpPr>
          <p:cNvPr id="39" name="矩形: 圆角 38"/>
          <p:cNvSpPr/>
          <p:nvPr/>
        </p:nvSpPr>
        <p:spPr>
          <a:xfrm>
            <a:off x="7101254" y="4000500"/>
            <a:ext cx="4486275" cy="257175"/>
          </a:xfrm>
          <a:prstGeom prst="roundRect">
            <a:avLst>
              <a:gd name="adj" fmla="val 3700000"/>
            </a:avLst>
          </a:prstGeom>
          <a:solidFill>
            <a:srgbClr val="F1EBD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文本框 39" descr="{&quot;isTemplate&quot;:true,&quot;type&quot;:&quot;text&quot;}"/>
          <p:cNvSpPr txBox="1"/>
          <p:nvPr/>
        </p:nvSpPr>
        <p:spPr>
          <a:xfrm>
            <a:off x="7229475" y="4042471"/>
            <a:ext cx="42576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2D5C3B"/>
                </a:solidFill>
                <a:latin typeface="Segoe UI"/>
                <a:ea typeface="Segoe UI"/>
              </a:rPr>
              <a:t>https://voices-of-the-north.onrender.com/voices-of-the-north-app.html</a:t>
            </a:r>
            <a:endParaRPr dirty="0"/>
          </a:p>
        </p:txBody>
      </p:sp>
      <p:sp>
        <p:nvSpPr>
          <p:cNvPr id="41" name="矩形: 圆角 40"/>
          <p:cNvSpPr/>
          <p:nvPr/>
        </p:nvSpPr>
        <p:spPr>
          <a:xfrm>
            <a:off x="533400" y="4581525"/>
            <a:ext cx="11125200" cy="1428750"/>
          </a:xfrm>
          <a:prstGeom prst="roundRect">
            <a:avLst>
              <a:gd name="adj" fmla="val 12000"/>
            </a:avLst>
          </a:prstGeom>
          <a:solidFill>
            <a:srgbClr val="FEFCF6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2" name="文本框 41" descr="{&quot;isTemplate&quot;:true,&quot;type&quot;:&quot;text&quot;}"/>
          <p:cNvSpPr txBox="1"/>
          <p:nvPr/>
        </p:nvSpPr>
        <p:spPr>
          <a:xfrm>
            <a:off x="704850" y="4752975"/>
            <a:ext cx="107823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558863"/>
                </a:solidFill>
                <a:latin typeface="Segoe UI"/>
                <a:ea typeface="Segoe UI"/>
              </a:rPr>
              <a:t>WHAT HAPPENS, IN ORDER</a:t>
            </a:r>
            <a:endParaRPr/>
          </a:p>
        </p:txBody>
      </p:sp>
      <p:sp>
        <p:nvSpPr>
          <p:cNvPr id="43" name="文本框 42" descr="{&quot;isTemplate&quot;:true,&quot;type&quot;:&quot;text&quot;}"/>
          <p:cNvSpPr txBox="1"/>
          <p:nvPr/>
        </p:nvSpPr>
        <p:spPr>
          <a:xfrm>
            <a:off x="704850" y="5019675"/>
            <a:ext cx="20478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558863"/>
                </a:solidFill>
                <a:latin typeface="Georgia"/>
                <a:ea typeface="Georgia"/>
              </a:rPr>
              <a:t>01</a:t>
            </a:r>
            <a:endParaRPr/>
          </a:p>
        </p:txBody>
      </p:sp>
      <p:sp>
        <p:nvSpPr>
          <p:cNvPr id="44" name="文本框 43" descr="{&quot;isTemplate&quot;:true,&quot;type&quot;:&quot;text&quot;}"/>
          <p:cNvSpPr txBox="1"/>
          <p:nvPr/>
        </p:nvSpPr>
        <p:spPr>
          <a:xfrm>
            <a:off x="704850" y="5353050"/>
            <a:ext cx="2047875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30271D"/>
                </a:solidFill>
                <a:latin typeface="Segoe UI"/>
                <a:ea typeface="Segoe UI"/>
              </a:rPr>
              <a:t>The demo plays the 46-second Yuen Long recording on Screen 1.</a:t>
            </a:r>
            <a:endParaRPr/>
          </a:p>
        </p:txBody>
      </p:sp>
      <p:sp>
        <p:nvSpPr>
          <p:cNvPr id="45" name="文本框 44" descr="{&quot;isTemplate&quot;:true,&quot;type&quot;:&quot;text&quot;}"/>
          <p:cNvSpPr txBox="1"/>
          <p:nvPr/>
        </p:nvSpPr>
        <p:spPr>
          <a:xfrm>
            <a:off x="2886075" y="5019675"/>
            <a:ext cx="20478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558863"/>
                </a:solidFill>
                <a:latin typeface="Georgia"/>
                <a:ea typeface="Georgia"/>
              </a:rPr>
              <a:t>02</a:t>
            </a:r>
            <a:endParaRPr/>
          </a:p>
        </p:txBody>
      </p:sp>
      <p:sp>
        <p:nvSpPr>
          <p:cNvPr id="46" name="文本框 45" descr="{&quot;isTemplate&quot;:true,&quot;type&quot;:&quot;text&quot;}"/>
          <p:cNvSpPr txBox="1"/>
          <p:nvPr/>
        </p:nvSpPr>
        <p:spPr>
          <a:xfrm>
            <a:off x="2886075" y="5353050"/>
            <a:ext cx="2047875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30271D"/>
                </a:solidFill>
                <a:latin typeface="Segoe UI"/>
                <a:ea typeface="Segoe UI"/>
              </a:rPr>
              <a:t>The transcript returns at 0.94; every word is timestamped and playable.</a:t>
            </a:r>
            <a:endParaRPr/>
          </a:p>
        </p:txBody>
      </p:sp>
      <p:sp>
        <p:nvSpPr>
          <p:cNvPr id="47" name="文本框 46" descr="{&quot;isTemplate&quot;:true,&quot;type&quot;:&quot;text&quot;}"/>
          <p:cNvSpPr txBox="1"/>
          <p:nvPr/>
        </p:nvSpPr>
        <p:spPr>
          <a:xfrm>
            <a:off x="5067300" y="5019675"/>
            <a:ext cx="20574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558863"/>
                </a:solidFill>
                <a:latin typeface="Georgia"/>
                <a:ea typeface="Georgia"/>
              </a:rPr>
              <a:t>03</a:t>
            </a:r>
            <a:endParaRPr/>
          </a:p>
        </p:txBody>
      </p:sp>
      <p:sp>
        <p:nvSpPr>
          <p:cNvPr id="48" name="文本框 47" descr="{&quot;isTemplate&quot;:true,&quot;type&quot;:&quot;text&quot;}"/>
          <p:cNvSpPr txBox="1"/>
          <p:nvPr/>
        </p:nvSpPr>
        <p:spPr>
          <a:xfrm>
            <a:off x="5067300" y="5353050"/>
            <a:ext cx="20574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30271D"/>
                </a:solidFill>
                <a:latin typeface="Segoe UI"/>
                <a:ea typeface="Segoe UI"/>
              </a:rPr>
              <a:t>Privacy tiers are not built yet — the default stays Private.</a:t>
            </a:r>
            <a:endParaRPr/>
          </a:p>
        </p:txBody>
      </p:sp>
      <p:sp>
        <p:nvSpPr>
          <p:cNvPr id="49" name="文本框 48" descr="{&quot;isTemplate&quot;:true,&quot;type&quot;:&quot;text&quot;}"/>
          <p:cNvSpPr txBox="1"/>
          <p:nvPr/>
        </p:nvSpPr>
        <p:spPr>
          <a:xfrm>
            <a:off x="7258050" y="5019675"/>
            <a:ext cx="20478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558863"/>
                </a:solidFill>
                <a:latin typeface="Georgia"/>
                <a:ea typeface="Georgia"/>
              </a:rPr>
              <a:t>04</a:t>
            </a:r>
            <a:endParaRPr/>
          </a:p>
        </p:txBody>
      </p:sp>
      <p:sp>
        <p:nvSpPr>
          <p:cNvPr id="50" name="文本框 49" descr="{&quot;isTemplate&quot;:true,&quot;type&quot;:&quot;text&quot;}"/>
          <p:cNvSpPr txBox="1"/>
          <p:nvPr/>
        </p:nvSpPr>
        <p:spPr>
          <a:xfrm>
            <a:off x="7258050" y="5353050"/>
            <a:ext cx="2047875" cy="7048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30271D"/>
                </a:solidFill>
                <a:latin typeface="Segoe UI"/>
                <a:ea typeface="Segoe UI"/>
              </a:rPr>
              <a:t>The card shows three labelled versions and a village-level fuzzy place.</a:t>
            </a:r>
            <a:endParaRPr/>
          </a:p>
        </p:txBody>
      </p:sp>
      <p:sp>
        <p:nvSpPr>
          <p:cNvPr id="51" name="文本框 50" descr="{&quot;isTemplate&quot;:true,&quot;type&quot;:&quot;text&quot;}"/>
          <p:cNvSpPr txBox="1"/>
          <p:nvPr/>
        </p:nvSpPr>
        <p:spPr>
          <a:xfrm>
            <a:off x="9439275" y="5019675"/>
            <a:ext cx="20478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558863"/>
                </a:solidFill>
                <a:latin typeface="Georgia"/>
                <a:ea typeface="Georgia"/>
              </a:rPr>
              <a:t>05</a:t>
            </a:r>
            <a:endParaRPr/>
          </a:p>
        </p:txBody>
      </p:sp>
      <p:sp>
        <p:nvSpPr>
          <p:cNvPr id="52" name="文本框 51" descr="{&quot;isTemplate&quot;:true,&quot;type&quot;:&quot;text&quot;}"/>
          <p:cNvSpPr txBox="1"/>
          <p:nvPr/>
        </p:nvSpPr>
        <p:spPr>
          <a:xfrm>
            <a:off x="9439275" y="5353050"/>
            <a:ext cx="2047875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30271D"/>
                </a:solidFill>
                <a:latin typeface="Segoe UI"/>
                <a:ea typeface="Segoe UI"/>
              </a:rPr>
              <a:t>Three sourced answers come back, and one honest blank.</a:t>
            </a:r>
            <a:endParaRPr/>
          </a:p>
        </p:txBody>
      </p:sp>
      <p:sp>
        <p:nvSpPr>
          <p:cNvPr id="53" name="文本框 52" descr="{&quot;isTemplate&quot;:true,&quot;type&quot;:&quot;text&quot;}"/>
          <p:cNvSpPr txBox="1"/>
          <p:nvPr/>
        </p:nvSpPr>
        <p:spPr>
          <a:xfrm>
            <a:off x="533400" y="6448425"/>
            <a:ext cx="38671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2D5C3B">
                    <a:alpha val="75000"/>
                  </a:srgbClr>
                </a:solidFill>
                <a:latin typeface="Segoe UI"/>
                <a:ea typeface="Segoe UI"/>
              </a:rPr>
              <a:t>46-second role-played demo · consent gate confirmed before recording</a:t>
            </a:r>
            <a:endParaRPr/>
          </a:p>
        </p:txBody>
      </p:sp>
      <p:sp>
        <p:nvSpPr>
          <p:cNvPr id="54" name="文本框 53" descr="{&quot;isTemplate&quot;:true,&quot;type&quot;:&quot;text&quot;}"/>
          <p:cNvSpPr txBox="1"/>
          <p:nvPr/>
        </p:nvSpPr>
        <p:spPr>
          <a:xfrm>
            <a:off x="11239500" y="6448425"/>
            <a:ext cx="4191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2D5C3B">
                    <a:alpha val="75000"/>
                  </a:srgbClr>
                </a:solidFill>
                <a:latin typeface="Segoe UI"/>
                <a:ea typeface="Segoe UI"/>
              </a:rPr>
              <a:t>10 / 14</a:t>
            </a:r>
            <a:endParaRPr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605CB7F-7DA8-69A1-1772-5354C83EDC0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3900" y="1721619"/>
            <a:ext cx="1890762" cy="189076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7" name="文本框 56" descr="{&quot;isTemplate&quot;:true,&quot;type&quot;:&quot;text&quot;}"/>
          <p:cNvSpPr txBox="1"/>
          <p:nvPr/>
        </p:nvSpPr>
        <p:spPr>
          <a:xfrm>
            <a:off x="533400" y="381000"/>
            <a:ext cx="11125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 spc="180">
                <a:solidFill>
                  <a:srgbClr val="558863"/>
                </a:solidFill>
                <a:latin typeface="Segoe UI"/>
                <a:ea typeface="Segoe UI"/>
              </a:rPr>
              <a:t>LIMITS · STATED PLAINLY</a:t>
            </a:r>
            <a:endParaRPr/>
          </a:p>
        </p:txBody>
      </p:sp>
      <p:sp>
        <p:nvSpPr>
          <p:cNvPr id="58" name="文本框 57" descr="{&quot;isTemplate&quot;:true,&quot;type&quot;:&quot;text&quot;}"/>
          <p:cNvSpPr txBox="1"/>
          <p:nvPr/>
        </p:nvSpPr>
        <p:spPr>
          <a:xfrm>
            <a:off x="533400" y="619125"/>
            <a:ext cx="111252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sz="2550" b="1">
                <a:solidFill>
                  <a:srgbClr val="2D5C3B"/>
                </a:solidFill>
                <a:latin typeface="Georgia"/>
                <a:ea typeface="Georgia"/>
              </a:rPr>
              <a:t>What we will not claim</a:t>
            </a:r>
            <a:endParaRPr/>
          </a:p>
        </p:txBody>
      </p:sp>
      <p:sp>
        <p:nvSpPr>
          <p:cNvPr id="59" name="矩形 58"/>
          <p:cNvSpPr/>
          <p:nvPr/>
        </p:nvSpPr>
        <p:spPr>
          <a:xfrm>
            <a:off x="533400" y="1200150"/>
            <a:ext cx="2095500" cy="28575"/>
          </a:xfrm>
          <a:prstGeom prst="rect">
            <a:avLst/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0" name="矩形: 圆角 59"/>
          <p:cNvSpPr/>
          <p:nvPr/>
        </p:nvSpPr>
        <p:spPr>
          <a:xfrm>
            <a:off x="533400" y="1381125"/>
            <a:ext cx="3609975" cy="2209800"/>
          </a:xfrm>
          <a:prstGeom prst="roundRect">
            <a:avLst>
              <a:gd name="adj" fmla="val 7759"/>
            </a:avLst>
          </a:prstGeom>
          <a:solidFill>
            <a:srgbClr val="FEFCF6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1" name="图形 6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4850" y="1552575"/>
            <a:ext cx="323850" cy="323850"/>
          </a:xfrm>
          <a:prstGeom prst="rect">
            <a:avLst/>
          </a:prstGeom>
          <a:ln/>
        </p:spPr>
      </p:pic>
      <p:sp>
        <p:nvSpPr>
          <p:cNvPr id="62" name="文本框 61" descr="{&quot;isTemplate&quot;:true,&quot;type&quot;:&quot;text&quot;}"/>
          <p:cNvSpPr txBox="1"/>
          <p:nvPr/>
        </p:nvSpPr>
        <p:spPr>
          <a:xfrm>
            <a:off x="704850" y="1990725"/>
            <a:ext cx="326707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sz="1575" b="1">
                <a:solidFill>
                  <a:srgbClr val="2D5C3B"/>
                </a:solidFill>
                <a:latin typeface="Georgia"/>
                <a:ea typeface="Georgia"/>
              </a:rPr>
              <a:t>Not real interviews</a:t>
            </a:r>
            <a:endParaRPr/>
          </a:p>
        </p:txBody>
      </p:sp>
      <p:sp>
        <p:nvSpPr>
          <p:cNvPr id="63" name="文本框 62" descr="{&quot;isTemplate&quot;:true,&quot;type&quot;:&quot;text&quot;}"/>
          <p:cNvSpPr txBox="1"/>
          <p:nvPr/>
        </p:nvSpPr>
        <p:spPr>
          <a:xfrm>
            <a:off x="704850" y="2390775"/>
            <a:ext cx="3267075" cy="771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125">
                <a:solidFill>
                  <a:srgbClr val="30271D"/>
                </a:solidFill>
                <a:latin typeface="Segoe UI"/>
                <a:ea typeface="Segoe UI"/>
              </a:rPr>
              <a:t>Every story in this deck is role-played for demonstration. No elder’s recording is used, and no community partnership has been signed.</a:t>
            </a:r>
            <a:endParaRPr/>
          </a:p>
        </p:txBody>
      </p:sp>
      <p:sp>
        <p:nvSpPr>
          <p:cNvPr id="64" name="矩形: 圆角 63"/>
          <p:cNvSpPr/>
          <p:nvPr/>
        </p:nvSpPr>
        <p:spPr>
          <a:xfrm>
            <a:off x="704850" y="3171825"/>
            <a:ext cx="3267075" cy="247650"/>
          </a:xfrm>
          <a:prstGeom prst="roundRect">
            <a:avLst>
              <a:gd name="adj" fmla="val 53846"/>
            </a:avLst>
          </a:prstGeom>
          <a:solidFill>
            <a:srgbClr val="D8EF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5" name="文本框 64" descr="{&quot;isTemplate&quot;:true,&quot;type&quot;:&quot;text&quot;}"/>
          <p:cNvSpPr txBox="1"/>
          <p:nvPr/>
        </p:nvSpPr>
        <p:spPr>
          <a:xfrm>
            <a:off x="819150" y="3219450"/>
            <a:ext cx="30384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D5C3B"/>
                </a:solidFill>
                <a:latin typeface="Segoe UI"/>
                <a:ea typeface="Segoe UI"/>
              </a:rPr>
              <a:t>Status — role-played</a:t>
            </a:r>
            <a:endParaRPr/>
          </a:p>
        </p:txBody>
      </p:sp>
      <p:sp>
        <p:nvSpPr>
          <p:cNvPr id="66" name="矩形: 圆角 65"/>
          <p:cNvSpPr/>
          <p:nvPr/>
        </p:nvSpPr>
        <p:spPr>
          <a:xfrm>
            <a:off x="4295775" y="1381125"/>
            <a:ext cx="3600450" cy="2209800"/>
          </a:xfrm>
          <a:prstGeom prst="roundRect">
            <a:avLst>
              <a:gd name="adj" fmla="val 7759"/>
            </a:avLst>
          </a:prstGeom>
          <a:solidFill>
            <a:srgbClr val="FEFCF6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7" name="图形 6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67225" y="1552575"/>
            <a:ext cx="323850" cy="323850"/>
          </a:xfrm>
          <a:prstGeom prst="rect">
            <a:avLst/>
          </a:prstGeom>
          <a:ln/>
        </p:spPr>
      </p:pic>
      <p:sp>
        <p:nvSpPr>
          <p:cNvPr id="68" name="文本框 67" descr="{&quot;isTemplate&quot;:true,&quot;type&quot;:&quot;text&quot;}"/>
          <p:cNvSpPr txBox="1"/>
          <p:nvPr/>
        </p:nvSpPr>
        <p:spPr>
          <a:xfrm>
            <a:off x="4467225" y="1990725"/>
            <a:ext cx="32575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sz="1575" b="1">
                <a:solidFill>
                  <a:srgbClr val="2D5C3B"/>
                </a:solidFill>
                <a:latin typeface="Georgia"/>
                <a:ea typeface="Georgia"/>
              </a:rPr>
              <a:t>Not an exact location</a:t>
            </a:r>
            <a:endParaRPr/>
          </a:p>
        </p:txBody>
      </p:sp>
      <p:sp>
        <p:nvSpPr>
          <p:cNvPr id="69" name="文本框 68" descr="{&quot;isTemplate&quot;:true,&quot;type&quot;:&quot;text&quot;}"/>
          <p:cNvSpPr txBox="1"/>
          <p:nvPr/>
        </p:nvSpPr>
        <p:spPr>
          <a:xfrm>
            <a:off x="4467225" y="2390775"/>
            <a:ext cx="3257550" cy="771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125">
                <a:solidFill>
                  <a:srgbClr val="30271D"/>
                </a:solidFill>
                <a:latin typeface="Segoe UI"/>
                <a:ea typeface="Segoe UI"/>
              </a:rPr>
              <a:t>The map is real OpenStreetMap imagery, but the only thing drawn on it is a fuzzy circle of roughly 800 m. No GPS pin, no address, no exact point.</a:t>
            </a:r>
            <a:endParaRPr/>
          </a:p>
        </p:txBody>
      </p:sp>
      <p:sp>
        <p:nvSpPr>
          <p:cNvPr id="70" name="矩形: 圆角 69"/>
          <p:cNvSpPr/>
          <p:nvPr/>
        </p:nvSpPr>
        <p:spPr>
          <a:xfrm>
            <a:off x="4467225" y="3171825"/>
            <a:ext cx="3257550" cy="247650"/>
          </a:xfrm>
          <a:prstGeom prst="roundRect">
            <a:avLst>
              <a:gd name="adj" fmla="val 53846"/>
            </a:avLst>
          </a:prstGeom>
          <a:solidFill>
            <a:srgbClr val="D8EF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1" name="文本框 70" descr="{&quot;isTemplate&quot;:true,&quot;type&quot;:&quot;text&quot;}"/>
          <p:cNvSpPr txBox="1"/>
          <p:nvPr/>
        </p:nvSpPr>
        <p:spPr>
          <a:xfrm>
            <a:off x="4581525" y="3219450"/>
            <a:ext cx="30289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D5C3B"/>
                </a:solidFill>
                <a:latin typeface="Segoe UI"/>
                <a:ea typeface="Segoe UI"/>
              </a:rPr>
              <a:t>Status — coarse by design</a:t>
            </a:r>
            <a:endParaRPr/>
          </a:p>
        </p:txBody>
      </p:sp>
      <p:sp>
        <p:nvSpPr>
          <p:cNvPr id="72" name="矩形: 圆角 71"/>
          <p:cNvSpPr/>
          <p:nvPr/>
        </p:nvSpPr>
        <p:spPr>
          <a:xfrm>
            <a:off x="8048625" y="1381125"/>
            <a:ext cx="3609975" cy="2209800"/>
          </a:xfrm>
          <a:prstGeom prst="roundRect">
            <a:avLst>
              <a:gd name="adj" fmla="val 7759"/>
            </a:avLst>
          </a:prstGeom>
          <a:solidFill>
            <a:srgbClr val="FEFCF6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3" name="图形 7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0075" y="1552575"/>
            <a:ext cx="323850" cy="323850"/>
          </a:xfrm>
          <a:prstGeom prst="rect">
            <a:avLst/>
          </a:prstGeom>
          <a:ln/>
        </p:spPr>
      </p:pic>
      <p:sp>
        <p:nvSpPr>
          <p:cNvPr id="74" name="文本框 73" descr="{&quot;isTemplate&quot;:true,&quot;type&quot;:&quot;text&quot;}"/>
          <p:cNvSpPr txBox="1"/>
          <p:nvPr/>
        </p:nvSpPr>
        <p:spPr>
          <a:xfrm>
            <a:off x="8220075" y="1990725"/>
            <a:ext cx="326707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sz="1575" b="1">
                <a:solidFill>
                  <a:srgbClr val="2D5C3B"/>
                </a:solidFill>
                <a:latin typeface="Georgia"/>
                <a:ea typeface="Georgia"/>
              </a:rPr>
              <a:t>Not enforced yet</a:t>
            </a:r>
            <a:endParaRPr/>
          </a:p>
        </p:txBody>
      </p:sp>
      <p:sp>
        <p:nvSpPr>
          <p:cNvPr id="75" name="文本框 74" descr="{&quot;isTemplate&quot;:true,&quot;type&quot;:&quot;text&quot;}"/>
          <p:cNvSpPr txBox="1"/>
          <p:nvPr/>
        </p:nvSpPr>
        <p:spPr>
          <a:xfrm>
            <a:off x="8220075" y="2390775"/>
            <a:ext cx="3267075" cy="771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125">
                <a:solidFill>
                  <a:srgbClr val="30271D"/>
                </a:solidFill>
                <a:latin typeface="Segoe UI"/>
                <a:ea typeface="Segoe UI"/>
              </a:rPr>
              <a:t>The four privacy tiers and story withdrawal are interface-level only, not enforced by a backend. The consent gate is different: it works, and it blocks recording.</a:t>
            </a:r>
            <a:endParaRPr/>
          </a:p>
        </p:txBody>
      </p:sp>
      <p:sp>
        <p:nvSpPr>
          <p:cNvPr id="76" name="矩形: 圆角 75"/>
          <p:cNvSpPr/>
          <p:nvPr/>
        </p:nvSpPr>
        <p:spPr>
          <a:xfrm>
            <a:off x="8220075" y="3171825"/>
            <a:ext cx="3267075" cy="247650"/>
          </a:xfrm>
          <a:prstGeom prst="roundRect">
            <a:avLst>
              <a:gd name="adj" fmla="val 53846"/>
            </a:avLst>
          </a:prstGeom>
          <a:solidFill>
            <a:srgbClr val="D8EF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7" name="文本框 76" descr="{&quot;isTemplate&quot;:true,&quot;type&quot;:&quot;text&quot;}"/>
          <p:cNvSpPr txBox="1"/>
          <p:nvPr/>
        </p:nvSpPr>
        <p:spPr>
          <a:xfrm>
            <a:off x="8334375" y="3219450"/>
            <a:ext cx="30384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D5C3B"/>
                </a:solidFill>
                <a:latin typeface="Segoe UI"/>
                <a:ea typeface="Segoe UI"/>
              </a:rPr>
              <a:t>Status — tiers interface only · consent live</a:t>
            </a:r>
            <a:endParaRPr/>
          </a:p>
        </p:txBody>
      </p:sp>
      <p:sp>
        <p:nvSpPr>
          <p:cNvPr id="78" name="矩形: 圆角 77"/>
          <p:cNvSpPr/>
          <p:nvPr/>
        </p:nvSpPr>
        <p:spPr>
          <a:xfrm>
            <a:off x="533400" y="3743325"/>
            <a:ext cx="5486400" cy="1905000"/>
          </a:xfrm>
          <a:prstGeom prst="roundRect">
            <a:avLst>
              <a:gd name="adj" fmla="val 9000"/>
            </a:avLst>
          </a:prstGeom>
          <a:solidFill>
            <a:srgbClr val="FEFCF6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9" name="图形 7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4850" y="3933825"/>
            <a:ext cx="266700" cy="266700"/>
          </a:xfrm>
          <a:prstGeom prst="rect">
            <a:avLst/>
          </a:prstGeom>
          <a:ln/>
        </p:spPr>
      </p:pic>
      <p:sp>
        <p:nvSpPr>
          <p:cNvPr id="80" name="文本框 79" descr="{&quot;isTemplate&quot;:true,&quot;type&quot;:&quot;text&quot;}"/>
          <p:cNvSpPr txBox="1"/>
          <p:nvPr/>
        </p:nvSpPr>
        <p:spPr>
          <a:xfrm>
            <a:off x="1085850" y="3914775"/>
            <a:ext cx="47625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sz="1575" b="1">
                <a:solidFill>
                  <a:srgbClr val="2D5C3B"/>
                </a:solidFill>
                <a:latin typeface="Georgia"/>
                <a:ea typeface="Georgia"/>
              </a:rPr>
              <a:t>No general accuracy claim</a:t>
            </a:r>
            <a:endParaRPr/>
          </a:p>
        </p:txBody>
      </p:sp>
      <p:sp>
        <p:nvSpPr>
          <p:cNvPr id="81" name="文本框 80" descr="{&quot;isTemplate&quot;:true,&quot;type&quot;:&quot;text&quot;}"/>
          <p:cNvSpPr txBox="1"/>
          <p:nvPr/>
        </p:nvSpPr>
        <p:spPr>
          <a:xfrm>
            <a:off x="704850" y="4314825"/>
            <a:ext cx="5143500" cy="771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125">
                <a:solidFill>
                  <a:srgbClr val="30271D"/>
                </a:solidFill>
                <a:latin typeface="Segoe UI"/>
                <a:ea typeface="Segoe UI"/>
              </a:rPr>
              <a:t>The 0.94 figure is sentence-level confidence from one 46-second demo recording. We do not quote a Cantonese recognition accuracy rate that we have not measured.</a:t>
            </a:r>
            <a:endParaRPr/>
          </a:p>
        </p:txBody>
      </p:sp>
      <p:sp>
        <p:nvSpPr>
          <p:cNvPr id="82" name="矩形: 圆角 81"/>
          <p:cNvSpPr/>
          <p:nvPr/>
        </p:nvSpPr>
        <p:spPr>
          <a:xfrm>
            <a:off x="704850" y="5229225"/>
            <a:ext cx="5143500" cy="247650"/>
          </a:xfrm>
          <a:prstGeom prst="roundRect">
            <a:avLst>
              <a:gd name="adj" fmla="val 53846"/>
            </a:avLst>
          </a:prstGeom>
          <a:solidFill>
            <a:srgbClr val="F6F1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3" name="文本框 82" descr="{&quot;isTemplate&quot;:true,&quot;type&quot;:&quot;text&quot;}"/>
          <p:cNvSpPr txBox="1"/>
          <p:nvPr/>
        </p:nvSpPr>
        <p:spPr>
          <a:xfrm>
            <a:off x="819150" y="5276850"/>
            <a:ext cx="49149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A7693C"/>
                </a:solidFill>
                <a:latin typeface="Segoe UI"/>
                <a:ea typeface="Segoe UI"/>
              </a:rPr>
              <a:t>Status — demo scope only</a:t>
            </a:r>
            <a:endParaRPr/>
          </a:p>
        </p:txBody>
      </p:sp>
      <p:sp>
        <p:nvSpPr>
          <p:cNvPr id="84" name="矩形: 圆角 83"/>
          <p:cNvSpPr/>
          <p:nvPr/>
        </p:nvSpPr>
        <p:spPr>
          <a:xfrm>
            <a:off x="6172200" y="3743325"/>
            <a:ext cx="5486400" cy="1905000"/>
          </a:xfrm>
          <a:prstGeom prst="roundRect">
            <a:avLst>
              <a:gd name="adj" fmla="val 9000"/>
            </a:avLst>
          </a:prstGeom>
          <a:solidFill>
            <a:srgbClr val="FEFCF6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5" name="图形 8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43650" y="3933825"/>
            <a:ext cx="266700" cy="266700"/>
          </a:xfrm>
          <a:prstGeom prst="rect">
            <a:avLst/>
          </a:prstGeom>
          <a:ln/>
        </p:spPr>
      </p:pic>
      <p:sp>
        <p:nvSpPr>
          <p:cNvPr id="86" name="文本框 85" descr="{&quot;isTemplate&quot;:true,&quot;type&quot;:&quot;text&quot;}"/>
          <p:cNvSpPr txBox="1"/>
          <p:nvPr/>
        </p:nvSpPr>
        <p:spPr>
          <a:xfrm>
            <a:off x="6724650" y="3914775"/>
            <a:ext cx="47625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sz="1575" b="1">
                <a:solidFill>
                  <a:srgbClr val="2D5C3B"/>
                </a:solidFill>
                <a:latin typeface="Georgia"/>
                <a:ea typeface="Georgia"/>
              </a:rPr>
              <a:t>Never automatic</a:t>
            </a:r>
            <a:endParaRPr/>
          </a:p>
        </p:txBody>
      </p:sp>
      <p:sp>
        <p:nvSpPr>
          <p:cNvPr id="87" name="文本框 86" descr="{&quot;isTemplate&quot;:true,&quot;type&quot;:&quot;text&quot;}"/>
          <p:cNvSpPr txBox="1"/>
          <p:nvPr/>
        </p:nvSpPr>
        <p:spPr>
          <a:xfrm>
            <a:off x="6343650" y="4314825"/>
            <a:ext cx="5143500" cy="771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125">
                <a:solidFill>
                  <a:srgbClr val="30271D"/>
                </a:solidFill>
                <a:latin typeface="Segoe UI"/>
                <a:ea typeface="Segoe UI"/>
              </a:rPr>
              <a:t>Nothing is published without a human confirming it. Dialects are not auto-translated, and there is no face detection, no speaker identification, no social feed and no editing of someone else’s story.</a:t>
            </a:r>
            <a:endParaRPr/>
          </a:p>
        </p:txBody>
      </p:sp>
      <p:sp>
        <p:nvSpPr>
          <p:cNvPr id="88" name="矩形: 圆角 87"/>
          <p:cNvSpPr/>
          <p:nvPr/>
        </p:nvSpPr>
        <p:spPr>
          <a:xfrm>
            <a:off x="6343650" y="5229225"/>
            <a:ext cx="5143500" cy="247650"/>
          </a:xfrm>
          <a:prstGeom prst="roundRect">
            <a:avLst>
              <a:gd name="adj" fmla="val 53846"/>
            </a:avLst>
          </a:prstGeom>
          <a:solidFill>
            <a:srgbClr val="F6F1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9" name="文本框 88" descr="{&quot;isTemplate&quot;:true,&quot;type&quot;:&quot;text&quot;}"/>
          <p:cNvSpPr txBox="1"/>
          <p:nvPr/>
        </p:nvSpPr>
        <p:spPr>
          <a:xfrm>
            <a:off x="6457950" y="5276850"/>
            <a:ext cx="49149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A7693C"/>
                </a:solidFill>
                <a:latin typeface="Segoe UI"/>
                <a:ea typeface="Segoe UI"/>
              </a:rPr>
              <a:t>Status — by design</a:t>
            </a:r>
            <a:endParaRPr/>
          </a:p>
        </p:txBody>
      </p:sp>
      <p:sp>
        <p:nvSpPr>
          <p:cNvPr id="90" name="文本框 89" descr="{&quot;isTemplate&quot;:true,&quot;type&quot;:&quot;text&quot;}"/>
          <p:cNvSpPr txBox="1"/>
          <p:nvPr/>
        </p:nvSpPr>
        <p:spPr>
          <a:xfrm>
            <a:off x="533400" y="6448425"/>
            <a:ext cx="75628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2D5C3B">
                    <a:alpha val="75000"/>
                  </a:srgbClr>
                </a:solidFill>
                <a:latin typeface="Segoe UI"/>
                <a:ea typeface="Segoe UI"/>
              </a:rPr>
              <a:t>Four rules the flow obeys: one screen, one job · every word stays checkable · every answer has a source · consent stays with the elder</a:t>
            </a:r>
            <a:endParaRPr/>
          </a:p>
        </p:txBody>
      </p:sp>
      <p:sp>
        <p:nvSpPr>
          <p:cNvPr id="91" name="文本框 90" descr="{&quot;isTemplate&quot;:true,&quot;type&quot;:&quot;text&quot;}"/>
          <p:cNvSpPr txBox="1"/>
          <p:nvPr/>
        </p:nvSpPr>
        <p:spPr>
          <a:xfrm>
            <a:off x="11239500" y="6448425"/>
            <a:ext cx="4191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2D5C3B">
                    <a:alpha val="75000"/>
                  </a:srgbClr>
                </a:solidFill>
                <a:latin typeface="Segoe UI"/>
                <a:ea typeface="Segoe UI"/>
              </a:rPr>
              <a:t>11 / 14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矩形 9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4" name="文本框 93" descr="{&quot;isTemplate&quot;:true,&quot;type&quot;:&quot;text&quot;}"/>
          <p:cNvSpPr txBox="1"/>
          <p:nvPr/>
        </p:nvSpPr>
        <p:spPr>
          <a:xfrm>
            <a:off x="533400" y="381000"/>
            <a:ext cx="11125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 spc="180">
                <a:solidFill>
                  <a:srgbClr val="558863"/>
                </a:solidFill>
                <a:latin typeface="Segoe UI"/>
                <a:ea typeface="Segoe UI"/>
              </a:rPr>
              <a:t>ROADMAP · WHAT COMES AFTER THE DEMO</a:t>
            </a:r>
            <a:endParaRPr/>
          </a:p>
        </p:txBody>
      </p:sp>
      <p:sp>
        <p:nvSpPr>
          <p:cNvPr id="95" name="文本框 94" descr="{&quot;isTemplate&quot;:true,&quot;type&quot;:&quot;text&quot;}"/>
          <p:cNvSpPr txBox="1"/>
          <p:nvPr/>
        </p:nvSpPr>
        <p:spPr>
          <a:xfrm>
            <a:off x="533400" y="619125"/>
            <a:ext cx="111252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sz="2550" b="1">
                <a:solidFill>
                  <a:srgbClr val="2D5C3B"/>
                </a:solidFill>
                <a:latin typeface="Georgia"/>
                <a:ea typeface="Georgia"/>
              </a:rPr>
              <a:t>Expansion we deliberately did not build yet</a:t>
            </a:r>
            <a:endParaRPr/>
          </a:p>
        </p:txBody>
      </p:sp>
      <p:sp>
        <p:nvSpPr>
          <p:cNvPr id="96" name="矩形 95"/>
          <p:cNvSpPr/>
          <p:nvPr/>
        </p:nvSpPr>
        <p:spPr>
          <a:xfrm>
            <a:off x="533400" y="1200150"/>
            <a:ext cx="2095500" cy="28575"/>
          </a:xfrm>
          <a:prstGeom prst="rect">
            <a:avLst/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7" name="矩形: 圆角 96"/>
          <p:cNvSpPr/>
          <p:nvPr/>
        </p:nvSpPr>
        <p:spPr>
          <a:xfrm>
            <a:off x="533400" y="1381125"/>
            <a:ext cx="2667000" cy="3810000"/>
          </a:xfrm>
          <a:prstGeom prst="roundRect">
            <a:avLst>
              <a:gd name="adj" fmla="val 6429"/>
            </a:avLst>
          </a:prstGeom>
          <a:solidFill>
            <a:srgbClr val="D8EFDD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8" name="矩形: 圆角 97"/>
          <p:cNvSpPr/>
          <p:nvPr/>
        </p:nvSpPr>
        <p:spPr>
          <a:xfrm>
            <a:off x="704850" y="1552575"/>
            <a:ext cx="552450" cy="247650"/>
          </a:xfrm>
          <a:prstGeom prst="roundRect">
            <a:avLst>
              <a:gd name="adj" fmla="val 53846"/>
            </a:avLst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9" name="文本框 98" descr="{&quot;isTemplate&quot;:true,&quot;type&quot;:&quot;text&quot;}"/>
          <p:cNvSpPr txBox="1"/>
          <p:nvPr/>
        </p:nvSpPr>
        <p:spPr>
          <a:xfrm>
            <a:off x="819150" y="1600200"/>
            <a:ext cx="3238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EFCF6"/>
                </a:solidFill>
                <a:latin typeface="Segoe UI"/>
                <a:ea typeface="Segoe UI"/>
              </a:rPr>
              <a:t>NOW</a:t>
            </a:r>
            <a:endParaRPr/>
          </a:p>
        </p:txBody>
      </p:sp>
      <p:sp>
        <p:nvSpPr>
          <p:cNvPr id="100" name="文本框 99" descr="{&quot;isTemplate&quot;:true,&quot;type&quot;:&quot;text&quot;}"/>
          <p:cNvSpPr txBox="1"/>
          <p:nvPr/>
        </p:nvSpPr>
        <p:spPr>
          <a:xfrm>
            <a:off x="704850" y="1914525"/>
            <a:ext cx="23241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2D5C3B"/>
                </a:solidFill>
                <a:latin typeface="Georgia"/>
                <a:ea typeface="Georgia"/>
              </a:rPr>
              <a:t>In the hackathon build</a:t>
            </a:r>
            <a:endParaRPr/>
          </a:p>
        </p:txBody>
      </p:sp>
      <p:sp>
        <p:nvSpPr>
          <p:cNvPr id="101" name="矩形 100"/>
          <p:cNvSpPr/>
          <p:nvPr/>
        </p:nvSpPr>
        <p:spPr>
          <a:xfrm>
            <a:off x="704850" y="2286000"/>
            <a:ext cx="2324100" cy="9525"/>
          </a:xfrm>
          <a:prstGeom prst="rect">
            <a:avLst/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2" name="文本框 101" descr="{&quot;isTemplate&quot;:true,&quot;type&quot;:&quot;text&quot;}"/>
          <p:cNvSpPr txBox="1"/>
          <p:nvPr/>
        </p:nvSpPr>
        <p:spPr>
          <a:xfrm>
            <a:off x="704850" y="2390775"/>
            <a:ext cx="23241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en-US" sz="1050" b="1">
                <a:solidFill>
                  <a:srgbClr val="30271D"/>
                </a:solidFill>
                <a:latin typeface="Segoe UI"/>
                <a:ea typeface="Segoe UI"/>
              </a:rPr>
              <a:t>Guided Cantonese capture</a:t>
            </a:r>
            <a:endParaRPr/>
          </a:p>
        </p:txBody>
      </p:sp>
      <p:sp>
        <p:nvSpPr>
          <p:cNvPr id="103" name="文本框 102" descr="{&quot;isTemplate&quot;:true,&quot;type&quot;:&quot;text&quot;}"/>
          <p:cNvSpPr txBox="1"/>
          <p:nvPr/>
        </p:nvSpPr>
        <p:spPr>
          <a:xfrm>
            <a:off x="704850" y="2609850"/>
            <a:ext cx="23241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en-US" sz="975">
                <a:solidFill>
                  <a:srgbClr val="2D5C3B"/>
                </a:solidFill>
                <a:latin typeface="Segoe UI"/>
                <a:ea typeface="Segoe UI"/>
              </a:rPr>
              <a:t>built</a:t>
            </a:r>
            <a:endParaRPr/>
          </a:p>
        </p:txBody>
      </p:sp>
      <p:sp>
        <p:nvSpPr>
          <p:cNvPr id="104" name="文本框 103" descr="{&quot;isTemplate&quot;:true,&quot;type&quot;:&quot;text&quot;}"/>
          <p:cNvSpPr txBox="1"/>
          <p:nvPr/>
        </p:nvSpPr>
        <p:spPr>
          <a:xfrm>
            <a:off x="704850" y="2924175"/>
            <a:ext cx="23241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en-US" sz="1050" b="1">
                <a:solidFill>
                  <a:srgbClr val="30271D"/>
                </a:solidFill>
                <a:latin typeface="Segoe UI"/>
                <a:ea typeface="Segoe UI"/>
              </a:rPr>
              <a:t>Word-level audio alignment</a:t>
            </a:r>
            <a:endParaRPr/>
          </a:p>
        </p:txBody>
      </p:sp>
      <p:sp>
        <p:nvSpPr>
          <p:cNvPr id="105" name="文本框 104" descr="{&quot;isTemplate&quot;:true,&quot;type&quot;:&quot;text&quot;}"/>
          <p:cNvSpPr txBox="1"/>
          <p:nvPr/>
        </p:nvSpPr>
        <p:spPr>
          <a:xfrm>
            <a:off x="704850" y="3143250"/>
            <a:ext cx="23241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en-US" sz="975">
                <a:solidFill>
                  <a:srgbClr val="2D5C3B"/>
                </a:solidFill>
                <a:latin typeface="Segoe UI"/>
                <a:ea typeface="Segoe UI"/>
              </a:rPr>
              <a:t>built</a:t>
            </a:r>
            <a:endParaRPr/>
          </a:p>
        </p:txBody>
      </p:sp>
      <p:sp>
        <p:nvSpPr>
          <p:cNvPr id="106" name="文本框 105" descr="{&quot;isTemplate&quot;:true,&quot;type&quot;:&quot;text&quot;}"/>
          <p:cNvSpPr txBox="1"/>
          <p:nvPr/>
        </p:nvSpPr>
        <p:spPr>
          <a:xfrm>
            <a:off x="704850" y="3457575"/>
            <a:ext cx="23241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en-US" sz="1050" b="1">
                <a:solidFill>
                  <a:srgbClr val="30271D"/>
                </a:solidFill>
                <a:latin typeface="Segoe UI"/>
                <a:ea typeface="Segoe UI"/>
              </a:rPr>
              <a:t>Four privacy tiers</a:t>
            </a:r>
            <a:endParaRPr/>
          </a:p>
        </p:txBody>
      </p:sp>
      <p:sp>
        <p:nvSpPr>
          <p:cNvPr id="107" name="文本框 106" descr="{&quot;isTemplate&quot;:true,&quot;type&quot;:&quot;text&quot;}"/>
          <p:cNvSpPr txBox="1"/>
          <p:nvPr/>
        </p:nvSpPr>
        <p:spPr>
          <a:xfrm>
            <a:off x="704850" y="3676650"/>
            <a:ext cx="23241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en-US" sz="975">
                <a:solidFill>
                  <a:srgbClr val="2D5C3B"/>
                </a:solidFill>
                <a:latin typeface="Segoe UI"/>
                <a:ea typeface="Segoe UI"/>
              </a:rPr>
              <a:t>interface only</a:t>
            </a:r>
            <a:endParaRPr/>
          </a:p>
        </p:txBody>
      </p:sp>
      <p:sp>
        <p:nvSpPr>
          <p:cNvPr id="108" name="文本框 107" descr="{&quot;isTemplate&quot;:true,&quot;type&quot;:&quot;text&quot;}"/>
          <p:cNvSpPr txBox="1"/>
          <p:nvPr/>
        </p:nvSpPr>
        <p:spPr>
          <a:xfrm>
            <a:off x="704850" y="3990975"/>
            <a:ext cx="23241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en-US" sz="1050" b="1">
                <a:solidFill>
                  <a:srgbClr val="30271D"/>
                </a:solidFill>
                <a:latin typeface="Segoe UI"/>
                <a:ea typeface="Segoe UI"/>
              </a:rPr>
              <a:t>Three-version story card</a:t>
            </a:r>
            <a:endParaRPr/>
          </a:p>
        </p:txBody>
      </p:sp>
      <p:sp>
        <p:nvSpPr>
          <p:cNvPr id="109" name="文本框 108" descr="{&quot;isTemplate&quot;:true,&quot;type&quot;:&quot;text&quot;}"/>
          <p:cNvSpPr txBox="1"/>
          <p:nvPr/>
        </p:nvSpPr>
        <p:spPr>
          <a:xfrm>
            <a:off x="704850" y="4210050"/>
            <a:ext cx="23241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en-US" sz="975">
                <a:solidFill>
                  <a:srgbClr val="2D5C3B"/>
                </a:solidFill>
                <a:latin typeface="Segoe UI"/>
                <a:ea typeface="Segoe UI"/>
              </a:rPr>
              <a:t>built</a:t>
            </a:r>
            <a:endParaRPr/>
          </a:p>
        </p:txBody>
      </p:sp>
      <p:sp>
        <p:nvSpPr>
          <p:cNvPr id="110" name="文本框 109" descr="{&quot;isTemplate&quot;:true,&quot;type&quot;:&quot;text&quot;}"/>
          <p:cNvSpPr txBox="1"/>
          <p:nvPr/>
        </p:nvSpPr>
        <p:spPr>
          <a:xfrm>
            <a:off x="704850" y="4524375"/>
            <a:ext cx="23241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en-US" sz="1050" b="1">
                <a:solidFill>
                  <a:srgbClr val="30271D"/>
                </a:solidFill>
                <a:latin typeface="Segoe UI"/>
                <a:ea typeface="Segoe UI"/>
              </a:rPr>
              <a:t>Grounded Q&amp;A with timestamps</a:t>
            </a:r>
            <a:endParaRPr/>
          </a:p>
        </p:txBody>
      </p:sp>
      <p:sp>
        <p:nvSpPr>
          <p:cNvPr id="111" name="文本框 110" descr="{&quot;isTemplate&quot;:true,&quot;type&quot;:&quot;text&quot;}"/>
          <p:cNvSpPr txBox="1"/>
          <p:nvPr/>
        </p:nvSpPr>
        <p:spPr>
          <a:xfrm>
            <a:off x="704850" y="4743450"/>
            <a:ext cx="23241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en-US" sz="975">
                <a:solidFill>
                  <a:srgbClr val="2D5C3B"/>
                </a:solidFill>
                <a:latin typeface="Segoe UI"/>
                <a:ea typeface="Segoe UI"/>
              </a:rPr>
              <a:t>built</a:t>
            </a:r>
            <a:endParaRPr/>
          </a:p>
        </p:txBody>
      </p:sp>
      <p:sp>
        <p:nvSpPr>
          <p:cNvPr id="112" name="矩形: 圆角 111"/>
          <p:cNvSpPr/>
          <p:nvPr/>
        </p:nvSpPr>
        <p:spPr>
          <a:xfrm>
            <a:off x="3352800" y="1381125"/>
            <a:ext cx="2667000" cy="3810000"/>
          </a:xfrm>
          <a:prstGeom prst="roundRect">
            <a:avLst>
              <a:gd name="adj" fmla="val 6429"/>
            </a:avLst>
          </a:prstGeom>
          <a:solidFill>
            <a:srgbClr val="FEFCF6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3" name="矩形: 圆角 112"/>
          <p:cNvSpPr/>
          <p:nvPr/>
        </p:nvSpPr>
        <p:spPr>
          <a:xfrm>
            <a:off x="3524250" y="1552575"/>
            <a:ext cx="552450" cy="247650"/>
          </a:xfrm>
          <a:prstGeom prst="roundRect">
            <a:avLst>
              <a:gd name="adj" fmla="val 53846"/>
            </a:avLst>
          </a:prstGeom>
          <a:solidFill>
            <a:srgbClr val="D8EF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4" name="文本框 113" descr="{&quot;isTemplate&quot;:true,&quot;type&quot;:&quot;text&quot;}"/>
          <p:cNvSpPr txBox="1"/>
          <p:nvPr/>
        </p:nvSpPr>
        <p:spPr>
          <a:xfrm>
            <a:off x="3638550" y="1600200"/>
            <a:ext cx="3238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D5C3B"/>
                </a:solidFill>
                <a:latin typeface="Segoe UI"/>
                <a:ea typeface="Segoe UI"/>
              </a:rPr>
              <a:t>NEXT</a:t>
            </a:r>
            <a:endParaRPr/>
          </a:p>
        </p:txBody>
      </p:sp>
      <p:sp>
        <p:nvSpPr>
          <p:cNvPr id="115" name="文本框 114" descr="{&quot;isTemplate&quot;:true,&quot;type&quot;:&quot;text&quot;}"/>
          <p:cNvSpPr txBox="1"/>
          <p:nvPr/>
        </p:nvSpPr>
        <p:spPr>
          <a:xfrm>
            <a:off x="3524250" y="1914525"/>
            <a:ext cx="23241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2D5C3B"/>
                </a:solidFill>
                <a:latin typeface="Georgia"/>
                <a:ea typeface="Georgia"/>
              </a:rPr>
              <a:t>0 – 3 months</a:t>
            </a:r>
            <a:endParaRPr/>
          </a:p>
        </p:txBody>
      </p:sp>
      <p:sp>
        <p:nvSpPr>
          <p:cNvPr id="116" name="矩形 115"/>
          <p:cNvSpPr/>
          <p:nvPr/>
        </p:nvSpPr>
        <p:spPr>
          <a:xfrm>
            <a:off x="3524250" y="2286000"/>
            <a:ext cx="2324100" cy="9525"/>
          </a:xfrm>
          <a:prstGeom prst="rect">
            <a:avLst/>
          </a:prstGeom>
          <a:solidFill>
            <a:srgbClr val="D8EF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7" name="文本框 116" descr="{&quot;isTemplate&quot;:true,&quot;type&quot;:&quot;text&quot;}"/>
          <p:cNvSpPr txBox="1"/>
          <p:nvPr/>
        </p:nvSpPr>
        <p:spPr>
          <a:xfrm>
            <a:off x="3524250" y="2390775"/>
            <a:ext cx="2324100" cy="438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en-US" sz="1050" b="1">
                <a:solidFill>
                  <a:srgbClr val="30271D"/>
                </a:solidFill>
                <a:latin typeface="Segoe UI"/>
                <a:ea typeface="Segoe UI"/>
              </a:rPr>
              <a:t>Backend enforcement of privacy tiers</a:t>
            </a:r>
            <a:endParaRPr/>
          </a:p>
        </p:txBody>
      </p:sp>
      <p:sp>
        <p:nvSpPr>
          <p:cNvPr id="118" name="文本框 117" descr="{&quot;isTemplate&quot;:true,&quot;type&quot;:&quot;text&quot;}"/>
          <p:cNvSpPr txBox="1"/>
          <p:nvPr/>
        </p:nvSpPr>
        <p:spPr>
          <a:xfrm>
            <a:off x="3524250" y="2828925"/>
            <a:ext cx="23241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en-US" sz="975">
                <a:solidFill>
                  <a:srgbClr val="558863"/>
                </a:solidFill>
                <a:latin typeface="Segoe UI"/>
                <a:ea typeface="Segoe UI"/>
              </a:rPr>
              <a:t>needs a real account and storage model</a:t>
            </a:r>
            <a:endParaRPr/>
          </a:p>
        </p:txBody>
      </p:sp>
      <p:sp>
        <p:nvSpPr>
          <p:cNvPr id="119" name="文本框 118" descr="{&quot;isTemplate&quot;:true,&quot;type&quot;:&quot;text&quot;}"/>
          <p:cNvSpPr txBox="1"/>
          <p:nvPr/>
        </p:nvSpPr>
        <p:spPr>
          <a:xfrm>
            <a:off x="3524250" y="3143250"/>
            <a:ext cx="2324100" cy="438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en-US" sz="1050" b="1">
                <a:solidFill>
                  <a:srgbClr val="30271D"/>
                </a:solidFill>
                <a:latin typeface="Segoe UI"/>
                <a:ea typeface="Segoe UI"/>
              </a:rPr>
              <a:t>Real map on Leaflet + OpenStreetMap</a:t>
            </a:r>
            <a:endParaRPr/>
          </a:p>
        </p:txBody>
      </p:sp>
      <p:sp>
        <p:nvSpPr>
          <p:cNvPr id="120" name="文本框 119" descr="{&quot;isTemplate&quot;:true,&quot;type&quot;:&quot;text&quot;}"/>
          <p:cNvSpPr txBox="1"/>
          <p:nvPr/>
        </p:nvSpPr>
        <p:spPr>
          <a:xfrm>
            <a:off x="3524250" y="3581400"/>
            <a:ext cx="23241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en-US" sz="975">
                <a:solidFill>
                  <a:srgbClr val="558863"/>
                </a:solidFill>
                <a:latin typeface="Segoe UI"/>
                <a:ea typeface="Segoe UI"/>
              </a:rPr>
              <a:t>basemap licence must be verified first</a:t>
            </a:r>
            <a:endParaRPr/>
          </a:p>
        </p:txBody>
      </p:sp>
      <p:sp>
        <p:nvSpPr>
          <p:cNvPr id="121" name="文本框 120" descr="{&quot;isTemplate&quot;:true,&quot;type&quot;:&quot;text&quot;}"/>
          <p:cNvSpPr txBox="1"/>
          <p:nvPr/>
        </p:nvSpPr>
        <p:spPr>
          <a:xfrm>
            <a:off x="3524250" y="3895725"/>
            <a:ext cx="2324100" cy="438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en-US" sz="1050" b="1">
                <a:solidFill>
                  <a:srgbClr val="30271D"/>
                </a:solidFill>
                <a:latin typeface="Segoe UI"/>
                <a:ea typeface="Segoe UI"/>
              </a:rPr>
              <a:t>Volunteer review queue for unrecognised dialects</a:t>
            </a:r>
            <a:endParaRPr/>
          </a:p>
        </p:txBody>
      </p:sp>
      <p:sp>
        <p:nvSpPr>
          <p:cNvPr id="122" name="文本框 121" descr="{&quot;isTemplate&quot;:true,&quot;type&quot;:&quot;text&quot;}"/>
          <p:cNvSpPr txBox="1"/>
          <p:nvPr/>
        </p:nvSpPr>
        <p:spPr>
          <a:xfrm>
            <a:off x="3524250" y="4333875"/>
            <a:ext cx="23241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en-US" sz="975">
                <a:solidFill>
                  <a:srgbClr val="558863"/>
                </a:solidFill>
                <a:latin typeface="Segoe UI"/>
                <a:ea typeface="Segoe UI"/>
              </a:rPr>
              <a:t>needs a partner running sessions</a:t>
            </a:r>
            <a:endParaRPr/>
          </a:p>
        </p:txBody>
      </p:sp>
      <p:sp>
        <p:nvSpPr>
          <p:cNvPr id="123" name="文本框 122" descr="{&quot;isTemplate&quot;:true,&quot;type&quot;:&quot;text&quot;}"/>
          <p:cNvSpPr txBox="1"/>
          <p:nvPr/>
        </p:nvSpPr>
        <p:spPr>
          <a:xfrm>
            <a:off x="3524250" y="4648200"/>
            <a:ext cx="23241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en-US" sz="1050" b="1">
                <a:solidFill>
                  <a:srgbClr val="30271D"/>
                </a:solidFill>
                <a:latin typeface="Segoe UI"/>
                <a:ea typeface="Segoe UI"/>
              </a:rPr>
              <a:t>Longer and multi-session recordings</a:t>
            </a:r>
            <a:endParaRPr/>
          </a:p>
        </p:txBody>
      </p:sp>
      <p:sp>
        <p:nvSpPr>
          <p:cNvPr id="124" name="文本框 123" descr="{&quot;isTemplate&quot;:true,&quot;type&quot;:&quot;text&quot;}"/>
          <p:cNvSpPr txBox="1"/>
          <p:nvPr/>
        </p:nvSpPr>
        <p:spPr>
          <a:xfrm>
            <a:off x="3524250" y="4867275"/>
            <a:ext cx="23241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en-US" sz="975">
                <a:solidFill>
                  <a:srgbClr val="558863"/>
                </a:solidFill>
                <a:latin typeface="Segoe UI"/>
                <a:ea typeface="Segoe UI"/>
              </a:rPr>
              <a:t>chunking is specified, not built</a:t>
            </a:r>
            <a:endParaRPr/>
          </a:p>
        </p:txBody>
      </p:sp>
      <p:sp>
        <p:nvSpPr>
          <p:cNvPr id="125" name="矩形: 圆角 124"/>
          <p:cNvSpPr/>
          <p:nvPr/>
        </p:nvSpPr>
        <p:spPr>
          <a:xfrm>
            <a:off x="6172200" y="1381125"/>
            <a:ext cx="2667000" cy="3810000"/>
          </a:xfrm>
          <a:prstGeom prst="roundRect">
            <a:avLst>
              <a:gd name="adj" fmla="val 6429"/>
            </a:avLst>
          </a:prstGeom>
          <a:solidFill>
            <a:srgbClr val="FEFCF6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6" name="矩形: 圆角 125"/>
          <p:cNvSpPr/>
          <p:nvPr/>
        </p:nvSpPr>
        <p:spPr>
          <a:xfrm>
            <a:off x="6343650" y="1552575"/>
            <a:ext cx="600075" cy="247650"/>
          </a:xfrm>
          <a:prstGeom prst="roundRect">
            <a:avLst>
              <a:gd name="adj" fmla="val 53846"/>
            </a:avLst>
          </a:prstGeom>
          <a:solidFill>
            <a:srgbClr val="D8EF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7" name="文本框 126" descr="{&quot;isTemplate&quot;:true,&quot;type&quot;:&quot;text&quot;}"/>
          <p:cNvSpPr txBox="1"/>
          <p:nvPr/>
        </p:nvSpPr>
        <p:spPr>
          <a:xfrm>
            <a:off x="6457950" y="1600200"/>
            <a:ext cx="3714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D5C3B"/>
                </a:solidFill>
                <a:latin typeface="Segoe UI"/>
                <a:ea typeface="Segoe UI"/>
              </a:rPr>
              <a:t>LATER</a:t>
            </a:r>
            <a:endParaRPr/>
          </a:p>
        </p:txBody>
      </p:sp>
      <p:sp>
        <p:nvSpPr>
          <p:cNvPr id="128" name="文本框 127" descr="{&quot;isTemplate&quot;:true,&quot;type&quot;:&quot;text&quot;}"/>
          <p:cNvSpPr txBox="1"/>
          <p:nvPr/>
        </p:nvSpPr>
        <p:spPr>
          <a:xfrm>
            <a:off x="6343650" y="1914525"/>
            <a:ext cx="23241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2D5C3B"/>
                </a:solidFill>
                <a:latin typeface="Georgia"/>
                <a:ea typeface="Georgia"/>
              </a:rPr>
              <a:t>6 – 12 months</a:t>
            </a:r>
            <a:endParaRPr/>
          </a:p>
        </p:txBody>
      </p:sp>
      <p:sp>
        <p:nvSpPr>
          <p:cNvPr id="129" name="矩形 128"/>
          <p:cNvSpPr/>
          <p:nvPr/>
        </p:nvSpPr>
        <p:spPr>
          <a:xfrm>
            <a:off x="6343650" y="2286000"/>
            <a:ext cx="2324100" cy="9525"/>
          </a:xfrm>
          <a:prstGeom prst="rect">
            <a:avLst/>
          </a:prstGeom>
          <a:solidFill>
            <a:srgbClr val="D8EF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0" name="文本框 129" descr="{&quot;isTemplate&quot;:true,&quot;type&quot;:&quot;text&quot;}"/>
          <p:cNvSpPr txBox="1"/>
          <p:nvPr/>
        </p:nvSpPr>
        <p:spPr>
          <a:xfrm>
            <a:off x="6343650" y="2390775"/>
            <a:ext cx="2324100" cy="438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en-US" sz="1050" b="1">
                <a:solidFill>
                  <a:srgbClr val="30271D"/>
                </a:solidFill>
                <a:latin typeface="Segoe UI"/>
                <a:ea typeface="Segoe UI"/>
              </a:rPr>
              <a:t>Hakka, Hoklo and Wai Tau recognition</a:t>
            </a:r>
            <a:endParaRPr/>
          </a:p>
        </p:txBody>
      </p:sp>
      <p:sp>
        <p:nvSpPr>
          <p:cNvPr id="131" name="文本框 130" descr="{&quot;isTemplate&quot;:true,&quot;type&quot;:&quot;text&quot;}"/>
          <p:cNvSpPr txBox="1"/>
          <p:nvPr/>
        </p:nvSpPr>
        <p:spPr>
          <a:xfrm>
            <a:off x="6343650" y="2828925"/>
            <a:ext cx="2324100" cy="4095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en-US" sz="975">
                <a:solidFill>
                  <a:srgbClr val="558863"/>
                </a:solidFill>
                <a:latin typeface="Segoe UI"/>
                <a:ea typeface="Segoe UI"/>
              </a:rPr>
              <a:t>no training data or ASR model exists for them yet</a:t>
            </a:r>
            <a:endParaRPr/>
          </a:p>
        </p:txBody>
      </p:sp>
      <p:sp>
        <p:nvSpPr>
          <p:cNvPr id="132" name="文本框 131" descr="{&quot;isTemplate&quot;:true,&quot;type&quot;:&quot;text&quot;}"/>
          <p:cNvSpPr txBox="1"/>
          <p:nvPr/>
        </p:nvSpPr>
        <p:spPr>
          <a:xfrm>
            <a:off x="6343650" y="3343275"/>
            <a:ext cx="2324100" cy="438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en-US" sz="1050" b="1">
                <a:solidFill>
                  <a:srgbClr val="30271D"/>
                </a:solidFill>
                <a:latin typeface="Segoe UI"/>
                <a:ea typeface="Segoe UI"/>
              </a:rPr>
              <a:t>Handover to a library, museum or district NGO</a:t>
            </a:r>
            <a:endParaRPr/>
          </a:p>
        </p:txBody>
      </p:sp>
      <p:sp>
        <p:nvSpPr>
          <p:cNvPr id="133" name="文本框 132" descr="{&quot;isTemplate&quot;:true,&quot;type&quot;:&quot;text&quot;}"/>
          <p:cNvSpPr txBox="1"/>
          <p:nvPr/>
        </p:nvSpPr>
        <p:spPr>
          <a:xfrm>
            <a:off x="6343650" y="3781425"/>
            <a:ext cx="23241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en-US" sz="975">
                <a:solidFill>
                  <a:srgbClr val="558863"/>
                </a:solidFill>
                <a:latin typeface="Segoe UI"/>
                <a:ea typeface="Segoe UI"/>
              </a:rPr>
              <a:t>needs a custodian and a data agreement</a:t>
            </a:r>
            <a:endParaRPr/>
          </a:p>
        </p:txBody>
      </p:sp>
      <p:sp>
        <p:nvSpPr>
          <p:cNvPr id="134" name="文本框 133" descr="{&quot;isTemplate&quot;:true,&quot;type&quot;:&quot;text&quot;}"/>
          <p:cNvSpPr txBox="1"/>
          <p:nvPr/>
        </p:nvSpPr>
        <p:spPr>
          <a:xfrm>
            <a:off x="6343650" y="4095750"/>
            <a:ext cx="2324100" cy="438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en-US" sz="1050" b="1">
                <a:solidFill>
                  <a:srgbClr val="30271D"/>
                </a:solidFill>
                <a:latin typeface="Segoe UI"/>
                <a:ea typeface="Segoe UI"/>
              </a:rPr>
              <a:t>School and community-curated collections</a:t>
            </a:r>
            <a:endParaRPr/>
          </a:p>
        </p:txBody>
      </p:sp>
      <p:sp>
        <p:nvSpPr>
          <p:cNvPr id="135" name="文本框 134" descr="{&quot;isTemplate&quot;:true,&quot;type&quot;:&quot;text&quot;}"/>
          <p:cNvSpPr txBox="1"/>
          <p:nvPr/>
        </p:nvSpPr>
        <p:spPr>
          <a:xfrm>
            <a:off x="6343650" y="4533900"/>
            <a:ext cx="23241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en-US" sz="975">
                <a:solidFill>
                  <a:srgbClr val="558863"/>
                </a:solidFill>
                <a:latin typeface="Segoe UI"/>
                <a:ea typeface="Segoe UI"/>
              </a:rPr>
              <a:t>depends on the tiers being enforced</a:t>
            </a:r>
            <a:endParaRPr/>
          </a:p>
        </p:txBody>
      </p:sp>
      <p:sp>
        <p:nvSpPr>
          <p:cNvPr id="136" name="文本框 135" descr="{&quot;isTemplate&quot;:true,&quot;type&quot;:&quot;text&quot;}"/>
          <p:cNvSpPr txBox="1"/>
          <p:nvPr/>
        </p:nvSpPr>
        <p:spPr>
          <a:xfrm>
            <a:off x="6343650" y="4848225"/>
            <a:ext cx="2324100" cy="438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en-US" sz="1050" b="1">
                <a:solidFill>
                  <a:srgbClr val="30271D"/>
                </a:solidFill>
                <a:latin typeface="Segoe UI"/>
                <a:ea typeface="Segoe UI"/>
              </a:rPr>
              <a:t>Offline-first capture for field volunteers</a:t>
            </a:r>
            <a:endParaRPr/>
          </a:p>
        </p:txBody>
      </p:sp>
      <p:sp>
        <p:nvSpPr>
          <p:cNvPr id="137" name="文本框 136" descr="{&quot;isTemplate&quot;:true,&quot;type&quot;:&quot;text&quot;}"/>
          <p:cNvSpPr txBox="1"/>
          <p:nvPr/>
        </p:nvSpPr>
        <p:spPr>
          <a:xfrm>
            <a:off x="6343650" y="5286375"/>
            <a:ext cx="23241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en-US" sz="975">
                <a:solidFill>
                  <a:srgbClr val="558863"/>
                </a:solidFill>
                <a:latin typeface="Segoe UI"/>
                <a:ea typeface="Segoe UI"/>
              </a:rPr>
              <a:t>capture works offline; sync does not</a:t>
            </a:r>
            <a:endParaRPr/>
          </a:p>
        </p:txBody>
      </p:sp>
      <p:sp>
        <p:nvSpPr>
          <p:cNvPr id="138" name="矩形: 圆角 137"/>
          <p:cNvSpPr/>
          <p:nvPr/>
        </p:nvSpPr>
        <p:spPr>
          <a:xfrm>
            <a:off x="8991600" y="1381125"/>
            <a:ext cx="2667000" cy="3810000"/>
          </a:xfrm>
          <a:prstGeom prst="roundRect">
            <a:avLst>
              <a:gd name="adj" fmla="val 6429"/>
            </a:avLst>
          </a:prstGeom>
          <a:solidFill>
            <a:srgbClr val="FEFCF6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9" name="矩形: 圆角 138"/>
          <p:cNvSpPr/>
          <p:nvPr/>
        </p:nvSpPr>
        <p:spPr>
          <a:xfrm>
            <a:off x="9163050" y="1552575"/>
            <a:ext cx="733425" cy="247650"/>
          </a:xfrm>
          <a:prstGeom prst="roundRect">
            <a:avLst>
              <a:gd name="adj" fmla="val 53846"/>
            </a:avLst>
          </a:prstGeom>
          <a:solidFill>
            <a:srgbClr val="D8EF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0" name="文本框 139" descr="{&quot;isTemplate&quot;:true,&quot;type&quot;:&quot;text&quot;}"/>
          <p:cNvSpPr txBox="1"/>
          <p:nvPr/>
        </p:nvSpPr>
        <p:spPr>
          <a:xfrm>
            <a:off x="9277350" y="1600200"/>
            <a:ext cx="5048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D5C3B"/>
                </a:solidFill>
                <a:latin typeface="Segoe UI"/>
                <a:ea typeface="Segoe UI"/>
              </a:rPr>
              <a:t>BEYOND</a:t>
            </a:r>
            <a:endParaRPr/>
          </a:p>
        </p:txBody>
      </p:sp>
      <p:sp>
        <p:nvSpPr>
          <p:cNvPr id="141" name="文本框 140" descr="{&quot;isTemplate&quot;:true,&quot;type&quot;:&quot;text&quot;}"/>
          <p:cNvSpPr txBox="1"/>
          <p:nvPr/>
        </p:nvSpPr>
        <p:spPr>
          <a:xfrm>
            <a:off x="9163050" y="1914525"/>
            <a:ext cx="23241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0000"/>
              </a:lnSpc>
            </a:pPr>
            <a:r>
              <a:rPr lang="en-US" sz="1350" b="1">
                <a:solidFill>
                  <a:srgbClr val="2D5C3B"/>
                </a:solidFill>
                <a:latin typeface="Georgia"/>
                <a:ea typeface="Georgia"/>
              </a:rPr>
              <a:t>Only if the rest works</a:t>
            </a:r>
            <a:endParaRPr/>
          </a:p>
        </p:txBody>
      </p:sp>
      <p:sp>
        <p:nvSpPr>
          <p:cNvPr id="142" name="矩形 141"/>
          <p:cNvSpPr/>
          <p:nvPr/>
        </p:nvSpPr>
        <p:spPr>
          <a:xfrm>
            <a:off x="9163050" y="2286000"/>
            <a:ext cx="2324100" cy="9525"/>
          </a:xfrm>
          <a:prstGeom prst="rect">
            <a:avLst/>
          </a:prstGeom>
          <a:solidFill>
            <a:srgbClr val="D8EF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3" name="文本框 142" descr="{&quot;isTemplate&quot;:true,&quot;type&quot;:&quot;text&quot;}"/>
          <p:cNvSpPr txBox="1"/>
          <p:nvPr/>
        </p:nvSpPr>
        <p:spPr>
          <a:xfrm>
            <a:off x="9163050" y="2390775"/>
            <a:ext cx="2324100" cy="438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en-US" sz="1050" b="1">
                <a:solidFill>
                  <a:srgbClr val="30271D"/>
                </a:solidFill>
                <a:latin typeface="Segoe UI"/>
                <a:ea typeface="Segoe UI"/>
              </a:rPr>
              <a:t>A cross-district, then cross-border dialect archive</a:t>
            </a:r>
            <a:endParaRPr/>
          </a:p>
        </p:txBody>
      </p:sp>
      <p:sp>
        <p:nvSpPr>
          <p:cNvPr id="144" name="文本框 143" descr="{&quot;isTemplate&quot;:true,&quot;type&quot;:&quot;text&quot;}"/>
          <p:cNvSpPr txBox="1"/>
          <p:nvPr/>
        </p:nvSpPr>
        <p:spPr>
          <a:xfrm>
            <a:off x="9163050" y="2828925"/>
            <a:ext cx="23241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en-US" sz="975">
                <a:solidFill>
                  <a:srgbClr val="558863"/>
                </a:solidFill>
                <a:latin typeface="Segoe UI"/>
                <a:ea typeface="Segoe UI"/>
              </a:rPr>
              <a:t>depends on the dialect branch</a:t>
            </a:r>
            <a:endParaRPr/>
          </a:p>
        </p:txBody>
      </p:sp>
      <p:sp>
        <p:nvSpPr>
          <p:cNvPr id="145" name="文本框 144" descr="{&quot;isTemplate&quot;:true,&quot;type&quot;:&quot;text&quot;}"/>
          <p:cNvSpPr txBox="1"/>
          <p:nvPr/>
        </p:nvSpPr>
        <p:spPr>
          <a:xfrm>
            <a:off x="9163050" y="3143250"/>
            <a:ext cx="2324100" cy="438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en-US" sz="1050" b="1">
                <a:solidFill>
                  <a:srgbClr val="30271D"/>
                </a:solidFill>
                <a:latin typeface="Segoe UI"/>
                <a:ea typeface="Segoe UI"/>
              </a:rPr>
              <a:t>Paid transcription and hosting for NGOs and heritage offices</a:t>
            </a:r>
            <a:endParaRPr/>
          </a:p>
        </p:txBody>
      </p:sp>
      <p:sp>
        <p:nvSpPr>
          <p:cNvPr id="146" name="文本框 145" descr="{&quot;isTemplate&quot;:true,&quot;type&quot;:&quot;text&quot;}"/>
          <p:cNvSpPr txBox="1"/>
          <p:nvPr/>
        </p:nvSpPr>
        <p:spPr>
          <a:xfrm>
            <a:off x="9163050" y="3581400"/>
            <a:ext cx="2324100" cy="4095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en-US" sz="975">
                <a:solidFill>
                  <a:srgbClr val="558863"/>
                </a:solidFill>
                <a:latin typeface="Segoe UI"/>
                <a:ea typeface="Segoe UI"/>
              </a:rPr>
              <a:t>needs a consent and compliance framework</a:t>
            </a:r>
            <a:endParaRPr/>
          </a:p>
        </p:txBody>
      </p:sp>
      <p:sp>
        <p:nvSpPr>
          <p:cNvPr id="147" name="文本框 146" descr="{&quot;isTemplate&quot;:true,&quot;type&quot;:&quot;text&quot;}"/>
          <p:cNvSpPr txBox="1"/>
          <p:nvPr/>
        </p:nvSpPr>
        <p:spPr>
          <a:xfrm>
            <a:off x="9163050" y="4095750"/>
            <a:ext cx="2324100" cy="438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en-US" sz="1050" b="1">
                <a:solidFill>
                  <a:srgbClr val="30271D"/>
                </a:solidFill>
                <a:latin typeface="Segoe UI"/>
                <a:ea typeface="Segoe UI"/>
              </a:rPr>
              <a:t>An open metadata schema other archives can federate</a:t>
            </a:r>
            <a:endParaRPr/>
          </a:p>
        </p:txBody>
      </p:sp>
      <p:sp>
        <p:nvSpPr>
          <p:cNvPr id="148" name="文本框 147" descr="{&quot;isTemplate&quot;:true,&quot;type&quot;:&quot;text&quot;}"/>
          <p:cNvSpPr txBox="1"/>
          <p:nvPr/>
        </p:nvSpPr>
        <p:spPr>
          <a:xfrm>
            <a:off x="9163050" y="4533900"/>
            <a:ext cx="23241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en-US" sz="975">
                <a:solidFill>
                  <a:srgbClr val="558863"/>
                </a:solidFill>
                <a:latin typeface="Segoe UI"/>
                <a:ea typeface="Segoe UI"/>
              </a:rPr>
              <a:t>no schema agreed yet</a:t>
            </a:r>
            <a:endParaRPr/>
          </a:p>
        </p:txBody>
      </p:sp>
      <p:sp>
        <p:nvSpPr>
          <p:cNvPr id="149" name="矩形: 圆角 148"/>
          <p:cNvSpPr/>
          <p:nvPr/>
        </p:nvSpPr>
        <p:spPr>
          <a:xfrm>
            <a:off x="533400" y="5343525"/>
            <a:ext cx="11125200" cy="704850"/>
          </a:xfrm>
          <a:prstGeom prst="roundRect">
            <a:avLst>
              <a:gd name="adj" fmla="val 24324"/>
            </a:avLst>
          </a:prstGeom>
          <a:solidFill>
            <a:srgbClr val="FEFCF6"/>
          </a:solidFill>
          <a:ln w="25400">
            <a:solidFill>
              <a:srgbClr val="5588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0" name="文本框 149" descr="{&quot;isTemplate&quot;:true,&quot;type&quot;:&quot;text&quot;}"/>
          <p:cNvSpPr txBox="1"/>
          <p:nvPr/>
        </p:nvSpPr>
        <p:spPr>
          <a:xfrm>
            <a:off x="742950" y="5419725"/>
            <a:ext cx="107061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00" b="1">
                <a:solidFill>
                  <a:srgbClr val="2D5C3B"/>
                </a:solidFill>
                <a:latin typeface="Segoe UI"/>
                <a:ea typeface="Segoe UI"/>
              </a:rPr>
              <a:t>Nothing in the last three columns is in the demo.</a:t>
            </a:r>
            <a:r>
              <a:rPr lang="en-US" sz="1200">
                <a:solidFill>
                  <a:srgbClr val="30271D"/>
                </a:solidFill>
                <a:latin typeface="Segoe UI"/>
                <a:ea typeface="Segoe UI"/>
              </a:rPr>
              <a:t> Each item carries the reason it is not built yet, so the gap between what we showed and what we promise stays visible.</a:t>
            </a:r>
            <a:endParaRPr/>
          </a:p>
        </p:txBody>
      </p:sp>
      <p:sp>
        <p:nvSpPr>
          <p:cNvPr id="151" name="文本框 150" descr="{&quot;isTemplate&quot;:true,&quot;type&quot;:&quot;text&quot;}"/>
          <p:cNvSpPr txBox="1"/>
          <p:nvPr/>
        </p:nvSpPr>
        <p:spPr>
          <a:xfrm>
            <a:off x="533400" y="6448425"/>
            <a:ext cx="19716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2D5C3B">
                    <a:alpha val="75000"/>
                  </a:srgbClr>
                </a:solidFill>
                <a:latin typeface="Segoe UI"/>
                <a:ea typeface="Segoe UI"/>
              </a:rPr>
              <a:t>Voices of the North · HumanLoop</a:t>
            </a:r>
            <a:endParaRPr/>
          </a:p>
        </p:txBody>
      </p:sp>
      <p:sp>
        <p:nvSpPr>
          <p:cNvPr id="152" name="文本框 151" descr="{&quot;isTemplate&quot;:true,&quot;type&quot;:&quot;text&quot;}"/>
          <p:cNvSpPr txBox="1"/>
          <p:nvPr/>
        </p:nvSpPr>
        <p:spPr>
          <a:xfrm>
            <a:off x="11239500" y="6448425"/>
            <a:ext cx="4191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2D5C3B">
                    <a:alpha val="75000"/>
                  </a:srgbClr>
                </a:solidFill>
                <a:latin typeface="Segoe UI"/>
                <a:ea typeface="Segoe UI"/>
              </a:rPr>
              <a:t>12 / 14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矩形 15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5" name="文本框 154" descr="{&quot;isTemplate&quot;:true,&quot;type&quot;:&quot;text&quot;}"/>
          <p:cNvSpPr txBox="1"/>
          <p:nvPr/>
        </p:nvSpPr>
        <p:spPr>
          <a:xfrm>
            <a:off x="533400" y="381000"/>
            <a:ext cx="11125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 spc="180">
                <a:solidFill>
                  <a:srgbClr val="558863"/>
                </a:solidFill>
                <a:latin typeface="Segoe UI"/>
                <a:ea typeface="Segoe UI"/>
              </a:rPr>
              <a:t>FUTURE BRANCH · LANGUAGE</a:t>
            </a:r>
            <a:endParaRPr/>
          </a:p>
        </p:txBody>
      </p:sp>
      <p:sp>
        <p:nvSpPr>
          <p:cNvPr id="156" name="文本框 155" descr="{&quot;isTemplate&quot;:true,&quot;type&quot;:&quot;text&quot;}"/>
          <p:cNvSpPr txBox="1"/>
          <p:nvPr/>
        </p:nvSpPr>
        <p:spPr>
          <a:xfrm>
            <a:off x="533400" y="619125"/>
            <a:ext cx="111252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sz="2550" b="1">
                <a:solidFill>
                  <a:srgbClr val="2D5C3B"/>
                </a:solidFill>
                <a:latin typeface="Georgia"/>
                <a:ea typeface="Georgia"/>
              </a:rPr>
              <a:t>Cantonese works. The other three do not — yet.</a:t>
            </a:r>
            <a:endParaRPr/>
          </a:p>
        </p:txBody>
      </p:sp>
      <p:sp>
        <p:nvSpPr>
          <p:cNvPr id="157" name="矩形 156"/>
          <p:cNvSpPr/>
          <p:nvPr/>
        </p:nvSpPr>
        <p:spPr>
          <a:xfrm>
            <a:off x="533400" y="1200150"/>
            <a:ext cx="2095500" cy="28575"/>
          </a:xfrm>
          <a:prstGeom prst="rect">
            <a:avLst/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8" name="矩形: 圆角 157"/>
          <p:cNvSpPr/>
          <p:nvPr/>
        </p:nvSpPr>
        <p:spPr>
          <a:xfrm>
            <a:off x="533400" y="1362075"/>
            <a:ext cx="11125200" cy="1714500"/>
          </a:xfrm>
          <a:prstGeom prst="roundRect">
            <a:avLst>
              <a:gd name="adj" fmla="val 10000"/>
            </a:avLst>
          </a:prstGeom>
          <a:solidFill>
            <a:srgbClr val="FEFCF6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59" name="图形 15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6750" y="1495425"/>
            <a:ext cx="10858500" cy="1447800"/>
          </a:xfrm>
          <a:prstGeom prst="rect">
            <a:avLst/>
          </a:prstGeom>
          <a:ln/>
        </p:spPr>
      </p:pic>
      <p:sp>
        <p:nvSpPr>
          <p:cNvPr id="160" name="矩形: 圆角 159"/>
          <p:cNvSpPr/>
          <p:nvPr/>
        </p:nvSpPr>
        <p:spPr>
          <a:xfrm>
            <a:off x="533400" y="3209925"/>
            <a:ext cx="3609975" cy="2209800"/>
          </a:xfrm>
          <a:prstGeom prst="roundRect">
            <a:avLst>
              <a:gd name="adj" fmla="val 7759"/>
            </a:avLst>
          </a:prstGeom>
          <a:solidFill>
            <a:srgbClr val="FEFCF6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1" name="文本框 160" descr="{&quot;isTemplate&quot;:true,&quot;type&quot;:&quot;text&quot;}"/>
          <p:cNvSpPr txBox="1"/>
          <p:nvPr/>
        </p:nvSpPr>
        <p:spPr>
          <a:xfrm>
            <a:off x="704850" y="3381375"/>
            <a:ext cx="32670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A7693C"/>
                </a:solidFill>
                <a:latin typeface="Segoe UI"/>
                <a:ea typeface="Segoe UI"/>
              </a:rPr>
              <a:t>PATH A</a:t>
            </a:r>
            <a:endParaRPr/>
          </a:p>
        </p:txBody>
      </p:sp>
      <p:sp>
        <p:nvSpPr>
          <p:cNvPr id="162" name="文本框 161" descr="{&quot;isTemplate&quot;:true,&quot;type&quot;:&quot;text&quot;}"/>
          <p:cNvSpPr txBox="1"/>
          <p:nvPr/>
        </p:nvSpPr>
        <p:spPr>
          <a:xfrm>
            <a:off x="704850" y="3609975"/>
            <a:ext cx="326707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sz="1575" b="1">
                <a:solidFill>
                  <a:srgbClr val="2D5C3B"/>
                </a:solidFill>
                <a:latin typeface="Georgia"/>
                <a:ea typeface="Georgia"/>
              </a:rPr>
              <a:t>Fine-tune a dialect ASR model</a:t>
            </a:r>
            <a:endParaRPr/>
          </a:p>
        </p:txBody>
      </p:sp>
      <p:sp>
        <p:nvSpPr>
          <p:cNvPr id="163" name="文本框 162" descr="{&quot;isTemplate&quot;:true,&quot;type&quot;:&quot;text&quot;}"/>
          <p:cNvSpPr txBox="1"/>
          <p:nvPr/>
        </p:nvSpPr>
        <p:spPr>
          <a:xfrm>
            <a:off x="704850" y="4010025"/>
            <a:ext cx="326707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125">
                <a:solidFill>
                  <a:srgbClr val="30271D"/>
                </a:solidFill>
                <a:latin typeface="Segoe UI"/>
                <a:ea typeface="Segoe UI"/>
              </a:rPr>
              <a:t>Several hours of transcribed audio per dialect, plus fluent speakers to verify it.</a:t>
            </a:r>
            <a:endParaRPr/>
          </a:p>
        </p:txBody>
      </p:sp>
      <p:sp>
        <p:nvSpPr>
          <p:cNvPr id="164" name="文本框 163" descr="{&quot;isTemplate&quot;:true,&quot;type&quot;:&quot;text&quot;}"/>
          <p:cNvSpPr txBox="1"/>
          <p:nvPr/>
        </p:nvSpPr>
        <p:spPr>
          <a:xfrm>
            <a:off x="704850" y="4781550"/>
            <a:ext cx="3267075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558863"/>
                </a:solidFill>
                <a:latin typeface="Segoe UI"/>
                <a:ea typeface="Segoe UI"/>
              </a:rPr>
              <a:t>Most accurate if it works. Slowest and most expensive to obtain — this is the honest blocker.</a:t>
            </a:r>
            <a:endParaRPr/>
          </a:p>
        </p:txBody>
      </p:sp>
      <p:sp>
        <p:nvSpPr>
          <p:cNvPr id="165" name="矩形: 圆角 164"/>
          <p:cNvSpPr/>
          <p:nvPr/>
        </p:nvSpPr>
        <p:spPr>
          <a:xfrm>
            <a:off x="4295775" y="3209925"/>
            <a:ext cx="3600450" cy="2209800"/>
          </a:xfrm>
          <a:prstGeom prst="roundRect">
            <a:avLst>
              <a:gd name="adj" fmla="val 7759"/>
            </a:avLst>
          </a:prstGeom>
          <a:solidFill>
            <a:srgbClr val="FEFCF6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6" name="文本框 165" descr="{&quot;isTemplate&quot;:true,&quot;type&quot;:&quot;text&quot;}"/>
          <p:cNvSpPr txBox="1"/>
          <p:nvPr/>
        </p:nvSpPr>
        <p:spPr>
          <a:xfrm>
            <a:off x="4467225" y="3381375"/>
            <a:ext cx="32575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A7693C"/>
                </a:solidFill>
                <a:latin typeface="Segoe UI"/>
                <a:ea typeface="Segoe UI"/>
              </a:rPr>
              <a:t>PATH B</a:t>
            </a:r>
            <a:endParaRPr/>
          </a:p>
        </p:txBody>
      </p:sp>
      <p:sp>
        <p:nvSpPr>
          <p:cNvPr id="167" name="文本框 166" descr="{&quot;isTemplate&quot;:true,&quot;type&quot;:&quot;text&quot;}"/>
          <p:cNvSpPr txBox="1"/>
          <p:nvPr/>
        </p:nvSpPr>
        <p:spPr>
          <a:xfrm>
            <a:off x="4467225" y="3609975"/>
            <a:ext cx="32575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sz="1575" b="1">
                <a:solidFill>
                  <a:srgbClr val="2D5C3B"/>
                </a:solidFill>
                <a:latin typeface="Georgia"/>
                <a:ea typeface="Georgia"/>
              </a:rPr>
              <a:t>Multilingual normalisation</a:t>
            </a:r>
            <a:endParaRPr/>
          </a:p>
        </p:txBody>
      </p:sp>
      <p:sp>
        <p:nvSpPr>
          <p:cNvPr id="168" name="文本框 167" descr="{&quot;isTemplate&quot;:true,&quot;type&quot;:&quot;text&quot;}"/>
          <p:cNvSpPr txBox="1"/>
          <p:nvPr/>
        </p:nvSpPr>
        <p:spPr>
          <a:xfrm>
            <a:off x="4467225" y="4010025"/>
            <a:ext cx="325755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125">
                <a:solidFill>
                  <a:srgbClr val="30271D"/>
                </a:solidFill>
                <a:latin typeface="Segoe UI"/>
                <a:ea typeface="Segoe UI"/>
              </a:rPr>
              <a:t>A large model that already handles related Sinitic varieties, with Cantonese as the bridge.</a:t>
            </a:r>
            <a:endParaRPr/>
          </a:p>
        </p:txBody>
      </p:sp>
      <p:sp>
        <p:nvSpPr>
          <p:cNvPr id="169" name="文本框 168" descr="{&quot;isTemplate&quot;:true,&quot;type&quot;:&quot;text&quot;}"/>
          <p:cNvSpPr txBox="1"/>
          <p:nvPr/>
        </p:nvSpPr>
        <p:spPr>
          <a:xfrm>
            <a:off x="4467225" y="4781550"/>
            <a:ext cx="32575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558863"/>
                </a:solidFill>
                <a:latin typeface="Segoe UI"/>
                <a:ea typeface="Segoe UI"/>
              </a:rPr>
              <a:t>Fastest to try, least certain. We would mark its output as uncertain by default, for a human to confirm.</a:t>
            </a:r>
            <a:endParaRPr/>
          </a:p>
        </p:txBody>
      </p:sp>
      <p:sp>
        <p:nvSpPr>
          <p:cNvPr id="170" name="矩形: 圆角 169"/>
          <p:cNvSpPr/>
          <p:nvPr/>
        </p:nvSpPr>
        <p:spPr>
          <a:xfrm>
            <a:off x="8048625" y="3209925"/>
            <a:ext cx="3609975" cy="2209800"/>
          </a:xfrm>
          <a:prstGeom prst="roundRect">
            <a:avLst>
              <a:gd name="adj" fmla="val 7759"/>
            </a:avLst>
          </a:prstGeom>
          <a:solidFill>
            <a:srgbClr val="FEFCF6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1" name="文本框 170" descr="{&quot;isTemplate&quot;:true,&quot;type&quot;:&quot;text&quot;}"/>
          <p:cNvSpPr txBox="1"/>
          <p:nvPr/>
        </p:nvSpPr>
        <p:spPr>
          <a:xfrm>
            <a:off x="8220075" y="3381375"/>
            <a:ext cx="32670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A7693C"/>
                </a:solidFill>
                <a:latin typeface="Segoe UI"/>
                <a:ea typeface="Segoe UI"/>
              </a:rPr>
              <a:t>PATH C</a:t>
            </a:r>
            <a:endParaRPr/>
          </a:p>
        </p:txBody>
      </p:sp>
      <p:sp>
        <p:nvSpPr>
          <p:cNvPr id="172" name="文本框 171" descr="{&quot;isTemplate&quot;:true,&quot;type&quot;:&quot;text&quot;}"/>
          <p:cNvSpPr txBox="1"/>
          <p:nvPr/>
        </p:nvSpPr>
        <p:spPr>
          <a:xfrm>
            <a:off x="8220075" y="3609975"/>
            <a:ext cx="326707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sz="1575" b="1">
                <a:solidFill>
                  <a:srgbClr val="2D5C3B"/>
                </a:solidFill>
                <a:latin typeface="Georgia"/>
                <a:ea typeface="Georgia"/>
              </a:rPr>
              <a:t>Volunteer manual transcript</a:t>
            </a:r>
            <a:endParaRPr/>
          </a:p>
        </p:txBody>
      </p:sp>
      <p:sp>
        <p:nvSpPr>
          <p:cNvPr id="173" name="文本框 172" descr="{&quot;isTemplate&quot;:true,&quot;type&quot;:&quot;text&quot;}"/>
          <p:cNvSpPr txBox="1"/>
          <p:nvPr/>
        </p:nvSpPr>
        <p:spPr>
          <a:xfrm>
            <a:off x="8220075" y="4010025"/>
            <a:ext cx="326707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125">
                <a:solidFill>
                  <a:srgbClr val="30271D"/>
                </a:solidFill>
                <a:latin typeface="Segoe UI"/>
                <a:ea typeface="Segoe UI"/>
              </a:rPr>
              <a:t>A person writes the transcript; everything downstream stays exactly as it is today.</a:t>
            </a:r>
            <a:endParaRPr/>
          </a:p>
        </p:txBody>
      </p:sp>
      <p:sp>
        <p:nvSpPr>
          <p:cNvPr id="174" name="文本框 173" descr="{&quot;isTemplate&quot;:true,&quot;type&quot;:&quot;text&quot;}"/>
          <p:cNvSpPr txBox="1"/>
          <p:nvPr/>
        </p:nvSpPr>
        <p:spPr>
          <a:xfrm>
            <a:off x="8220075" y="4781550"/>
            <a:ext cx="3267075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558863"/>
                </a:solidFill>
                <a:latin typeface="Segoe UI"/>
                <a:ea typeface="Segoe UI"/>
              </a:rPr>
              <a:t>Works now. It does not scale, and it puts the labour on the community rather than the system.</a:t>
            </a:r>
            <a:endParaRPr/>
          </a:p>
        </p:txBody>
      </p:sp>
      <p:sp>
        <p:nvSpPr>
          <p:cNvPr id="175" name="矩形: 圆角 174"/>
          <p:cNvSpPr/>
          <p:nvPr/>
        </p:nvSpPr>
        <p:spPr>
          <a:xfrm>
            <a:off x="533400" y="5553075"/>
            <a:ext cx="11125200" cy="647700"/>
          </a:xfrm>
          <a:prstGeom prst="roundRect">
            <a:avLst>
              <a:gd name="adj" fmla="val 26471"/>
            </a:avLst>
          </a:prstGeom>
          <a:solidFill>
            <a:srgbClr val="2D5C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6" name="文本框 175" descr="{&quot;isTemplate&quot;:true,&quot;type&quot;:&quot;text&quot;}"/>
          <p:cNvSpPr txBox="1"/>
          <p:nvPr/>
        </p:nvSpPr>
        <p:spPr>
          <a:xfrm>
            <a:off x="742950" y="5610225"/>
            <a:ext cx="10706100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200" b="1">
                <a:solidFill>
                  <a:srgbClr val="FEFCF6"/>
                </a:solidFill>
                <a:latin typeface="Segoe UI"/>
                <a:ea typeface="Segoe UI"/>
              </a:rPr>
              <a:t>How we would know it works:</a:t>
            </a:r>
            <a:r>
              <a:rPr lang="en-US" sz="1200">
                <a:solidFill>
                  <a:srgbClr val="FEFCF6"/>
                </a:solidFill>
                <a:latin typeface="Segoe UI"/>
                <a:ea typeface="Segoe UI"/>
              </a:rPr>
              <a:t> measure sentence-level confidence on a held-out set of that dialect, published with its size and its speakers, before we claim anything about it.</a:t>
            </a:r>
            <a:endParaRPr/>
          </a:p>
        </p:txBody>
      </p:sp>
      <p:sp>
        <p:nvSpPr>
          <p:cNvPr id="177" name="文本框 176" descr="{&quot;isTemplate&quot;:true,&quot;type&quot;:&quot;text&quot;}"/>
          <p:cNvSpPr txBox="1"/>
          <p:nvPr/>
        </p:nvSpPr>
        <p:spPr>
          <a:xfrm>
            <a:off x="533400" y="6448425"/>
            <a:ext cx="44196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2D5C3B">
                    <a:alpha val="75000"/>
                  </a:srgbClr>
                </a:solidFill>
                <a:latin typeface="Segoe UI"/>
                <a:ea typeface="Segoe UI"/>
              </a:rPr>
              <a:t>Voices of the North · HumanLoop — this page describes work not yet done</a:t>
            </a:r>
            <a:endParaRPr/>
          </a:p>
        </p:txBody>
      </p:sp>
      <p:sp>
        <p:nvSpPr>
          <p:cNvPr id="178" name="文本框 177" descr="{&quot;isTemplate&quot;:true,&quot;type&quot;:&quot;text&quot;}"/>
          <p:cNvSpPr txBox="1"/>
          <p:nvPr/>
        </p:nvSpPr>
        <p:spPr>
          <a:xfrm>
            <a:off x="11239500" y="6448425"/>
            <a:ext cx="4191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2D5C3B">
                    <a:alpha val="75000"/>
                  </a:srgbClr>
                </a:solidFill>
                <a:latin typeface="Segoe UI"/>
                <a:ea typeface="Segoe UI"/>
              </a:rPr>
              <a:t>13 / 14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矩形 17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1" name="文本框 180" descr="{&quot;isTemplate&quot;:true,&quot;type&quot;:&quot;text&quot;}"/>
          <p:cNvSpPr txBox="1"/>
          <p:nvPr/>
        </p:nvSpPr>
        <p:spPr>
          <a:xfrm>
            <a:off x="533400" y="381000"/>
            <a:ext cx="11125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 spc="180">
                <a:solidFill>
                  <a:srgbClr val="558863"/>
                </a:solidFill>
                <a:latin typeface="Segoe UI"/>
                <a:ea typeface="Segoe UI"/>
              </a:rPr>
              <a:t>IMPACT · HOW WE WOULD MEASURE IT</a:t>
            </a:r>
            <a:endParaRPr/>
          </a:p>
        </p:txBody>
      </p:sp>
      <p:sp>
        <p:nvSpPr>
          <p:cNvPr id="182" name="文本框 181" descr="{&quot;isTemplate&quot;:true,&quot;type&quot;:&quot;text&quot;}"/>
          <p:cNvSpPr txBox="1"/>
          <p:nvPr/>
        </p:nvSpPr>
        <p:spPr>
          <a:xfrm>
            <a:off x="533400" y="619125"/>
            <a:ext cx="111252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sz="2550" b="1">
                <a:solidFill>
                  <a:srgbClr val="2D5C3B"/>
                </a:solidFill>
                <a:latin typeface="Georgia"/>
                <a:ea typeface="Georgia"/>
              </a:rPr>
              <a:t>Three goals, three countable definitions</a:t>
            </a:r>
            <a:endParaRPr/>
          </a:p>
        </p:txBody>
      </p:sp>
      <p:sp>
        <p:nvSpPr>
          <p:cNvPr id="183" name="矩形 182"/>
          <p:cNvSpPr/>
          <p:nvPr/>
        </p:nvSpPr>
        <p:spPr>
          <a:xfrm>
            <a:off x="533400" y="1200150"/>
            <a:ext cx="2095500" cy="28575"/>
          </a:xfrm>
          <a:prstGeom prst="rect">
            <a:avLst/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4" name="矩形: 圆角 183"/>
          <p:cNvSpPr/>
          <p:nvPr/>
        </p:nvSpPr>
        <p:spPr>
          <a:xfrm>
            <a:off x="533400" y="1381125"/>
            <a:ext cx="3609975" cy="2762250"/>
          </a:xfrm>
          <a:prstGeom prst="roundRect">
            <a:avLst>
              <a:gd name="adj" fmla="val 6207"/>
            </a:avLst>
          </a:prstGeom>
          <a:solidFill>
            <a:srgbClr val="FEFCF6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5" name="矩形: 圆角 184"/>
          <p:cNvSpPr/>
          <p:nvPr/>
        </p:nvSpPr>
        <p:spPr>
          <a:xfrm>
            <a:off x="704850" y="1552575"/>
            <a:ext cx="381000" cy="381000"/>
          </a:xfrm>
          <a:prstGeom prst="roundRect">
            <a:avLst>
              <a:gd name="adj" fmla="val 30000"/>
            </a:avLst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6" name="文本框 185" descr="{&quot;isTemplate&quot;:true,&quot;type&quot;:&quot;text&quot;}"/>
          <p:cNvSpPr txBox="1"/>
          <p:nvPr/>
        </p:nvSpPr>
        <p:spPr>
          <a:xfrm>
            <a:off x="828675" y="1657350"/>
            <a:ext cx="1428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EFCF6"/>
                </a:solidFill>
                <a:latin typeface="Georgia"/>
                <a:ea typeface="Georgia"/>
              </a:rPr>
              <a:t>11</a:t>
            </a:r>
            <a:endParaRPr/>
          </a:p>
        </p:txBody>
      </p:sp>
      <p:sp>
        <p:nvSpPr>
          <p:cNvPr id="187" name="文本框 186" descr="{&quot;isTemplate&quot;:true,&quot;type&quot;:&quot;text&quot;}"/>
          <p:cNvSpPr txBox="1"/>
          <p:nvPr/>
        </p:nvSpPr>
        <p:spPr>
          <a:xfrm>
            <a:off x="1181100" y="1666875"/>
            <a:ext cx="5143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 spc="105">
                <a:solidFill>
                  <a:srgbClr val="558863"/>
                </a:solidFill>
                <a:latin typeface="Segoe UI"/>
                <a:ea typeface="Segoe UI"/>
              </a:rPr>
              <a:t>SDG 11</a:t>
            </a:r>
            <a:endParaRPr/>
          </a:p>
        </p:txBody>
      </p:sp>
      <p:sp>
        <p:nvSpPr>
          <p:cNvPr id="188" name="文本框 187" descr="{&quot;isTemplate&quot;:true,&quot;type&quot;:&quot;text&quot;}"/>
          <p:cNvSpPr txBox="1"/>
          <p:nvPr/>
        </p:nvSpPr>
        <p:spPr>
          <a:xfrm>
            <a:off x="704850" y="2047875"/>
            <a:ext cx="3267075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1575" b="1">
                <a:solidFill>
                  <a:srgbClr val="2D5C3B"/>
                </a:solidFill>
                <a:latin typeface="Georgia"/>
                <a:ea typeface="Georgia"/>
              </a:rPr>
              <a:t>Sustainable cities and communities</a:t>
            </a:r>
            <a:endParaRPr/>
          </a:p>
        </p:txBody>
      </p:sp>
      <p:sp>
        <p:nvSpPr>
          <p:cNvPr id="189" name="矩形 188"/>
          <p:cNvSpPr/>
          <p:nvPr/>
        </p:nvSpPr>
        <p:spPr>
          <a:xfrm>
            <a:off x="704850" y="2743200"/>
            <a:ext cx="3267075" cy="9525"/>
          </a:xfrm>
          <a:prstGeom prst="rect">
            <a:avLst/>
          </a:prstGeom>
          <a:solidFill>
            <a:srgbClr val="D8EF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0" name="文本框 189" descr="{&quot;isTemplate&quot;:true,&quot;type&quot;:&quot;text&quot;}"/>
          <p:cNvSpPr txBox="1"/>
          <p:nvPr/>
        </p:nvSpPr>
        <p:spPr>
          <a:xfrm>
            <a:off x="704850" y="2847975"/>
            <a:ext cx="32670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558863"/>
                </a:solidFill>
                <a:latin typeface="Segoe UI"/>
                <a:ea typeface="Segoe UI"/>
              </a:rPr>
              <a:t>Measured as</a:t>
            </a:r>
            <a:endParaRPr/>
          </a:p>
        </p:txBody>
      </p:sp>
      <p:sp>
        <p:nvSpPr>
          <p:cNvPr id="191" name="文本框 190" descr="{&quot;isTemplate&quot;:true,&quot;type&quot;:&quot;text&quot;}"/>
          <p:cNvSpPr txBox="1"/>
          <p:nvPr/>
        </p:nvSpPr>
        <p:spPr>
          <a:xfrm>
            <a:off x="704850" y="3048000"/>
            <a:ext cx="3267075" cy="771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125">
                <a:solidFill>
                  <a:srgbClr val="30271D"/>
                </a:solidFill>
                <a:latin typeface="Segoe UI"/>
                <a:ea typeface="Segoe UI"/>
              </a:rPr>
              <a:t>The number of village stories that carry a verified transcript and a confirmed privacy tier before clearance.</a:t>
            </a:r>
            <a:endParaRPr/>
          </a:p>
        </p:txBody>
      </p:sp>
      <p:sp>
        <p:nvSpPr>
          <p:cNvPr id="192" name="文本框 191" descr="{&quot;isTemplate&quot;:true,&quot;type&quot;:&quot;text&quot;}"/>
          <p:cNvSpPr txBox="1"/>
          <p:nvPr/>
        </p:nvSpPr>
        <p:spPr>
          <a:xfrm>
            <a:off x="704850" y="3505200"/>
            <a:ext cx="3267075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558863"/>
                </a:solidFill>
                <a:latin typeface="Segoe UI"/>
                <a:ea typeface="Segoe UI"/>
              </a:rPr>
              <a:t>A community that loses its buildings can still hold a queryable record of what was there.</a:t>
            </a:r>
            <a:endParaRPr/>
          </a:p>
        </p:txBody>
      </p:sp>
      <p:sp>
        <p:nvSpPr>
          <p:cNvPr id="193" name="矩形: 圆角 192"/>
          <p:cNvSpPr/>
          <p:nvPr/>
        </p:nvSpPr>
        <p:spPr>
          <a:xfrm>
            <a:off x="4295775" y="1381125"/>
            <a:ext cx="3600450" cy="2762250"/>
          </a:xfrm>
          <a:prstGeom prst="roundRect">
            <a:avLst>
              <a:gd name="adj" fmla="val 6207"/>
            </a:avLst>
          </a:prstGeom>
          <a:solidFill>
            <a:srgbClr val="FEFCF6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4" name="矩形: 圆角 193"/>
          <p:cNvSpPr/>
          <p:nvPr/>
        </p:nvSpPr>
        <p:spPr>
          <a:xfrm>
            <a:off x="4467225" y="1552575"/>
            <a:ext cx="381000" cy="381000"/>
          </a:xfrm>
          <a:prstGeom prst="roundRect">
            <a:avLst>
              <a:gd name="adj" fmla="val 30000"/>
            </a:avLst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5" name="文本框 194" descr="{&quot;isTemplate&quot;:true,&quot;type&quot;:&quot;text&quot;}"/>
          <p:cNvSpPr txBox="1"/>
          <p:nvPr/>
        </p:nvSpPr>
        <p:spPr>
          <a:xfrm>
            <a:off x="4610100" y="1657350"/>
            <a:ext cx="952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EFCF6"/>
                </a:solidFill>
                <a:latin typeface="Georgia"/>
                <a:ea typeface="Georgia"/>
              </a:rPr>
              <a:t>4</a:t>
            </a:r>
            <a:endParaRPr/>
          </a:p>
        </p:txBody>
      </p:sp>
      <p:sp>
        <p:nvSpPr>
          <p:cNvPr id="196" name="文本框 195" descr="{&quot;isTemplate&quot;:true,&quot;type&quot;:&quot;text&quot;}"/>
          <p:cNvSpPr txBox="1"/>
          <p:nvPr/>
        </p:nvSpPr>
        <p:spPr>
          <a:xfrm>
            <a:off x="4943475" y="1666875"/>
            <a:ext cx="4286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 spc="105">
                <a:solidFill>
                  <a:srgbClr val="558863"/>
                </a:solidFill>
                <a:latin typeface="Segoe UI"/>
                <a:ea typeface="Segoe UI"/>
              </a:rPr>
              <a:t>SDG 4</a:t>
            </a:r>
            <a:endParaRPr/>
          </a:p>
        </p:txBody>
      </p:sp>
      <p:sp>
        <p:nvSpPr>
          <p:cNvPr id="197" name="文本框 196" descr="{&quot;isTemplate&quot;:true,&quot;type&quot;:&quot;text&quot;}"/>
          <p:cNvSpPr txBox="1"/>
          <p:nvPr/>
        </p:nvSpPr>
        <p:spPr>
          <a:xfrm>
            <a:off x="4467225" y="2047875"/>
            <a:ext cx="32575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sz="1575" b="1">
                <a:solidFill>
                  <a:srgbClr val="2D5C3B"/>
                </a:solidFill>
                <a:latin typeface="Georgia"/>
                <a:ea typeface="Georgia"/>
              </a:rPr>
              <a:t>Quality education</a:t>
            </a:r>
            <a:endParaRPr/>
          </a:p>
        </p:txBody>
      </p:sp>
      <p:sp>
        <p:nvSpPr>
          <p:cNvPr id="198" name="矩形 197"/>
          <p:cNvSpPr/>
          <p:nvPr/>
        </p:nvSpPr>
        <p:spPr>
          <a:xfrm>
            <a:off x="4467225" y="2447925"/>
            <a:ext cx="3257550" cy="9525"/>
          </a:xfrm>
          <a:prstGeom prst="rect">
            <a:avLst/>
          </a:prstGeom>
          <a:solidFill>
            <a:srgbClr val="D8EF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9" name="文本框 198" descr="{&quot;isTemplate&quot;:true,&quot;type&quot;:&quot;text&quot;}"/>
          <p:cNvSpPr txBox="1"/>
          <p:nvPr/>
        </p:nvSpPr>
        <p:spPr>
          <a:xfrm>
            <a:off x="4467225" y="2552700"/>
            <a:ext cx="32575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558863"/>
                </a:solidFill>
                <a:latin typeface="Segoe UI"/>
                <a:ea typeface="Segoe UI"/>
              </a:rPr>
              <a:t>Measured as</a:t>
            </a:r>
            <a:endParaRPr/>
          </a:p>
        </p:txBody>
      </p:sp>
      <p:sp>
        <p:nvSpPr>
          <p:cNvPr id="200" name="文本框 199" descr="{&quot;isTemplate&quot;:true,&quot;type&quot;:&quot;text&quot;}"/>
          <p:cNvSpPr txBox="1"/>
          <p:nvPr/>
        </p:nvSpPr>
        <p:spPr>
          <a:xfrm>
            <a:off x="4467225" y="2752725"/>
            <a:ext cx="3257550" cy="771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125">
                <a:solidFill>
                  <a:srgbClr val="30271D"/>
                </a:solidFill>
                <a:latin typeface="Segoe UI"/>
                <a:ea typeface="Segoe UI"/>
              </a:rPr>
              <a:t>Sourced answers played back in school and community sessions, counted per session — never downloads, never likes.</a:t>
            </a:r>
            <a:endParaRPr/>
          </a:p>
        </p:txBody>
      </p:sp>
      <p:sp>
        <p:nvSpPr>
          <p:cNvPr id="201" name="文本框 200" descr="{&quot;isTemplate&quot;:true,&quot;type&quot;:&quot;text&quot;}"/>
          <p:cNvSpPr txBox="1"/>
          <p:nvPr/>
        </p:nvSpPr>
        <p:spPr>
          <a:xfrm>
            <a:off x="4467225" y="3505200"/>
            <a:ext cx="32575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558863"/>
                </a:solidFill>
                <a:latin typeface="Segoe UI"/>
                <a:ea typeface="Segoe UI"/>
              </a:rPr>
              <a:t>Students hear the original voice, not somebody’s summary of it.</a:t>
            </a:r>
            <a:endParaRPr/>
          </a:p>
        </p:txBody>
      </p:sp>
      <p:sp>
        <p:nvSpPr>
          <p:cNvPr id="202" name="矩形: 圆角 201"/>
          <p:cNvSpPr/>
          <p:nvPr/>
        </p:nvSpPr>
        <p:spPr>
          <a:xfrm>
            <a:off x="8048625" y="1381125"/>
            <a:ext cx="3609975" cy="2762250"/>
          </a:xfrm>
          <a:prstGeom prst="roundRect">
            <a:avLst>
              <a:gd name="adj" fmla="val 6207"/>
            </a:avLst>
          </a:prstGeom>
          <a:solidFill>
            <a:srgbClr val="FEFCF6"/>
          </a:solidFill>
          <a:ln/>
          <a:effectLst>
            <a:outerShdw blurRad="190500" dist="38100" dir="540000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3" name="矩形: 圆角 202"/>
          <p:cNvSpPr/>
          <p:nvPr/>
        </p:nvSpPr>
        <p:spPr>
          <a:xfrm>
            <a:off x="8220075" y="1552575"/>
            <a:ext cx="381000" cy="381000"/>
          </a:xfrm>
          <a:prstGeom prst="roundRect">
            <a:avLst>
              <a:gd name="adj" fmla="val 30000"/>
            </a:avLst>
          </a:prstGeom>
          <a:solidFill>
            <a:srgbClr val="5588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4" name="文本框 203" descr="{&quot;isTemplate&quot;:true,&quot;type&quot;:&quot;text&quot;}"/>
          <p:cNvSpPr txBox="1"/>
          <p:nvPr/>
        </p:nvSpPr>
        <p:spPr>
          <a:xfrm>
            <a:off x="8324850" y="1657350"/>
            <a:ext cx="1714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EFCF6"/>
                </a:solidFill>
                <a:latin typeface="Georgia"/>
                <a:ea typeface="Georgia"/>
              </a:rPr>
              <a:t>16</a:t>
            </a:r>
            <a:endParaRPr/>
          </a:p>
        </p:txBody>
      </p:sp>
      <p:sp>
        <p:nvSpPr>
          <p:cNvPr id="205" name="文本框 204" descr="{&quot;isTemplate&quot;:true,&quot;type&quot;:&quot;text&quot;}"/>
          <p:cNvSpPr txBox="1"/>
          <p:nvPr/>
        </p:nvSpPr>
        <p:spPr>
          <a:xfrm>
            <a:off x="8696325" y="1666875"/>
            <a:ext cx="5143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 spc="105">
                <a:solidFill>
                  <a:srgbClr val="558863"/>
                </a:solidFill>
                <a:latin typeface="Segoe UI"/>
                <a:ea typeface="Segoe UI"/>
              </a:rPr>
              <a:t>SDG 16</a:t>
            </a:r>
            <a:endParaRPr/>
          </a:p>
        </p:txBody>
      </p:sp>
      <p:sp>
        <p:nvSpPr>
          <p:cNvPr id="206" name="文本框 205" descr="{&quot;isTemplate&quot;:true,&quot;type&quot;:&quot;text&quot;}"/>
          <p:cNvSpPr txBox="1"/>
          <p:nvPr/>
        </p:nvSpPr>
        <p:spPr>
          <a:xfrm>
            <a:off x="8220075" y="2047875"/>
            <a:ext cx="3267075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1575" b="1">
                <a:solidFill>
                  <a:srgbClr val="2D5C3B"/>
                </a:solidFill>
                <a:latin typeface="Georgia"/>
                <a:ea typeface="Georgia"/>
              </a:rPr>
              <a:t>Peace, justice and strong institutions</a:t>
            </a:r>
            <a:endParaRPr/>
          </a:p>
        </p:txBody>
      </p:sp>
      <p:sp>
        <p:nvSpPr>
          <p:cNvPr id="207" name="矩形 206"/>
          <p:cNvSpPr/>
          <p:nvPr/>
        </p:nvSpPr>
        <p:spPr>
          <a:xfrm>
            <a:off x="8220075" y="2743200"/>
            <a:ext cx="3267075" cy="9525"/>
          </a:xfrm>
          <a:prstGeom prst="rect">
            <a:avLst/>
          </a:prstGeom>
          <a:solidFill>
            <a:srgbClr val="D8EF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8" name="文本框 207" descr="{&quot;isTemplate&quot;:true,&quot;type&quot;:&quot;text&quot;}"/>
          <p:cNvSpPr txBox="1"/>
          <p:nvPr/>
        </p:nvSpPr>
        <p:spPr>
          <a:xfrm>
            <a:off x="8220075" y="2847975"/>
            <a:ext cx="32670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558863"/>
                </a:solidFill>
                <a:latin typeface="Segoe UI"/>
                <a:ea typeface="Segoe UI"/>
              </a:rPr>
              <a:t>Measured as</a:t>
            </a:r>
            <a:endParaRPr/>
          </a:p>
        </p:txBody>
      </p:sp>
      <p:sp>
        <p:nvSpPr>
          <p:cNvPr id="209" name="文本框 208" descr="{&quot;isTemplate&quot;:true,&quot;type&quot;:&quot;text&quot;}"/>
          <p:cNvSpPr txBox="1"/>
          <p:nvPr/>
        </p:nvSpPr>
        <p:spPr>
          <a:xfrm>
            <a:off x="8220075" y="3048000"/>
            <a:ext cx="3267075" cy="10287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125">
                <a:solidFill>
                  <a:srgbClr val="30271D"/>
                </a:solidFill>
                <a:latin typeface="Segoe UI"/>
                <a:ea typeface="Segoe UI"/>
              </a:rPr>
              <a:t>The share of answers traceable to a timestamp, and the share of stories where consent was changed or withdrawn without friction. Target: 100% traceability.</a:t>
            </a:r>
            <a:endParaRPr/>
          </a:p>
        </p:txBody>
      </p:sp>
      <p:sp>
        <p:nvSpPr>
          <p:cNvPr id="210" name="文本框 209" descr="{&quot;isTemplate&quot;:true,&quot;type&quot;:&quot;text&quot;}"/>
          <p:cNvSpPr txBox="1"/>
          <p:nvPr/>
        </p:nvSpPr>
        <p:spPr>
          <a:xfrm>
            <a:off x="8220075" y="3505200"/>
            <a:ext cx="3267075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558863"/>
                </a:solidFill>
                <a:latin typeface="Segoe UI"/>
                <a:ea typeface="Segoe UI"/>
              </a:rPr>
              <a:t>An archive that can prove where every claim came from is far harder to misuse.</a:t>
            </a:r>
            <a:endParaRPr/>
          </a:p>
        </p:txBody>
      </p:sp>
      <p:sp>
        <p:nvSpPr>
          <p:cNvPr id="211" name="矩形: 圆角 210"/>
          <p:cNvSpPr/>
          <p:nvPr/>
        </p:nvSpPr>
        <p:spPr>
          <a:xfrm>
            <a:off x="533400" y="4295775"/>
            <a:ext cx="11125200" cy="1524000"/>
          </a:xfrm>
          <a:prstGeom prst="roundRect">
            <a:avLst>
              <a:gd name="adj" fmla="val 11250"/>
            </a:avLst>
          </a:prstGeom>
          <a:solidFill>
            <a:srgbClr val="2D5C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2" name="文本框 211" descr="{&quot;isTemplate&quot;:true,&quot;type&quot;:&quot;text&quot;}"/>
          <p:cNvSpPr txBox="1"/>
          <p:nvPr/>
        </p:nvSpPr>
        <p:spPr>
          <a:xfrm>
            <a:off x="800100" y="4667250"/>
            <a:ext cx="10591800" cy="4667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en-US" sz="2250" i="1">
                <a:solidFill>
                  <a:srgbClr val="FEFCF6"/>
                </a:solidFill>
                <a:latin typeface="Georgia"/>
                <a:ea typeface="Georgia"/>
              </a:rPr>
              <a:t>"Development can rebuild a place. Only people can remember it."</a:t>
            </a:r>
            <a:endParaRPr/>
          </a:p>
        </p:txBody>
      </p:sp>
      <p:sp>
        <p:nvSpPr>
          <p:cNvPr id="213" name="文本框 212" descr="{&quot;isTemplate&quot;:true,&quot;type&quot;:&quot;text&quot;}"/>
          <p:cNvSpPr txBox="1"/>
          <p:nvPr/>
        </p:nvSpPr>
        <p:spPr>
          <a:xfrm>
            <a:off x="800100" y="5286375"/>
            <a:ext cx="2476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D8EFDD"/>
                </a:solidFill>
                <a:latin typeface="Segoe UI"/>
                <a:ea typeface="Segoe UI"/>
              </a:rPr>
              <a:t>Voices of the North · Team HumanLoop</a:t>
            </a:r>
            <a:endParaRPr/>
          </a:p>
        </p:txBody>
      </p:sp>
      <p:sp>
        <p:nvSpPr>
          <p:cNvPr id="214" name="文本框 213" descr="{&quot;isTemplate&quot;:true,&quot;type&quot;:&quot;text&quot;}"/>
          <p:cNvSpPr txBox="1"/>
          <p:nvPr/>
        </p:nvSpPr>
        <p:spPr>
          <a:xfrm>
            <a:off x="9505950" y="5286375"/>
            <a:ext cx="18859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D8EFDD"/>
                </a:solidFill>
                <a:latin typeface="Segoe UI"/>
                <a:ea typeface="Segoe UI"/>
              </a:rPr>
              <a:t>Final report · 18 October 2026</a:t>
            </a:r>
            <a:endParaRPr/>
          </a:p>
        </p:txBody>
      </p:sp>
      <p:sp>
        <p:nvSpPr>
          <p:cNvPr id="215" name="文本框 214" descr="{&quot;isTemplate&quot;:true,&quot;type&quot;:&quot;text&quot;}"/>
          <p:cNvSpPr txBox="1"/>
          <p:nvPr/>
        </p:nvSpPr>
        <p:spPr>
          <a:xfrm>
            <a:off x="533400" y="6448425"/>
            <a:ext cx="47910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2D5C3B">
                    <a:alpha val="75000"/>
                  </a:srgbClr>
                </a:solidFill>
                <a:latin typeface="Segoe UI"/>
                <a:ea typeface="Segoe UI"/>
              </a:rPr>
              <a:t>All figures in this deck are demo-scope observations, not general accuracy claims.</a:t>
            </a:r>
            <a:endParaRPr/>
          </a:p>
        </p:txBody>
      </p:sp>
      <p:sp>
        <p:nvSpPr>
          <p:cNvPr id="216" name="文本框 215" descr="{&quot;isTemplate&quot;:true,&quot;type&quot;:&quot;text&quot;}"/>
          <p:cNvSpPr txBox="1"/>
          <p:nvPr/>
        </p:nvSpPr>
        <p:spPr>
          <a:xfrm>
            <a:off x="11239500" y="6448425"/>
            <a:ext cx="4191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2D5C3B">
                    <a:alpha val="75000"/>
                  </a:srgbClr>
                </a:solidFill>
                <a:latin typeface="Segoe UI"/>
                <a:ea typeface="Segoe UI"/>
              </a:rPr>
              <a:t>14 / 14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2442</Words>
  <Application>Microsoft Office PowerPoint</Application>
  <PresentationFormat>宽屏</PresentationFormat>
  <Paragraphs>315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Arial</vt:lpstr>
      <vt:lpstr>Georgia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ze liu</cp:lastModifiedBy>
  <cp:revision>1</cp:revision>
  <dcterms:created xsi:type="dcterms:W3CDTF">2026-10-15T17:29:38Z</dcterms:created>
  <dcterms:modified xsi:type="dcterms:W3CDTF">2026-10-15T17:36:34Z</dcterms:modified>
</cp:coreProperties>
</file>